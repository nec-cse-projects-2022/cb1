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3"/>
  </p:notesMasterIdLst>
  <p:handoutMasterIdLst>
    <p:handoutMasterId r:id="rId44"/>
  </p:handoutMasterIdLst>
  <p:sldIdLst>
    <p:sldId id="258" r:id="rId2"/>
    <p:sldId id="260" r:id="rId3"/>
    <p:sldId id="262" r:id="rId4"/>
    <p:sldId id="302" r:id="rId5"/>
    <p:sldId id="303" r:id="rId6"/>
    <p:sldId id="304" r:id="rId7"/>
    <p:sldId id="263" r:id="rId8"/>
    <p:sldId id="280" r:id="rId9"/>
    <p:sldId id="265" r:id="rId10"/>
    <p:sldId id="266" r:id="rId11"/>
    <p:sldId id="268" r:id="rId12"/>
    <p:sldId id="307" r:id="rId13"/>
    <p:sldId id="269" r:id="rId14"/>
    <p:sldId id="305" r:id="rId15"/>
    <p:sldId id="284" r:id="rId16"/>
    <p:sldId id="291" r:id="rId17"/>
    <p:sldId id="308" r:id="rId18"/>
    <p:sldId id="309" r:id="rId19"/>
    <p:sldId id="312" r:id="rId20"/>
    <p:sldId id="311" r:id="rId21"/>
    <p:sldId id="310" r:id="rId22"/>
    <p:sldId id="313" r:id="rId23"/>
    <p:sldId id="314" r:id="rId24"/>
    <p:sldId id="315" r:id="rId25"/>
    <p:sldId id="316" r:id="rId26"/>
    <p:sldId id="317" r:id="rId27"/>
    <p:sldId id="318" r:id="rId28"/>
    <p:sldId id="319" r:id="rId29"/>
    <p:sldId id="320" r:id="rId30"/>
    <p:sldId id="321" r:id="rId31"/>
    <p:sldId id="322" r:id="rId32"/>
    <p:sldId id="323" r:id="rId33"/>
    <p:sldId id="292" r:id="rId34"/>
    <p:sldId id="299" r:id="rId35"/>
    <p:sldId id="272" r:id="rId36"/>
    <p:sldId id="295" r:id="rId37"/>
    <p:sldId id="273" r:id="rId38"/>
    <p:sldId id="278" r:id="rId39"/>
    <p:sldId id="300" r:id="rId40"/>
    <p:sldId id="301" r:id="rId41"/>
    <p:sldId id="298"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A915008-9B5A-485B-9127-80CE5AAFE74D}" v="97" dt="2024-12-25T12:48:44.980"/>
    <p1510:client id="{BB76816D-0FAA-4097-8B88-093BD4DBE991}" v="39" dt="2024-12-26T06:07:08.0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4660"/>
  </p:normalViewPr>
  <p:slideViewPr>
    <p:cSldViewPr snapToGrid="0">
      <p:cViewPr varScale="1">
        <p:scale>
          <a:sx n="81" d="100"/>
          <a:sy n="81" d="100"/>
        </p:scale>
        <p:origin x="907" y="62"/>
      </p:cViewPr>
      <p:guideLst/>
    </p:cSldViewPr>
  </p:slideViewPr>
  <p:notesTextViewPr>
    <p:cViewPr>
      <p:scale>
        <a:sx n="1" d="1"/>
        <a:sy n="1" d="1"/>
      </p:scale>
      <p:origin x="0" y="0"/>
    </p:cViewPr>
  </p:notesTextViewPr>
  <p:notesViewPr>
    <p:cSldViewPr snapToGrid="0">
      <p:cViewPr varScale="1">
        <p:scale>
          <a:sx n="57" d="100"/>
          <a:sy n="57" d="100"/>
        </p:scale>
        <p:origin x="2832"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9199655-05E8-4463-9482-2D23FD405AF3}" type="datetimeFigureOut">
              <a:rPr lang="en-IN" smtClean="0"/>
              <a:t>04-12-2025</a:t>
            </a:fld>
            <a:endParaRPr lang="en-IN"/>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7C9CC48-2212-46F0-B96C-6F8104E82434}" type="slidenum">
              <a:rPr lang="en-IN" smtClean="0"/>
              <a:t>‹#›</a:t>
            </a:fld>
            <a:endParaRPr lang="en-IN"/>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6858000" cy="3851868"/>
          </a:xfrm>
          <a:prstGeom prst="rect">
            <a:avLst/>
          </a:prstGeom>
        </p:spPr>
      </p:pic>
    </p:spTree>
    <p:extLst>
      <p:ext uri="{BB962C8B-B14F-4D97-AF65-F5344CB8AC3E}">
        <p14:creationId xmlns:p14="http://schemas.microsoft.com/office/powerpoint/2010/main" val="127145822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DE0E28-087F-4BBF-B8BC-055CB0BBD464}" type="datetimeFigureOut">
              <a:rPr lang="en-IN" smtClean="0"/>
              <a:t>04-12-2025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5E3DF0-35B4-40E5-AC91-1A2000F81275}" type="slidenum">
              <a:rPr lang="en-IN" smtClean="0"/>
              <a:t>‹#›</a:t>
            </a:fld>
            <a:endParaRPr lang="en-IN"/>
          </a:p>
        </p:txBody>
      </p:sp>
    </p:spTree>
    <p:extLst>
      <p:ext uri="{BB962C8B-B14F-4D97-AF65-F5344CB8AC3E}">
        <p14:creationId xmlns:p14="http://schemas.microsoft.com/office/powerpoint/2010/main" val="2605513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5E3DF0-35B4-40E5-AC91-1A2000F81275}" type="slidenum">
              <a:rPr lang="en-IN" smtClean="0"/>
              <a:t>1</a:t>
            </a:fld>
            <a:endParaRPr lang="en-IN"/>
          </a:p>
        </p:txBody>
      </p:sp>
    </p:spTree>
    <p:extLst>
      <p:ext uri="{BB962C8B-B14F-4D97-AF65-F5344CB8AC3E}">
        <p14:creationId xmlns:p14="http://schemas.microsoft.com/office/powerpoint/2010/main" val="1697383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F2C119A-2030-4099-B7BC-BC6A380509A3}" type="datetime1">
              <a:rPr lang="en-IN" smtClean="0"/>
              <a:t>04-12-2025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2316521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4073CF87-33B1-476E-9232-3CD697DB205D}" type="datetime1">
              <a:rPr lang="en-IN" smtClean="0"/>
              <a:t>04-12-2025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7802064" cy="4382112"/>
          </a:xfrm>
          <a:prstGeom prst="rect">
            <a:avLst/>
          </a:prstGeom>
        </p:spPr>
      </p:pic>
    </p:spTree>
    <p:extLst>
      <p:ext uri="{BB962C8B-B14F-4D97-AF65-F5344CB8AC3E}">
        <p14:creationId xmlns:p14="http://schemas.microsoft.com/office/powerpoint/2010/main" val="22623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48418BF-3411-4826-9BA3-0E96A4E1CB6B}" type="datetime1">
              <a:rPr lang="en-IN" smtClean="0"/>
              <a:t>04-12-2025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1327912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AB7BD0BE-2096-4BFE-BDFA-4C60DA83F8D2}" type="datetime1">
              <a:rPr lang="en-IN" smtClean="0"/>
              <a:t>04-12-2025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4027585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CEA0AA4-3FA4-4BD2-A327-67CE587183CC}" type="datetime1">
              <a:rPr lang="en-IN" smtClean="0"/>
              <a:t>04-12-2025</a:t>
            </a:fld>
            <a:endParaRPr lang="en-IN"/>
          </a:p>
        </p:txBody>
      </p:sp>
      <p:sp>
        <p:nvSpPr>
          <p:cNvPr id="8" name="Footer Placeholder 7"/>
          <p:cNvSpPr>
            <a:spLocks noGrp="1"/>
          </p:cNvSpPr>
          <p:nvPr>
            <p:ph type="ftr" sz="quarter" idx="11"/>
          </p:nvPr>
        </p:nvSpPr>
        <p:spPr/>
        <p:txBody>
          <a:bodyPr/>
          <a:lstStyle/>
          <a:p>
            <a:r>
              <a:rPr lang="en-US"/>
              <a:t>Review No. 01        Batch No. CB1           Department of CSE</a:t>
            </a:r>
            <a:endParaRPr lang="en-IN"/>
          </a:p>
        </p:txBody>
      </p:sp>
      <p:sp>
        <p:nvSpPr>
          <p:cNvPr id="9" name="Slide Number Placeholder 8"/>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8592795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C4BC7149-436E-4B63-9AE5-D2D8F6827215}" type="datetime1">
              <a:rPr lang="en-IN" smtClean="0"/>
              <a:t>04-12-2025</a:t>
            </a:fld>
            <a:endParaRPr lang="en-IN"/>
          </a:p>
        </p:txBody>
      </p:sp>
      <p:sp>
        <p:nvSpPr>
          <p:cNvPr id="4" name="Footer Placeholder 3"/>
          <p:cNvSpPr>
            <a:spLocks noGrp="1"/>
          </p:cNvSpPr>
          <p:nvPr>
            <p:ph type="ftr" sz="quarter" idx="11"/>
          </p:nvPr>
        </p:nvSpPr>
        <p:spPr/>
        <p:txBody>
          <a:bodyPr/>
          <a:lstStyle/>
          <a:p>
            <a:r>
              <a:rPr lang="en-US"/>
              <a:t>Review No. 01        Batch No. CB1           Department of CSE</a:t>
            </a:r>
            <a:endParaRPr lang="en-IN"/>
          </a:p>
        </p:txBody>
      </p:sp>
      <p:sp>
        <p:nvSpPr>
          <p:cNvPr id="5" name="Slide Number Placeholder 4"/>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28264153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64D6FB-F532-43A3-80A5-54DC43703542}" type="datetime1">
              <a:rPr lang="en-IN" smtClean="0"/>
              <a:t>04-12-2025</a:t>
            </a:fld>
            <a:endParaRPr lang="en-IN"/>
          </a:p>
        </p:txBody>
      </p:sp>
      <p:sp>
        <p:nvSpPr>
          <p:cNvPr id="3" name="Footer Placeholder 2"/>
          <p:cNvSpPr>
            <a:spLocks noGrp="1"/>
          </p:cNvSpPr>
          <p:nvPr>
            <p:ph type="ftr" sz="quarter" idx="11"/>
          </p:nvPr>
        </p:nvSpPr>
        <p:spPr/>
        <p:txBody>
          <a:bodyPr/>
          <a:lstStyle/>
          <a:p>
            <a:r>
              <a:rPr lang="en-US"/>
              <a:t>Review No. 01        Batch No. CB1           Department of CSE</a:t>
            </a:r>
            <a:endParaRPr lang="en-IN"/>
          </a:p>
        </p:txBody>
      </p:sp>
      <p:sp>
        <p:nvSpPr>
          <p:cNvPr id="4" name="Slide Number Placeholder 3"/>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4596290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F95793-E089-4EBA-9879-0A35E00EDD6F}" type="datetime1">
              <a:rPr lang="en-IN" smtClean="0"/>
              <a:t>04-12-2025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6813205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5F4621D-49E0-4FD0-A9CA-71EB186FA9FF}" type="datetime1">
              <a:rPr lang="en-IN" smtClean="0"/>
              <a:t>04-12-2025</a:t>
            </a:fld>
            <a:endParaRPr lang="en-IN"/>
          </a:p>
        </p:txBody>
      </p:sp>
      <p:sp>
        <p:nvSpPr>
          <p:cNvPr id="6" name="Footer Placeholder 5"/>
          <p:cNvSpPr>
            <a:spLocks noGrp="1"/>
          </p:cNvSpPr>
          <p:nvPr>
            <p:ph type="ftr" sz="quarter" idx="11"/>
          </p:nvPr>
        </p:nvSpPr>
        <p:spPr/>
        <p:txBody>
          <a:bodyPr/>
          <a:lstStyle/>
          <a:p>
            <a:r>
              <a:rPr lang="en-US"/>
              <a:t>Review No. 01        Batch No. CB1           Department of CSE</a:t>
            </a:r>
            <a:endParaRPr lang="en-IN"/>
          </a:p>
        </p:txBody>
      </p:sp>
      <p:sp>
        <p:nvSpPr>
          <p:cNvPr id="7" name="Slide Number Placeholder 6"/>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6022788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90A86B58-4BD1-41C3-BE2D-2F19F802543B}" type="datetime1">
              <a:rPr lang="en-IN" smtClean="0"/>
              <a:t>04-12-2025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33943571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0B5C62AE-9086-490F-97C9-8016B7390020}" type="datetime1">
              <a:rPr lang="en-IN" smtClean="0"/>
              <a:t>04-12-2025</a:t>
            </a:fld>
            <a:endParaRPr lang="en-IN"/>
          </a:p>
        </p:txBody>
      </p:sp>
      <p:sp>
        <p:nvSpPr>
          <p:cNvPr id="5" name="Footer Placeholder 4"/>
          <p:cNvSpPr>
            <a:spLocks noGrp="1"/>
          </p:cNvSpPr>
          <p:nvPr>
            <p:ph type="ftr" sz="quarter" idx="11"/>
          </p:nvPr>
        </p:nvSpPr>
        <p:spPr/>
        <p:txBody>
          <a:bodyPr/>
          <a:lstStyle/>
          <a:p>
            <a:r>
              <a:rPr lang="en-US"/>
              <a:t>Review No. 01        Batch No. CB1           Department of CSE</a:t>
            </a:r>
            <a:endParaRPr lang="en-IN"/>
          </a:p>
        </p:txBody>
      </p:sp>
      <p:sp>
        <p:nvSpPr>
          <p:cNvPr id="6" name="Slide Number Placeholder 5"/>
          <p:cNvSpPr>
            <a:spLocks noGrp="1"/>
          </p:cNvSpPr>
          <p:nvPr>
            <p:ph type="sldNum" sz="quarter" idx="12"/>
          </p:nvPr>
        </p:nvSpPr>
        <p:spPr/>
        <p:txBody>
          <a:bodyPr/>
          <a:lstStyle/>
          <a:p>
            <a:fld id="{65DCBD69-296B-4D7C-AF62-9B588FC78772}" type="slidenum">
              <a:rPr lang="en-IN" smtClean="0"/>
              <a:t>‹#›</a:t>
            </a:fld>
            <a:endParaRPr lang="en-IN"/>
          </a:p>
        </p:txBody>
      </p:sp>
    </p:spTree>
    <p:extLst>
      <p:ext uri="{BB962C8B-B14F-4D97-AF65-F5344CB8AC3E}">
        <p14:creationId xmlns:p14="http://schemas.microsoft.com/office/powerpoint/2010/main" val="18392069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DD608A-327C-460D-B137-2690D0731305}" type="datetime1">
              <a:rPr lang="en-IN" smtClean="0"/>
              <a:t>04-12-2025</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No. 01        Batch No. CB1           Department of CSE</a:t>
            </a:r>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5DCBD69-296B-4D7C-AF62-9B588FC78772}" type="slidenum">
              <a:rPr lang="en-IN" smtClean="0"/>
              <a:t>‹#›</a:t>
            </a:fld>
            <a:endParaRPr lang="en-IN"/>
          </a:p>
        </p:txBody>
      </p:sp>
    </p:spTree>
    <p:extLst>
      <p:ext uri="{BB962C8B-B14F-4D97-AF65-F5344CB8AC3E}">
        <p14:creationId xmlns:p14="http://schemas.microsoft.com/office/powerpoint/2010/main" val="41065171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tmp"/><Relationship Id="rId2" Type="http://schemas.openxmlformats.org/officeDocument/2006/relationships/image" Target="../media/image8.tmp"/><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tmp"/><Relationship Id="rId2" Type="http://schemas.openxmlformats.org/officeDocument/2006/relationships/image" Target="../media/image13.tmp"/><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tmp"/><Relationship Id="rId2" Type="http://schemas.openxmlformats.org/officeDocument/2006/relationships/image" Target="../media/image15.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tmp"/><Relationship Id="rId2" Type="http://schemas.openxmlformats.org/officeDocument/2006/relationships/image" Target="../media/image17.tmp"/><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tmp"/><Relationship Id="rId2" Type="http://schemas.openxmlformats.org/officeDocument/2006/relationships/image" Target="../media/image19.tmp"/><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tmp"/><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3.tmp"/><Relationship Id="rId2" Type="http://schemas.openxmlformats.org/officeDocument/2006/relationships/image" Target="../media/image22.tmp"/><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tmp"/><Relationship Id="rId2" Type="http://schemas.openxmlformats.org/officeDocument/2006/relationships/image" Target="../media/image24.tmp"/><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tm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7.tmp"/><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mailto:sseggemsrinivas@gmail.com" TargetMode="External"/><Relationship Id="rId2" Type="http://schemas.openxmlformats.org/officeDocument/2006/relationships/hyperlink" Target="mailto:pkveeragautham10@gmail.com" TargetMode="External"/><Relationship Id="rId1" Type="http://schemas.openxmlformats.org/officeDocument/2006/relationships/slideLayout" Target="../slideLayouts/slideLayout2.xml"/><Relationship Id="rId5" Type="http://schemas.openxmlformats.org/officeDocument/2006/relationships/hyperlink" Target="mailto:thannarushiva@gmail.com" TargetMode="External"/><Relationship Id="rId4" Type="http://schemas.openxmlformats.org/officeDocument/2006/relationships/hyperlink" Target="mailto:shaikmsaidavali@gmail.com" TargetMode="Externa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ext Placeholder 7"/>
          <p:cNvSpPr txBox="1">
            <a:spLocks/>
          </p:cNvSpPr>
          <p:nvPr/>
        </p:nvSpPr>
        <p:spPr>
          <a:xfrm>
            <a:off x="1754154" y="705471"/>
            <a:ext cx="8915400" cy="375925"/>
          </a:xfrm>
          <a:prstGeom prst="roundRect">
            <a:avLst>
              <a:gd name="adj" fmla="val 16667"/>
            </a:avLst>
          </a:prstGeom>
          <a:ln w="25400" cap="flat" cmpd="sng" algn="ctr">
            <a:solidFill>
              <a:schemeClr val="bg1"/>
            </a:solidFill>
            <a:prstDash val="solid"/>
          </a:ln>
        </p:spPr>
        <p:style>
          <a:lnRef idx="2">
            <a:schemeClr val="accent1"/>
          </a:lnRef>
          <a:fillRef idx="1">
            <a:schemeClr val="lt1"/>
          </a:fillRef>
          <a:effectRef idx="0">
            <a:schemeClr val="accent1"/>
          </a:effectRef>
          <a:fontRef idx="minor">
            <a:schemeClr val="dk1"/>
          </a:fontRef>
        </p:style>
        <p:txBody>
          <a:bodyPr>
            <a:noAutofit/>
          </a:bodyPr>
          <a:lstStyle/>
          <a:p>
            <a:pPr lvl="0" algn="ctr">
              <a:spcBef>
                <a:spcPct val="20000"/>
              </a:spcBef>
              <a:defRPr/>
            </a:pPr>
            <a:endParaRPr lang="en-US" b="1" dirty="0">
              <a:latin typeface="Times New Roman" panose="02020603050405020304" pitchFamily="18" charset="0"/>
              <a:cs typeface="Times New Roman" pitchFamily="18" charset="0"/>
            </a:endParaRPr>
          </a:p>
          <a:p>
            <a:pPr algn="ctr">
              <a:spcBef>
                <a:spcPct val="20000"/>
              </a:spcBef>
              <a:defRPr/>
            </a:pPr>
            <a:r>
              <a:rPr lang="en-US" sz="2400" dirty="0">
                <a:solidFill>
                  <a:srgbClr val="FF0000"/>
                </a:solidFill>
                <a:effectLst>
                  <a:outerShdw blurRad="38100" dist="38100" dir="2700000" algn="tl">
                    <a:srgbClr val="000000">
                      <a:alpha val="43137"/>
                    </a:srgbClr>
                  </a:outerShdw>
                </a:effectLst>
                <a:latin typeface="Times New Roman" pitchFamily="18" charset="0"/>
                <a:cs typeface="Times New Roman" pitchFamily="18" charset="0"/>
              </a:rPr>
              <a:t>Neuro-Fuzzy IDS with MRMR Feature selection and Adaptive Ensemble Correction</a:t>
            </a:r>
          </a:p>
          <a:p>
            <a:pPr lvl="0" algn="ctr">
              <a:spcBef>
                <a:spcPct val="20000"/>
              </a:spcBef>
              <a:defRPr/>
            </a:pP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16" name="Subtitle 2"/>
          <p:cNvSpPr>
            <a:spLocks noGrp="1"/>
          </p:cNvSpPr>
          <p:nvPr>
            <p:ph type="subTitle" idx="1"/>
          </p:nvPr>
        </p:nvSpPr>
        <p:spPr>
          <a:xfrm>
            <a:off x="1639854" y="1966120"/>
            <a:ext cx="9144000" cy="1605338"/>
          </a:xfrm>
        </p:spPr>
        <p:txBody>
          <a:bodyPr>
            <a:normAutofit lnSpcReduction="10000"/>
          </a:bodyPr>
          <a:lstStyle/>
          <a:p>
            <a:pPr eaLnBrk="1" hangingPunct="1"/>
            <a:r>
              <a:rPr lang="en-US" altLang="en-US" sz="1600" dirty="0">
                <a:solidFill>
                  <a:schemeClr val="tx1"/>
                </a:solidFill>
                <a:latin typeface="Times New Roman" panose="02020603050405020304" pitchFamily="18" charset="0"/>
                <a:cs typeface="Times New Roman" pitchFamily="18" charset="0"/>
              </a:rPr>
              <a:t>PRESENTED BY</a:t>
            </a:r>
          </a:p>
          <a:p>
            <a:pPr algn="l" eaLnBrk="1" hangingPunct="1"/>
            <a:r>
              <a:rPr lang="en-US" altLang="en-US" sz="1600" dirty="0">
                <a:solidFill>
                  <a:schemeClr val="tx1"/>
                </a:solidFill>
                <a:latin typeface="Times New Roman" panose="02020603050405020304" pitchFamily="18" charset="0"/>
                <a:cs typeface="Times New Roman" pitchFamily="18" charset="0"/>
              </a:rPr>
              <a:t>			</a:t>
            </a:r>
            <a:r>
              <a:rPr lang="en-US" altLang="en-US" sz="1600" dirty="0" err="1">
                <a:solidFill>
                  <a:schemeClr val="tx1"/>
                </a:solidFill>
                <a:latin typeface="Times New Roman" panose="02020603050405020304" pitchFamily="18" charset="0"/>
                <a:cs typeface="Times New Roman" pitchFamily="18" charset="0"/>
              </a:rPr>
              <a:t>P.Veera</a:t>
            </a:r>
            <a:r>
              <a:rPr lang="en-US" altLang="en-US" sz="1600" dirty="0">
                <a:solidFill>
                  <a:schemeClr val="tx1"/>
                </a:solidFill>
                <a:latin typeface="Times New Roman" panose="02020603050405020304" pitchFamily="18" charset="0"/>
                <a:cs typeface="Times New Roman" pitchFamily="18" charset="0"/>
              </a:rPr>
              <a:t> Dhanush Kumar     </a:t>
            </a:r>
            <a:r>
              <a:rPr lang="en-US" altLang="en-US" sz="1600" dirty="0">
                <a:latin typeface="Times New Roman" panose="02020603050405020304" pitchFamily="18" charset="0"/>
                <a:cs typeface="Times New Roman" pitchFamily="18" charset="0"/>
              </a:rPr>
              <a:t>(22471A05I4)</a:t>
            </a:r>
            <a:endParaRPr lang="en-US" altLang="en-US" sz="1600" dirty="0">
              <a:solidFill>
                <a:schemeClr val="tx1"/>
              </a:solidFill>
              <a:latin typeface="Times New Roman" panose="02020603050405020304" pitchFamily="18" charset="0"/>
              <a:cs typeface="Times New Roman" pitchFamily="18" charset="0"/>
            </a:endParaRP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S.Srinivas</a:t>
            </a:r>
            <a:r>
              <a:rPr lang="en-US" altLang="en-US" sz="1600" dirty="0">
                <a:solidFill>
                  <a:schemeClr val="tx1"/>
                </a:solidFill>
                <a:latin typeface="Times New Roman" panose="02020603050405020304" pitchFamily="18" charset="0"/>
                <a:cs typeface="Times New Roman" pitchFamily="18" charset="0"/>
              </a:rPr>
              <a:t>	                           (22471A05</a:t>
            </a:r>
            <a:r>
              <a:rPr lang="en-US" altLang="en-US" sz="1600" dirty="0">
                <a:latin typeface="Times New Roman" panose="02020603050405020304" pitchFamily="18" charset="0"/>
                <a:cs typeface="Times New Roman" pitchFamily="18" charset="0"/>
              </a:rPr>
              <a:t>I</a:t>
            </a:r>
            <a:r>
              <a:rPr lang="en-US" altLang="en-US" sz="1600" dirty="0">
                <a:solidFill>
                  <a:schemeClr val="tx1"/>
                </a:solidFill>
                <a:latin typeface="Times New Roman" panose="02020603050405020304" pitchFamily="18" charset="0"/>
                <a:cs typeface="Times New Roman" pitchFamily="18" charset="0"/>
              </a:rPr>
              <a:t>8)</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err="1">
                <a:latin typeface="Times New Roman" panose="02020603050405020304" pitchFamily="18" charset="0"/>
                <a:cs typeface="Times New Roman" pitchFamily="18" charset="0"/>
              </a:rPr>
              <a:t>Sk.M.Saida</a:t>
            </a:r>
            <a:r>
              <a:rPr lang="en-US" altLang="en-US" sz="1600" dirty="0">
                <a:latin typeface="Times New Roman" panose="02020603050405020304" pitchFamily="18" charset="0"/>
                <a:cs typeface="Times New Roman" pitchFamily="18" charset="0"/>
              </a:rPr>
              <a:t> Vali</a:t>
            </a:r>
            <a:r>
              <a:rPr lang="en-US" altLang="en-US" sz="1600" dirty="0">
                <a:solidFill>
                  <a:schemeClr val="tx1"/>
                </a:solidFill>
                <a:latin typeface="Times New Roman" panose="02020603050405020304" pitchFamily="18" charset="0"/>
                <a:cs typeface="Times New Roman" pitchFamily="18" charset="0"/>
              </a:rPr>
              <a:t>	         (22471A05</a:t>
            </a:r>
            <a:r>
              <a:rPr lang="en-US" altLang="en-US" sz="1600" dirty="0">
                <a:latin typeface="Times New Roman" panose="02020603050405020304" pitchFamily="18" charset="0"/>
                <a:cs typeface="Times New Roman" pitchFamily="18" charset="0"/>
              </a:rPr>
              <a:t>J1</a:t>
            </a:r>
            <a:r>
              <a:rPr lang="en-US" altLang="en-US" sz="1600" dirty="0">
                <a:solidFill>
                  <a:schemeClr val="tx1"/>
                </a:solidFill>
                <a:latin typeface="Times New Roman" panose="02020603050405020304" pitchFamily="18" charset="0"/>
                <a:cs typeface="Times New Roman" pitchFamily="18" charset="0"/>
              </a:rPr>
              <a:t>)</a:t>
            </a:r>
          </a:p>
          <a:p>
            <a:pPr algn="l"/>
            <a:r>
              <a:rPr lang="en-US" altLang="en-US" sz="1600" dirty="0">
                <a:solidFill>
                  <a:schemeClr val="tx1"/>
                </a:solidFill>
                <a:latin typeface="Times New Roman" panose="02020603050405020304" pitchFamily="18" charset="0"/>
                <a:cs typeface="Times New Roman" pitchFamily="18" charset="0"/>
              </a:rPr>
              <a:t>                                                      </a:t>
            </a:r>
            <a:r>
              <a:rPr lang="en-US" altLang="en-US" sz="1600" dirty="0" err="1">
                <a:solidFill>
                  <a:schemeClr val="tx1"/>
                </a:solidFill>
                <a:latin typeface="Times New Roman" panose="02020603050405020304" pitchFamily="18" charset="0"/>
                <a:cs typeface="Times New Roman" pitchFamily="18" charset="0"/>
              </a:rPr>
              <a:t>T.Venkata</a:t>
            </a:r>
            <a:r>
              <a:rPr lang="en-US" altLang="en-US" sz="1600" dirty="0">
                <a:solidFill>
                  <a:schemeClr val="tx1"/>
                </a:solidFill>
                <a:latin typeface="Times New Roman" panose="02020603050405020304" pitchFamily="18" charset="0"/>
                <a:cs typeface="Times New Roman" pitchFamily="18" charset="0"/>
              </a:rPr>
              <a:t> Siva                     (22471A05K2)</a:t>
            </a:r>
          </a:p>
        </p:txBody>
      </p:sp>
      <p:sp>
        <p:nvSpPr>
          <p:cNvPr id="17" name="Subtitle 2"/>
          <p:cNvSpPr txBox="1">
            <a:spLocks/>
          </p:cNvSpPr>
          <p:nvPr/>
        </p:nvSpPr>
        <p:spPr bwMode="auto">
          <a:xfrm>
            <a:off x="2782854" y="3571458"/>
            <a:ext cx="6858000" cy="2288429"/>
          </a:xfrm>
          <a:prstGeom prst="rect">
            <a:avLst/>
          </a:prstGeom>
          <a:noFill/>
          <a:ln w="9525">
            <a:noFill/>
            <a:miter lim="800000"/>
            <a:headEnd/>
            <a:tailEnd/>
          </a:ln>
        </p:spPr>
        <p:txBody>
          <a:bodyPr/>
          <a:lstStyle/>
          <a:p>
            <a:pPr algn="ctr" eaLnBrk="1" hangingPunct="1">
              <a:spcBef>
                <a:spcPct val="20000"/>
              </a:spcBef>
              <a:buFont typeface="Wingdings" pitchFamily="2" charset="2"/>
              <a:buNone/>
            </a:pPr>
            <a:r>
              <a:rPr lang="en-US" altLang="en-US" dirty="0">
                <a:solidFill>
                  <a:srgbClr val="006600"/>
                </a:solidFill>
                <a:latin typeface="Times New Roman" panose="02020603050405020304" pitchFamily="18" charset="0"/>
                <a:cs typeface="Times New Roman" pitchFamily="18" charset="0"/>
              </a:rPr>
              <a:t>Under the Esteemed Guidance of</a:t>
            </a:r>
            <a:endParaRPr lang="en-US" altLang="en-US" b="1" dirty="0">
              <a:solidFill>
                <a:srgbClr val="006600"/>
              </a:solidFill>
              <a:latin typeface="Times New Roman" pitchFamily="18" charset="0"/>
              <a:cs typeface="Times New Roman" pitchFamily="18" charset="0"/>
            </a:endParaRPr>
          </a:p>
          <a:p>
            <a:pPr algn="ctr" eaLnBrk="1" hangingPunct="1">
              <a:spcBef>
                <a:spcPct val="20000"/>
              </a:spcBef>
              <a:buFont typeface="Wingdings" pitchFamily="2" charset="2"/>
              <a:buNone/>
            </a:pPr>
            <a:endParaRPr lang="en-US" altLang="en-US" sz="900" b="1" dirty="0">
              <a:solidFill>
                <a:schemeClr val="bg1"/>
              </a:solidFill>
              <a:latin typeface="Times New Roman" pitchFamily="18" charset="0"/>
              <a:cs typeface="Times New Roman" pitchFamily="18" charset="0"/>
            </a:endParaRPr>
          </a:p>
          <a:p>
            <a:pPr algn="ctr">
              <a:spcBef>
                <a:spcPct val="20000"/>
              </a:spcBef>
            </a:pPr>
            <a:r>
              <a:rPr lang="en-US" sz="1600" b="1" dirty="0">
                <a:latin typeface="Times New Roman" panose="02020603050405020304" pitchFamily="18" charset="0"/>
                <a:cs typeface="Times New Roman" panose="02020603050405020304" pitchFamily="18" charset="0"/>
              </a:rPr>
              <a:t>Dr. K. Suresh Babu</a:t>
            </a:r>
            <a:r>
              <a:rPr lang="en-IN" sz="1600" b="1" i="0" baseline="-25000" dirty="0">
                <a:effectLst/>
                <a:latin typeface="Times New Roman" panose="02020603050405020304" pitchFamily="18" charset="0"/>
                <a:cs typeface="Times New Roman" panose="02020603050405020304" pitchFamily="18" charset="0"/>
              </a:rPr>
              <a:t>M. Tech.</a:t>
            </a:r>
            <a:r>
              <a:rPr lang="en-US" sz="1600" b="1" baseline="-25000" dirty="0">
                <a:latin typeface="Times New Roman" panose="02020603050405020304" pitchFamily="18" charset="0"/>
                <a:cs typeface="Times New Roman" panose="02020603050405020304" pitchFamily="18" charset="0"/>
              </a:rPr>
              <a:t>Ph.D.,</a:t>
            </a:r>
            <a:endParaRPr lang="en-IN" sz="1600" dirty="0">
              <a:latin typeface="Times New Roman" panose="02020603050405020304" pitchFamily="18" charset="0"/>
              <a:cs typeface="Times New Roman" panose="02020603050405020304" pitchFamily="18" charset="0"/>
            </a:endParaRPr>
          </a:p>
          <a:p>
            <a:pPr algn="ctr" eaLnBrk="1" hangingPunct="1">
              <a:spcBef>
                <a:spcPct val="20000"/>
              </a:spcBef>
              <a:buFont typeface="Wingdings" pitchFamily="2" charset="2"/>
              <a:buNone/>
            </a:pPr>
            <a:r>
              <a:rPr lang="en-IN" sz="1600" b="0" i="0" dirty="0" err="1">
                <a:effectLst/>
                <a:latin typeface="Times New Roman" panose="02020603050405020304" pitchFamily="18" charset="0"/>
                <a:cs typeface="Times New Roman" panose="02020603050405020304" pitchFamily="18" charset="0"/>
              </a:rPr>
              <a:t>Assoc.Professor</a:t>
            </a:r>
            <a:r>
              <a:rPr lang="en-US" altLang="en-US" sz="1600" dirty="0">
                <a:latin typeface="Times New Roman" pitchFamily="18" charset="0"/>
                <a:cs typeface="Times New Roman" pitchFamily="18" charset="0"/>
              </a:rPr>
              <a:t>,</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Department of Computer Science and Engineering,</a:t>
            </a:r>
          </a:p>
          <a:p>
            <a:pPr algn="ctr" eaLnBrk="1" hangingPunct="1">
              <a:lnSpc>
                <a:spcPct val="150000"/>
              </a:lnSpc>
              <a:spcBef>
                <a:spcPct val="20000"/>
              </a:spcBef>
              <a:buFont typeface="Wingdings" pitchFamily="2" charset="2"/>
              <a:buNone/>
            </a:pPr>
            <a:r>
              <a:rPr lang="en-US" altLang="en-US" sz="1600" dirty="0" err="1">
                <a:latin typeface="Times New Roman" pitchFamily="18" charset="0"/>
                <a:cs typeface="Times New Roman" pitchFamily="18" charset="0"/>
              </a:rPr>
              <a:t>Narasaraopeta</a:t>
            </a:r>
            <a:r>
              <a:rPr lang="en-US" altLang="en-US" sz="1600" dirty="0">
                <a:latin typeface="Times New Roman" pitchFamily="18" charset="0"/>
                <a:cs typeface="Times New Roman" pitchFamily="18" charset="0"/>
              </a:rPr>
              <a:t> Engineering College (Autonomous),</a:t>
            </a:r>
          </a:p>
          <a:p>
            <a:pPr algn="ctr" eaLnBrk="1" hangingPunct="1">
              <a:lnSpc>
                <a:spcPct val="150000"/>
              </a:lnSpc>
              <a:spcBef>
                <a:spcPct val="20000"/>
              </a:spcBef>
              <a:buFont typeface="Wingdings" pitchFamily="2" charset="2"/>
              <a:buNone/>
            </a:pPr>
            <a:r>
              <a:rPr lang="en-US" altLang="en-US" sz="1600" dirty="0">
                <a:latin typeface="Times New Roman" pitchFamily="18" charset="0"/>
                <a:cs typeface="Times New Roman" pitchFamily="18" charset="0"/>
              </a:rPr>
              <a:t>Narasaraopet - 522 601.</a:t>
            </a:r>
          </a:p>
        </p:txBody>
      </p:sp>
      <p:pic>
        <p:nvPicPr>
          <p:cNvPr id="9" name="Picture 8"/>
          <p:cNvPicPr>
            <a:picLocks noChangeAspect="1"/>
          </p:cNvPicPr>
          <p:nvPr/>
        </p:nvPicPr>
        <p:blipFill>
          <a:blip r:embed="rId3"/>
          <a:stretch>
            <a:fillRect/>
          </a:stretch>
        </p:blipFill>
        <p:spPr>
          <a:xfrm>
            <a:off x="0" y="90674"/>
            <a:ext cx="3762900" cy="579027"/>
          </a:xfrm>
          <a:prstGeom prst="rect">
            <a:avLst/>
          </a:prstGeom>
        </p:spPr>
      </p:pic>
    </p:spTree>
    <p:extLst>
      <p:ext uri="{BB962C8B-B14F-4D97-AF65-F5344CB8AC3E}">
        <p14:creationId xmlns:p14="http://schemas.microsoft.com/office/powerpoint/2010/main" val="17696910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OUTLINE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1099457" y="1493134"/>
            <a:ext cx="10515600" cy="4683829"/>
          </a:xfrm>
        </p:spPr>
        <p:txBody>
          <a:bodyPr>
            <a:normAutofit fontScale="62500" lnSpcReduction="20000"/>
          </a:bodyPr>
          <a:lstStyle/>
          <a:p>
            <a:pPr marL="514350" indent="-514350">
              <a:buFont typeface="+mj-lt"/>
              <a:buAutoNum type="arabicPeriod"/>
            </a:pPr>
            <a:r>
              <a:rPr lang="en-IN" dirty="0">
                <a:latin typeface="Times New Roman" panose="02020603050405020304" pitchFamily="18" charset="0"/>
                <a:cs typeface="Times New Roman" panose="02020603050405020304" pitchFamily="18" charset="0"/>
              </a:rPr>
              <a:t>Abstract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Introduction</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Literature Survey</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Research Gaps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Problem Statement</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Objectives</a:t>
            </a: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Block Diagram</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Methodology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Implementation</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Results and Analysis </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Conclusion &amp; Future Scope</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References</a:t>
            </a:r>
          </a:p>
          <a:p>
            <a:pPr marL="514350" indent="-514350">
              <a:buFont typeface="+mj-lt"/>
              <a:buAutoNum type="arabicPeriod"/>
            </a:pPr>
            <a:r>
              <a:rPr lang="en-US" sz="2800" dirty="0">
                <a:latin typeface="Times New Roman" panose="02020603050405020304" pitchFamily="18" charset="0"/>
                <a:cs typeface="Times New Roman" panose="02020603050405020304" pitchFamily="18" charset="0"/>
              </a:rPr>
              <a:t>Acknowledgement</a:t>
            </a:r>
            <a:endParaRPr lang="en-IN" dirty="0">
              <a:latin typeface="Times New Roman" panose="02020603050405020304" pitchFamily="18" charset="0"/>
              <a:cs typeface="Times New Roman" panose="02020603050405020304" pitchFamily="18" charset="0"/>
            </a:endParaRPr>
          </a:p>
          <a:p>
            <a:pPr marL="514350" indent="-514350">
              <a:buFont typeface="+mj-lt"/>
              <a:buAutoNum type="arabicPeriod"/>
            </a:pPr>
            <a:r>
              <a:rPr lang="en-IN" dirty="0">
                <a:latin typeface="Times New Roman" panose="02020603050405020304" pitchFamily="18" charset="0"/>
                <a:cs typeface="Times New Roman" panose="02020603050405020304" pitchFamily="18" charset="0"/>
              </a:rPr>
              <a:t>Q&amp;A</a:t>
            </a:r>
          </a:p>
          <a:p>
            <a:pPr marL="0" indent="0">
              <a:buNone/>
            </a:pPr>
            <a:endParaRPr lang="en-IN"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A181EE8F-4D70-4F34-A45E-FAA72FEE1615}" type="datetime1">
              <a:rPr lang="en-IN" smtClean="0">
                <a:latin typeface="Times New Roman" panose="02020603050405020304" pitchFamily="18" charset="0"/>
                <a:cs typeface="Times New Roman" panose="02020603050405020304" pitchFamily="18" charset="0"/>
              </a:rPr>
              <a:t>04-12-2025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67526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ABSTRACT</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367645" y="1225485"/>
            <a:ext cx="11425287" cy="4727543"/>
          </a:xfrm>
        </p:spPr>
        <p:txBody>
          <a:bodyPr>
            <a:noAutofit/>
          </a:bodyPr>
          <a:lstStyle/>
          <a:p>
            <a:pPr marL="0" indent="0" algn="just">
              <a:buNone/>
            </a:pPr>
            <a:r>
              <a:rPr lang="en-US" sz="2400" dirty="0">
                <a:latin typeface="Times New Roman" panose="02020603050405020304" pitchFamily="18" charset="0"/>
                <a:cs typeface="Times New Roman" panose="02020603050405020304" pitchFamily="18" charset="0"/>
              </a:rPr>
              <a:t>Most of the current Intrusion Detection Systems (IDS) fail to be accurate under high-dimensional features, class imbalance, and imprecise predictions—especially under subtle or emerging attack patterns. This contribution presents </a:t>
            </a:r>
            <a:r>
              <a:rPr lang="en-US" sz="2400" dirty="0" err="1">
                <a:latin typeface="Times New Roman" panose="02020603050405020304" pitchFamily="18" charset="0"/>
                <a:cs typeface="Times New Roman" panose="02020603050405020304" pitchFamily="18" charset="0"/>
              </a:rPr>
              <a:t>FuzzTabIDS</a:t>
            </a:r>
            <a:r>
              <a:rPr lang="en-US" sz="2400" dirty="0">
                <a:latin typeface="Times New Roman" panose="02020603050405020304" pitchFamily="18" charset="0"/>
                <a:cs typeface="Times New Roman" panose="02020603050405020304" pitchFamily="18" charset="0"/>
              </a:rPr>
              <a:t>, a twelve-stage hybrid IDS pipeline that combines feature selection, interpretable deep learning, fuzzy logic, and ensemble corrections to achieve robust and adaptive intrusion de </a:t>
            </a:r>
            <a:r>
              <a:rPr lang="en-US" sz="2400" dirty="0" err="1">
                <a:latin typeface="Times New Roman" panose="02020603050405020304" pitchFamily="18" charset="0"/>
                <a:cs typeface="Times New Roman" panose="02020603050405020304" pitchFamily="18" charset="0"/>
              </a:rPr>
              <a:t>tection</a:t>
            </a:r>
            <a:r>
              <a:rPr lang="en-US" sz="2400" dirty="0">
                <a:latin typeface="Times New Roman" panose="02020603050405020304" pitchFamily="18" charset="0"/>
                <a:cs typeface="Times New Roman" panose="02020603050405020304" pitchFamily="18" charset="0"/>
              </a:rPr>
              <a:t>. Starting with the CICIDS 2017 dataset, we use Minimum Redundancy Maximum Relevance (MRMR) to choose the most relevant features. Next, a </a:t>
            </a:r>
            <a:r>
              <a:rPr lang="en-US" sz="2400" dirty="0" err="1">
                <a:latin typeface="Times New Roman" panose="02020603050405020304" pitchFamily="18" charset="0"/>
                <a:cs typeface="Times New Roman" panose="02020603050405020304" pitchFamily="18" charset="0"/>
              </a:rPr>
              <a:t>TabNet</a:t>
            </a:r>
            <a:r>
              <a:rPr lang="en-US" sz="2400" dirty="0">
                <a:latin typeface="Times New Roman" panose="02020603050405020304" pitchFamily="18" charset="0"/>
                <a:cs typeface="Times New Roman" panose="02020603050405020304" pitchFamily="18" charset="0"/>
              </a:rPr>
              <a:t> classifier is trained to generate class labels as well as confidence scores. For managing low confidence predictions, a fuzzy logic layer dynamically determines decision thresholds and activates micro-correction modules, such as Decision Trees and Random Forests, for fine grained tuning. Ensemble of </a:t>
            </a:r>
            <a:r>
              <a:rPr lang="en-US" sz="2400" dirty="0" err="1">
                <a:latin typeface="Times New Roman" panose="02020603050405020304" pitchFamily="18" charset="0"/>
                <a:cs typeface="Times New Roman" panose="02020603050405020304" pitchFamily="18" charset="0"/>
              </a:rPr>
              <a:t>TabNet</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LightGBM</a:t>
            </a:r>
            <a:r>
              <a:rPr lang="en-US" sz="2400" dirty="0">
                <a:latin typeface="Times New Roman" panose="02020603050405020304" pitchFamily="18" charset="0"/>
                <a:cs typeface="Times New Roman" panose="02020603050405020304" pitchFamily="18" charset="0"/>
              </a:rPr>
              <a:t>, and Random Forest through weighted voting and stacking further improves detection </a:t>
            </a:r>
            <a:r>
              <a:rPr lang="en-US" sz="2400" dirty="0" err="1">
                <a:latin typeface="Times New Roman" panose="02020603050405020304" pitchFamily="18" charset="0"/>
                <a:cs typeface="Times New Roman" panose="02020603050405020304" pitchFamily="18" charset="0"/>
              </a:rPr>
              <a:t>accu</a:t>
            </a:r>
            <a:r>
              <a:rPr lang="en-US" sz="2400" dirty="0">
                <a:latin typeface="Times New Roman" panose="02020603050405020304" pitchFamily="18" charset="0"/>
                <a:cs typeface="Times New Roman" panose="02020603050405020304" pitchFamily="18" charset="0"/>
              </a:rPr>
              <a:t> racy. A final-stage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corrector reduces remaining errors in edge cases. Evaluation of experiments for binary, multi-class, and all class configurations shows high accuracy, enhanced recall on minority classes, and robust interpretability, proving </a:t>
            </a:r>
            <a:r>
              <a:rPr lang="en-US" sz="2400" dirty="0" err="1">
                <a:latin typeface="Times New Roman" panose="02020603050405020304" pitchFamily="18" charset="0"/>
                <a:cs typeface="Times New Roman" panose="02020603050405020304" pitchFamily="18" charset="0"/>
              </a:rPr>
              <a:t>FuzzTabIDS</a:t>
            </a:r>
            <a:r>
              <a:rPr lang="en-US" sz="2400" dirty="0">
                <a:latin typeface="Times New Roman" panose="02020603050405020304" pitchFamily="18" charset="0"/>
                <a:cs typeface="Times New Roman" panose="02020603050405020304" pitchFamily="18" charset="0"/>
              </a:rPr>
              <a:t> to be a good solution for contemporary network security issues.</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ABD3F44C-057B-4E97-BA6D-C8ECE681D015}" type="datetime1">
              <a:rPr lang="en-IN" smtClean="0">
                <a:latin typeface="Times New Roman" panose="02020603050405020304" pitchFamily="18" charset="0"/>
                <a:cs typeface="Times New Roman" panose="02020603050405020304" pitchFamily="18" charset="0"/>
              </a:rPr>
              <a:t>04-12-2025</a:t>
            </a:fld>
            <a:endParaRPr lang="en-US" dirty="0">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69108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8781-C5BE-4844-44C7-E22411AEF82A}"/>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44FE8A-B6B4-6EE6-F5FC-2C43AFB89AEA}"/>
              </a:ext>
            </a:extLst>
          </p:cNvPr>
          <p:cNvSpPr>
            <a:spLocks noGrp="1"/>
          </p:cNvSpPr>
          <p:nvPr>
            <p:ph type="title"/>
          </p:nvPr>
        </p:nvSpPr>
        <p:spPr>
          <a:xfrm>
            <a:off x="1180618" y="417682"/>
            <a:ext cx="10173182" cy="562154"/>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LITERATURE SURVEY</a:t>
            </a:r>
          </a:p>
        </p:txBody>
      </p:sp>
      <p:sp>
        <p:nvSpPr>
          <p:cNvPr id="9" name="Content Placeholder 8">
            <a:extLst>
              <a:ext uri="{FF2B5EF4-FFF2-40B4-BE49-F238E27FC236}">
                <a16:creationId xmlns:a16="http://schemas.microsoft.com/office/drawing/2014/main" id="{1896AEA7-233C-BDA9-881D-87EDF4B2C5F0}"/>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CE957D3B-CB82-3E17-0AA5-A4BB80ACDDD7}"/>
              </a:ext>
            </a:extLst>
          </p:cNvPr>
          <p:cNvSpPr>
            <a:spLocks noGrp="1"/>
          </p:cNvSpPr>
          <p:nvPr>
            <p:ph type="dt" sz="half" idx="10"/>
          </p:nvPr>
        </p:nvSpPr>
        <p:spPr/>
        <p:txBody>
          <a:bodyPr/>
          <a:lstStyle/>
          <a:p>
            <a:fld id="{067345C2-91BF-4023-B717-7D32DBE3A081}"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B24FC51-9C10-BD50-EF68-E25A9F4ED15B}"/>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DC0CA0D3-5B10-FC72-9025-6CAE750F3711}"/>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a:t>
            </a:fld>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05BE395D-289E-B803-987A-AC6D7E3CDBA9}"/>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7E8FF2A2-31EB-C0C2-5B81-6FF8E050C2FE}"/>
              </a:ext>
            </a:extLst>
          </p:cNvPr>
          <p:cNvGraphicFramePr>
            <a:graphicFrameLocks noGrp="1"/>
          </p:cNvGraphicFramePr>
          <p:nvPr>
            <p:extLst>
              <p:ext uri="{D42A27DB-BD31-4B8C-83A1-F6EECF244321}">
                <p14:modId xmlns:p14="http://schemas.microsoft.com/office/powerpoint/2010/main" val="3390007818"/>
              </p:ext>
            </p:extLst>
          </p:nvPr>
        </p:nvGraphicFramePr>
        <p:xfrm>
          <a:off x="199534" y="1006823"/>
          <a:ext cx="11792931" cy="5364480"/>
        </p:xfrm>
        <a:graphic>
          <a:graphicData uri="http://schemas.openxmlformats.org/drawingml/2006/table">
            <a:tbl>
              <a:tblPr firstRow="1" bandRow="1">
                <a:tableStyleId>{17292A2E-F333-43FB-9621-5CBBE7FDCDCB}</a:tableStyleId>
              </a:tblPr>
              <a:tblGrid>
                <a:gridCol w="535129">
                  <a:extLst>
                    <a:ext uri="{9D8B030D-6E8A-4147-A177-3AD203B41FA5}">
                      <a16:colId xmlns:a16="http://schemas.microsoft.com/office/drawing/2014/main" val="166576671"/>
                    </a:ext>
                  </a:extLst>
                </a:gridCol>
                <a:gridCol w="2000681">
                  <a:extLst>
                    <a:ext uri="{9D8B030D-6E8A-4147-A177-3AD203B41FA5}">
                      <a16:colId xmlns:a16="http://schemas.microsoft.com/office/drawing/2014/main" val="946789180"/>
                    </a:ext>
                  </a:extLst>
                </a:gridCol>
                <a:gridCol w="1498862">
                  <a:extLst>
                    <a:ext uri="{9D8B030D-6E8A-4147-A177-3AD203B41FA5}">
                      <a16:colId xmlns:a16="http://schemas.microsoft.com/office/drawing/2014/main" val="3483638722"/>
                    </a:ext>
                  </a:extLst>
                </a:gridCol>
                <a:gridCol w="1574277">
                  <a:extLst>
                    <a:ext uri="{9D8B030D-6E8A-4147-A177-3AD203B41FA5}">
                      <a16:colId xmlns:a16="http://schemas.microsoft.com/office/drawing/2014/main" val="1190061112"/>
                    </a:ext>
                  </a:extLst>
                </a:gridCol>
                <a:gridCol w="2111604">
                  <a:extLst>
                    <a:ext uri="{9D8B030D-6E8A-4147-A177-3AD203B41FA5}">
                      <a16:colId xmlns:a16="http://schemas.microsoft.com/office/drawing/2014/main" val="3469305604"/>
                    </a:ext>
                  </a:extLst>
                </a:gridCol>
                <a:gridCol w="2215299">
                  <a:extLst>
                    <a:ext uri="{9D8B030D-6E8A-4147-A177-3AD203B41FA5}">
                      <a16:colId xmlns:a16="http://schemas.microsoft.com/office/drawing/2014/main" val="3853106642"/>
                    </a:ext>
                  </a:extLst>
                </a:gridCol>
                <a:gridCol w="1857079">
                  <a:extLst>
                    <a:ext uri="{9D8B030D-6E8A-4147-A177-3AD203B41FA5}">
                      <a16:colId xmlns:a16="http://schemas.microsoft.com/office/drawing/2014/main" val="1601472594"/>
                    </a:ext>
                  </a:extLst>
                </a:gridCol>
              </a:tblGrid>
              <a:tr h="561815">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4642367">
                <a:tc>
                  <a:txBody>
                    <a:bodyPr/>
                    <a:lstStyle/>
                    <a:p>
                      <a:pPr algn="just"/>
                      <a:r>
                        <a:rPr lang="en-US" sz="140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Streamlined Network Intrusion Detection: Feature Selection </a:t>
                      </a:r>
                    </a:p>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Optimization for Higher Accuracy and Efficiency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400" dirty="0">
                          <a:latin typeface="Times New Roman" panose="02020603050405020304" pitchFamily="18" charset="0"/>
                          <a:cs typeface="Times New Roman" panose="02020603050405020304" pitchFamily="18" charset="0"/>
                        </a:rPr>
                        <a:t>Kunda Suresh Babu, Vallepu Srinivas, Yamani Chandana, G Satish, R Dhandu Naik, and Dodda Venkata Reddy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TAYLOR AND FRANCIS,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paper evaluates a proposed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feature reduction technique</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using multiple ML algorithms for classifying network attacks. It mainly employs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Decision Tree</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Support Vector Machine</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Random Forest</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comparing their performance before and after feature reduction. The study measures training time and accuracy improvements and plans to explore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Naive Bayes</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KNN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transformer-based models</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in future work.</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paper introduces an improved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chi-square-rev feature selection method</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that reduces features by about 36% while keeping accuracy extremely high. It demonstrates a strong balance between detection performance and efficiency, cutting training time by up to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65%</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achieving accuracies near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99.9%</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on CICIDS-2017. The approach proves robust across multiple ML models and stands out as an early attempt to optimize resource usage in decision-tree–based IDS, with future plans to test Naive Bayes, KNN, and transformer models.</a:t>
                      </a:r>
                      <a:endParaRPr lang="en-US"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kern="1200" dirty="0">
                          <a:solidFill>
                            <a:schemeClr val="tx1"/>
                          </a:solidFill>
                          <a:effectLst/>
                          <a:latin typeface="Times New Roman" panose="02020603050405020304" pitchFamily="18" charset="0"/>
                          <a:ea typeface="+mn-ea"/>
                          <a:cs typeface="Times New Roman" panose="02020603050405020304" pitchFamily="18" charset="0"/>
                        </a:rPr>
                        <a:t>The study mainly focuses on </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decision tree classifiers</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CICIDS-2017</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limiting validation across datasets and advanced models. It suggests exploring </a:t>
                      </a:r>
                      <a:r>
                        <a:rPr lang="en-US" sz="1400" b="1" kern="1200" dirty="0">
                          <a:solidFill>
                            <a:schemeClr val="tx1"/>
                          </a:solidFill>
                          <a:effectLst/>
                          <a:latin typeface="Times New Roman" panose="02020603050405020304" pitchFamily="18" charset="0"/>
                          <a:ea typeface="+mn-ea"/>
                          <a:cs typeface="Times New Roman" panose="02020603050405020304" pitchFamily="18" charset="0"/>
                        </a:rPr>
                        <a:t>Naive Bayes, KNN, and transformer-based approaches</a:t>
                      </a:r>
                      <a:r>
                        <a:rPr lang="en-US" sz="1400" kern="1200" dirty="0">
                          <a:solidFill>
                            <a:schemeClr val="tx1"/>
                          </a:solidFill>
                          <a:effectLst/>
                          <a:latin typeface="Times New Roman" panose="02020603050405020304" pitchFamily="18" charset="0"/>
                          <a:ea typeface="+mn-ea"/>
                          <a:cs typeface="Times New Roman" panose="02020603050405020304" pitchFamily="18" charset="0"/>
                        </a:rPr>
                        <a:t> to test adaptability, while future work should address trade-offs between accuracy, computational efficiency, and model interpretability.</a:t>
                      </a:r>
                    </a:p>
                    <a:p>
                      <a:br>
                        <a:rPr lang="en-US" sz="1400" dirty="0"/>
                      </a:b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bl>
          </a:graphicData>
        </a:graphic>
      </p:graphicFrame>
    </p:spTree>
    <p:extLst>
      <p:ext uri="{BB962C8B-B14F-4D97-AF65-F5344CB8AC3E}">
        <p14:creationId xmlns:p14="http://schemas.microsoft.com/office/powerpoint/2010/main" val="23750824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51873-EA3E-6DB7-6942-702F2A435665}"/>
            </a:ext>
          </a:extLst>
        </p:cNvPr>
        <p:cNvGrpSpPr/>
        <p:nvPr/>
      </p:nvGrpSpPr>
      <p:grpSpPr>
        <a:xfrm>
          <a:off x="0" y="0"/>
          <a:ext cx="0" cy="0"/>
          <a:chOff x="0" y="0"/>
          <a:chExt cx="0" cy="0"/>
        </a:xfrm>
      </p:grpSpPr>
      <p:sp>
        <p:nvSpPr>
          <p:cNvPr id="2" name="Date Placeholder 1">
            <a:extLst>
              <a:ext uri="{FF2B5EF4-FFF2-40B4-BE49-F238E27FC236}">
                <a16:creationId xmlns:a16="http://schemas.microsoft.com/office/drawing/2014/main" id="{A7290D9E-348F-438B-B97D-018BB8FFA12C}"/>
              </a:ext>
            </a:extLst>
          </p:cNvPr>
          <p:cNvSpPr>
            <a:spLocks noGrp="1"/>
          </p:cNvSpPr>
          <p:nvPr>
            <p:ph type="dt" sz="half" idx="10"/>
          </p:nvPr>
        </p:nvSpPr>
        <p:spPr/>
        <p:txBody>
          <a:bodyPr/>
          <a:lstStyle/>
          <a:p>
            <a:fld id="{31EEE377-4CE7-435C-8502-A7F2C3483A8F}" type="datetime1">
              <a:rPr lang="en-IN" smtClean="0"/>
              <a:t>04-12-2025</a:t>
            </a:fld>
            <a:endParaRPr lang="en-IN"/>
          </a:p>
        </p:txBody>
      </p:sp>
      <p:sp>
        <p:nvSpPr>
          <p:cNvPr id="3" name="Footer Placeholder 2">
            <a:extLst>
              <a:ext uri="{FF2B5EF4-FFF2-40B4-BE49-F238E27FC236}">
                <a16:creationId xmlns:a16="http://schemas.microsoft.com/office/drawing/2014/main" id="{2C62B944-67C0-DE2B-5853-ADBF44A0C5E2}"/>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4DCD51DD-E001-1FF8-AD39-7EA6268B58CD}"/>
              </a:ext>
            </a:extLst>
          </p:cNvPr>
          <p:cNvSpPr>
            <a:spLocks noGrp="1"/>
          </p:cNvSpPr>
          <p:nvPr>
            <p:ph type="sldNum" sz="quarter" idx="12"/>
          </p:nvPr>
        </p:nvSpPr>
        <p:spPr/>
        <p:txBody>
          <a:bodyPr/>
          <a:lstStyle/>
          <a:p>
            <a:fld id="{65DCBD69-296B-4D7C-AF62-9B588FC78772}" type="slidenum">
              <a:rPr lang="en-IN" smtClean="0"/>
              <a:t>5</a:t>
            </a:fld>
            <a:endParaRPr lang="en-IN" dirty="0"/>
          </a:p>
        </p:txBody>
      </p:sp>
      <p:pic>
        <p:nvPicPr>
          <p:cNvPr id="5" name="Picture 4">
            <a:extLst>
              <a:ext uri="{FF2B5EF4-FFF2-40B4-BE49-F238E27FC236}">
                <a16:creationId xmlns:a16="http://schemas.microsoft.com/office/drawing/2014/main" id="{41275641-FAD8-A6E1-8269-9D8FDDC052BB}"/>
              </a:ext>
            </a:extLst>
          </p:cNvPr>
          <p:cNvPicPr>
            <a:picLocks noChangeAspect="1"/>
          </p:cNvPicPr>
          <p:nvPr/>
        </p:nvPicPr>
        <p:blipFill>
          <a:blip r:embed="rId2"/>
          <a:stretch>
            <a:fillRect/>
          </a:stretch>
        </p:blipFill>
        <p:spPr>
          <a:xfrm>
            <a:off x="0" y="0"/>
            <a:ext cx="3762900" cy="579027"/>
          </a:xfrm>
          <a:prstGeom prst="rect">
            <a:avLst/>
          </a:prstGeom>
        </p:spPr>
      </p:pic>
      <p:graphicFrame>
        <p:nvGraphicFramePr>
          <p:cNvPr id="8" name="Table 7">
            <a:extLst>
              <a:ext uri="{FF2B5EF4-FFF2-40B4-BE49-F238E27FC236}">
                <a16:creationId xmlns:a16="http://schemas.microsoft.com/office/drawing/2014/main" id="{73775A86-7911-7E2C-C46E-741D9165CB2E}"/>
              </a:ext>
            </a:extLst>
          </p:cNvPr>
          <p:cNvGraphicFramePr>
            <a:graphicFrameLocks noGrp="1"/>
          </p:cNvGraphicFramePr>
          <p:nvPr>
            <p:extLst>
              <p:ext uri="{D42A27DB-BD31-4B8C-83A1-F6EECF244321}">
                <p14:modId xmlns:p14="http://schemas.microsoft.com/office/powerpoint/2010/main" val="3408475435"/>
              </p:ext>
            </p:extLst>
          </p:nvPr>
        </p:nvGraphicFramePr>
        <p:xfrm>
          <a:off x="197963" y="623805"/>
          <a:ext cx="11858919" cy="5732545"/>
        </p:xfrm>
        <a:graphic>
          <a:graphicData uri="http://schemas.openxmlformats.org/drawingml/2006/table">
            <a:tbl>
              <a:tblPr firstRow="1" bandRow="1">
                <a:tableStyleId>{17292A2E-F333-43FB-9621-5CBBE7FDCDCB}</a:tableStyleId>
              </a:tblPr>
              <a:tblGrid>
                <a:gridCol w="631740">
                  <a:extLst>
                    <a:ext uri="{9D8B030D-6E8A-4147-A177-3AD203B41FA5}">
                      <a16:colId xmlns:a16="http://schemas.microsoft.com/office/drawing/2014/main" val="3847149916"/>
                    </a:ext>
                  </a:extLst>
                </a:gridCol>
                <a:gridCol w="2088060">
                  <a:extLst>
                    <a:ext uri="{9D8B030D-6E8A-4147-A177-3AD203B41FA5}">
                      <a16:colId xmlns:a16="http://schemas.microsoft.com/office/drawing/2014/main" val="1796882217"/>
                    </a:ext>
                  </a:extLst>
                </a:gridCol>
                <a:gridCol w="1740050">
                  <a:extLst>
                    <a:ext uri="{9D8B030D-6E8A-4147-A177-3AD203B41FA5}">
                      <a16:colId xmlns:a16="http://schemas.microsoft.com/office/drawing/2014/main" val="4108380731"/>
                    </a:ext>
                  </a:extLst>
                </a:gridCol>
                <a:gridCol w="1639382">
                  <a:extLst>
                    <a:ext uri="{9D8B030D-6E8A-4147-A177-3AD203B41FA5}">
                      <a16:colId xmlns:a16="http://schemas.microsoft.com/office/drawing/2014/main" val="4070148983"/>
                    </a:ext>
                  </a:extLst>
                </a:gridCol>
                <a:gridCol w="2104340">
                  <a:extLst>
                    <a:ext uri="{9D8B030D-6E8A-4147-A177-3AD203B41FA5}">
                      <a16:colId xmlns:a16="http://schemas.microsoft.com/office/drawing/2014/main" val="3351025460"/>
                    </a:ext>
                  </a:extLst>
                </a:gridCol>
                <a:gridCol w="1738963">
                  <a:extLst>
                    <a:ext uri="{9D8B030D-6E8A-4147-A177-3AD203B41FA5}">
                      <a16:colId xmlns:a16="http://schemas.microsoft.com/office/drawing/2014/main" val="2232980813"/>
                    </a:ext>
                  </a:extLst>
                </a:gridCol>
                <a:gridCol w="1916384">
                  <a:extLst>
                    <a:ext uri="{9D8B030D-6E8A-4147-A177-3AD203B41FA5}">
                      <a16:colId xmlns:a16="http://schemas.microsoft.com/office/drawing/2014/main" val="878577757"/>
                    </a:ext>
                  </a:extLst>
                </a:gridCol>
              </a:tblGrid>
              <a:tr h="638794">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3645685"/>
                  </a:ext>
                </a:extLst>
              </a:tr>
              <a:tr h="2769727">
                <a:tc>
                  <a:txBody>
                    <a:bodyPr/>
                    <a:lstStyle/>
                    <a:p>
                      <a:pPr algn="l"/>
                      <a:r>
                        <a:rPr lang="en-US" sz="140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An optimized LSTM-based deep learning model for anomaly network intrusion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Nitu Dash</a:t>
                      </a:r>
                    </a:p>
                    <a:p>
                      <a:pPr algn="just"/>
                      <a:r>
                        <a:rPr lang="en-IN" sz="1400" dirty="0">
                          <a:latin typeface="Times New Roman" panose="02020603050405020304" pitchFamily="18" charset="0"/>
                          <a:cs typeface="Times New Roman" panose="02020603050405020304" pitchFamily="18" charset="0"/>
                        </a:rPr>
                        <a:t>Sujata Chakravarty</a:t>
                      </a:r>
                    </a:p>
                    <a:p>
                      <a:pPr algn="just"/>
                      <a:r>
                        <a:rPr lang="en-IN" sz="1400" dirty="0">
                          <a:latin typeface="Times New Roman" panose="02020603050405020304" pitchFamily="18" charset="0"/>
                          <a:cs typeface="Times New Roman" panose="02020603050405020304" pitchFamily="18" charset="0"/>
                        </a:rPr>
                        <a:t>Amiya Kumar Rath</a:t>
                      </a:r>
                    </a:p>
                    <a:p>
                      <a:pPr algn="just"/>
                      <a:r>
                        <a:rPr lang="en-IN" sz="1400" dirty="0">
                          <a:latin typeface="Times New Roman" panose="02020603050405020304" pitchFamily="18" charset="0"/>
                          <a:cs typeface="Times New Roman" panose="02020603050405020304" pitchFamily="18" charset="0"/>
                        </a:rPr>
                        <a:t>Nimay Chandra Giri</a:t>
                      </a:r>
                    </a:p>
                    <a:p>
                      <a:pPr algn="just"/>
                      <a:r>
                        <a:rPr lang="en-IN" sz="1400" dirty="0">
                          <a:latin typeface="Times New Roman" panose="02020603050405020304" pitchFamily="18" charset="0"/>
                          <a:cs typeface="Times New Roman" panose="02020603050405020304" pitchFamily="18" charset="0"/>
                        </a:rPr>
                        <a:t>Kareem M. </a:t>
                      </a:r>
                      <a:r>
                        <a:rPr lang="en-IN" sz="1400" dirty="0" err="1">
                          <a:latin typeface="Times New Roman" panose="02020603050405020304" pitchFamily="18" charset="0"/>
                          <a:cs typeface="Times New Roman" panose="02020603050405020304" pitchFamily="18" charset="0"/>
                        </a:rPr>
                        <a:t>AboRas</a:t>
                      </a:r>
                      <a:endParaRPr lang="en-IN" sz="1400" dirty="0">
                        <a:latin typeface="Times New Roman" panose="02020603050405020304" pitchFamily="18" charset="0"/>
                        <a:cs typeface="Times New Roman" panose="02020603050405020304" pitchFamily="18" charset="0"/>
                      </a:endParaRPr>
                    </a:p>
                    <a:p>
                      <a:pPr algn="just"/>
                      <a:r>
                        <a:rPr lang="en-IN" sz="1400" dirty="0">
                          <a:latin typeface="Times New Roman" panose="02020603050405020304" pitchFamily="18" charset="0"/>
                          <a:cs typeface="Times New Roman" panose="02020603050405020304" pitchFamily="18" charset="0"/>
                        </a:rPr>
                        <a:t>N. Gowtham</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Scientific Reports in the year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paper proposes an optimized LSTM-based IDS tuned with PSO, JAYA, and SSA algorithms, evaluated on NSL-KDD, CICIDS2017, and </a:t>
                      </a:r>
                      <a:r>
                        <a:rPr lang="en-US" sz="1400" b="0" i="0" kern="1200" dirty="0" err="1">
                          <a:solidFill>
                            <a:schemeClr val="tx1"/>
                          </a:solidFill>
                          <a:effectLst/>
                          <a:latin typeface="Times New Roman" panose="02020603050405020304" pitchFamily="18" charset="0"/>
                          <a:ea typeface="+mn-ea"/>
                          <a:cs typeface="Times New Roman" panose="02020603050405020304" pitchFamily="18" charset="0"/>
                        </a:rPr>
                        <a:t>BoT</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-IoT datasets using standard performance metrics.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SSA-optimized LSTM model outperformed PSO and JAYA variants with higher accuracy, precision, recall, and F1-score, showing faster convergence and better suitability for real-time intrusion detection.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The paper focuses only on a single LSTM architecture and does not explore other deep learning models or LSTM variants. It also lacks evaluation on real-time streaming data, which limits its applicability in dynamic, real-world network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334002"/>
                  </a:ext>
                </a:extLst>
              </a:tr>
              <a:tr h="2324024">
                <a:tc>
                  <a:txBody>
                    <a:bodyPr/>
                    <a:lstStyle/>
                    <a:p>
                      <a:pPr algn="just"/>
                      <a:r>
                        <a:rPr lang="en-US" sz="1400" dirty="0"/>
                        <a:t>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An Improved Network Intrusion Detection Method Based On CNN-LSTM-SA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Bian Hui, Kang Leng Chiew</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Journal of Advanced Research in Applied Sciences and Engineering Technology,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CNN extracts spatial features, LSTM captures temporal patterns, and Self-Attention highlights key features to enhance detection accuracy.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CNN-LSTM-SA model outperforms traditional methods on the NSL-KDD dataset, offering high accuracy, efficient detection, and strong suitability for real-world network security.</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Tested only on NSL-KDD, not real-world data.</a:t>
                      </a:r>
                    </a:p>
                    <a:p>
                      <a:pPr algn="just"/>
                      <a:r>
                        <a:rPr lang="en-US" sz="1400" dirty="0">
                          <a:latin typeface="Times New Roman" panose="02020603050405020304" pitchFamily="18" charset="0"/>
                          <a:cs typeface="Times New Roman" panose="02020603050405020304" pitchFamily="18" charset="0"/>
                        </a:rPr>
                        <a:t>No real-time or live deployment evaluation.</a:t>
                      </a:r>
                    </a:p>
                    <a:p>
                      <a:pPr algn="just"/>
                      <a:r>
                        <a:rPr lang="en-US" sz="1400" dirty="0">
                          <a:latin typeface="Times New Roman" panose="02020603050405020304" pitchFamily="18" charset="0"/>
                          <a:cs typeface="Times New Roman" panose="02020603050405020304" pitchFamily="18" charset="0"/>
                        </a:rPr>
                        <a:t>Computational cost not analyzed.</a:t>
                      </a:r>
                    </a:p>
                    <a:p>
                      <a:pPr algn="just"/>
                      <a:r>
                        <a:rPr lang="en-US" sz="1400" dirty="0">
                          <a:latin typeface="Times New Roman" panose="02020603050405020304" pitchFamily="18" charset="0"/>
                          <a:cs typeface="Times New Roman" panose="02020603050405020304" pitchFamily="18" charset="0"/>
                        </a:rPr>
                        <a:t>No comparison with latest deep learning models.</a:t>
                      </a:r>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331738"/>
                  </a:ext>
                </a:extLst>
              </a:tr>
            </a:tbl>
          </a:graphicData>
        </a:graphic>
      </p:graphicFrame>
    </p:spTree>
    <p:extLst>
      <p:ext uri="{BB962C8B-B14F-4D97-AF65-F5344CB8AC3E}">
        <p14:creationId xmlns:p14="http://schemas.microsoft.com/office/powerpoint/2010/main" val="25716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C2AC6-497D-ABC2-1A6B-A26CA55BF44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8DD103E9-2019-E18A-A495-B25224C6FFD6}"/>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F028ADF2-4B73-33DB-81E4-77FB9B0F1299}"/>
              </a:ext>
            </a:extLst>
          </p:cNvPr>
          <p:cNvSpPr>
            <a:spLocks noGrp="1"/>
          </p:cNvSpPr>
          <p:nvPr>
            <p:ph type="dt" sz="half" idx="10"/>
          </p:nvPr>
        </p:nvSpPr>
        <p:spPr/>
        <p:txBody>
          <a:bodyPr/>
          <a:lstStyle/>
          <a:p>
            <a:fld id="{4C4CDB42-67F6-4B87-8572-70294FBE73C3}"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4DAA9ED6-1CDA-AC44-C6BC-C4961409D793}"/>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ABDA28FB-8158-97B3-1435-2EA6058E725E}"/>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6</a:t>
            </a:fld>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17EA9A56-A9CB-310C-B563-DCE5AF55CCC9}"/>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304D9301-A22B-D041-954E-17ACAB195349}"/>
              </a:ext>
            </a:extLst>
          </p:cNvPr>
          <p:cNvGraphicFramePr>
            <a:graphicFrameLocks noGrp="1"/>
          </p:cNvGraphicFramePr>
          <p:nvPr>
            <p:extLst>
              <p:ext uri="{D42A27DB-BD31-4B8C-83A1-F6EECF244321}">
                <p14:modId xmlns:p14="http://schemas.microsoft.com/office/powerpoint/2010/main" val="187733337"/>
              </p:ext>
            </p:extLst>
          </p:nvPr>
        </p:nvGraphicFramePr>
        <p:xfrm>
          <a:off x="188536" y="681037"/>
          <a:ext cx="11792931" cy="5418689"/>
        </p:xfrm>
        <a:graphic>
          <a:graphicData uri="http://schemas.openxmlformats.org/drawingml/2006/table">
            <a:tbl>
              <a:tblPr firstRow="1" bandRow="1">
                <a:tableStyleId>{17292A2E-F333-43FB-9621-5CBBE7FDCDCB}</a:tableStyleId>
              </a:tblPr>
              <a:tblGrid>
                <a:gridCol w="535129">
                  <a:extLst>
                    <a:ext uri="{9D8B030D-6E8A-4147-A177-3AD203B41FA5}">
                      <a16:colId xmlns:a16="http://schemas.microsoft.com/office/drawing/2014/main" val="166576671"/>
                    </a:ext>
                  </a:extLst>
                </a:gridCol>
                <a:gridCol w="2330148">
                  <a:extLst>
                    <a:ext uri="{9D8B030D-6E8A-4147-A177-3AD203B41FA5}">
                      <a16:colId xmlns:a16="http://schemas.microsoft.com/office/drawing/2014/main" val="946789180"/>
                    </a:ext>
                  </a:extLst>
                </a:gridCol>
                <a:gridCol w="1562925">
                  <a:extLst>
                    <a:ext uri="{9D8B030D-6E8A-4147-A177-3AD203B41FA5}">
                      <a16:colId xmlns:a16="http://schemas.microsoft.com/office/drawing/2014/main" val="3483638722"/>
                    </a:ext>
                  </a:extLst>
                </a:gridCol>
                <a:gridCol w="1555222">
                  <a:extLst>
                    <a:ext uri="{9D8B030D-6E8A-4147-A177-3AD203B41FA5}">
                      <a16:colId xmlns:a16="http://schemas.microsoft.com/office/drawing/2014/main" val="1190061112"/>
                    </a:ext>
                  </a:extLst>
                </a:gridCol>
                <a:gridCol w="2127143">
                  <a:extLst>
                    <a:ext uri="{9D8B030D-6E8A-4147-A177-3AD203B41FA5}">
                      <a16:colId xmlns:a16="http://schemas.microsoft.com/office/drawing/2014/main" val="3469305604"/>
                    </a:ext>
                  </a:extLst>
                </a:gridCol>
                <a:gridCol w="1695693">
                  <a:extLst>
                    <a:ext uri="{9D8B030D-6E8A-4147-A177-3AD203B41FA5}">
                      <a16:colId xmlns:a16="http://schemas.microsoft.com/office/drawing/2014/main" val="3853106642"/>
                    </a:ext>
                  </a:extLst>
                </a:gridCol>
                <a:gridCol w="1986671">
                  <a:extLst>
                    <a:ext uri="{9D8B030D-6E8A-4147-A177-3AD203B41FA5}">
                      <a16:colId xmlns:a16="http://schemas.microsoft.com/office/drawing/2014/main" val="1601472594"/>
                    </a:ext>
                  </a:extLst>
                </a:gridCol>
              </a:tblGrid>
              <a:tr h="630826">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4787863">
                <a:tc>
                  <a:txBody>
                    <a:bodyPr/>
                    <a:lstStyle/>
                    <a:p>
                      <a:pPr algn="just"/>
                      <a:r>
                        <a:rPr lang="en-US" sz="1400" dirty="0"/>
                        <a:t>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Effects of feature selection and normalization on network intrusion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400" dirty="0">
                          <a:latin typeface="Times New Roman" panose="02020603050405020304" pitchFamily="18" charset="0"/>
                          <a:cs typeface="Times New Roman" panose="02020603050405020304" pitchFamily="18" charset="0"/>
                        </a:rPr>
                        <a:t>Mubarak Albarka Umar</a:t>
                      </a:r>
                    </a:p>
                    <a:p>
                      <a:pPr algn="just"/>
                      <a:r>
                        <a:rPr lang="it-IT" sz="1400" dirty="0">
                          <a:latin typeface="Times New Roman" panose="02020603050405020304" pitchFamily="18" charset="0"/>
                          <a:cs typeface="Times New Roman" panose="02020603050405020304" pitchFamily="18" charset="0"/>
                        </a:rPr>
                        <a:t>Zhanfang Chen</a:t>
                      </a:r>
                    </a:p>
                    <a:p>
                      <a:pPr algn="just"/>
                      <a:r>
                        <a:rPr lang="it-IT" sz="1400" dirty="0">
                          <a:latin typeface="Times New Roman" panose="02020603050405020304" pitchFamily="18" charset="0"/>
                          <a:cs typeface="Times New Roman" panose="02020603050405020304" pitchFamily="18" charset="0"/>
                        </a:rPr>
                        <a:t>Khaled Shuaib</a:t>
                      </a:r>
                    </a:p>
                    <a:p>
                      <a:pPr algn="just"/>
                      <a:r>
                        <a:rPr lang="it-IT" sz="1400" dirty="0">
                          <a:latin typeface="Times New Roman" panose="02020603050405020304" pitchFamily="18" charset="0"/>
                          <a:cs typeface="Times New Roman" panose="02020603050405020304" pitchFamily="18" charset="0"/>
                        </a:rPr>
                        <a:t>Yan Liu</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Data Science and Management, 2025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paper uses a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wrapper-based feature selection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with a decision tree and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min-max normalization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on NSL-KDD, UNSW-NB15, and CSE–CIC–IDS2018 datasets. Six models (RF, SVM, KNN, NB, ANN, DNN) are trained to assess how preprocessing affects IDS performance.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The study showed that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feature selection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boosts simpler models like Random Forest, while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normalization</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benefits complex models such as ANN and DNN. It also found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Naive Bayes performed poorly</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and </a:t>
                      </a:r>
                      <a:r>
                        <a:rPr lang="en-US" sz="1400" b="1" i="0" kern="1200" dirty="0">
                          <a:solidFill>
                            <a:schemeClr val="tx1"/>
                          </a:solidFill>
                          <a:effectLst/>
                          <a:latin typeface="Times New Roman" panose="02020603050405020304" pitchFamily="18" charset="0"/>
                          <a:ea typeface="+mn-ea"/>
                          <a:cs typeface="Times New Roman" panose="02020603050405020304" pitchFamily="18" charset="0"/>
                        </a:rPr>
                        <a:t>modern datasets</a:t>
                      </a:r>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 like UNSW-NB15 and CSE–CIC–IDS2018 are more reliable than NSL-KDD for IDS evaluation.</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The paper does not explore novel algorithms or hybrid models beyond standard ML/DL techniques and focuses only on basic preprocessing methods. It also lacks real-time deployment or adaptive learning evaluation, limiting practical applicability in dynamic network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bl>
          </a:graphicData>
        </a:graphic>
      </p:graphicFrame>
    </p:spTree>
    <p:extLst>
      <p:ext uri="{BB962C8B-B14F-4D97-AF65-F5344CB8AC3E}">
        <p14:creationId xmlns:p14="http://schemas.microsoft.com/office/powerpoint/2010/main" val="4523174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rmAutofit/>
          </a:bodyPr>
          <a:lstStyle/>
          <a:p>
            <a:pPr marL="0" indent="0">
              <a:buNone/>
            </a:pPr>
            <a:endParaRPr lang="en-IN"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BDA7189E-8C23-41E3-908C-F9C43F6CAC5D}"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7</a:t>
            </a:fld>
            <a:endParaRPr lang="en-US" dirty="0">
              <a:latin typeface="Times New Roman" panose="02020603050405020304" pitchFamily="18" charset="0"/>
              <a:cs typeface="Times New Roman" panose="02020603050405020304" pitchFamily="18" charset="0"/>
            </a:endParaRPr>
          </a:p>
        </p:txBody>
      </p:sp>
      <p:sp>
        <p:nvSpPr>
          <p:cNvPr id="10" name="Content Placeholder 8">
            <a:extLst>
              <a:ext uri="{FF2B5EF4-FFF2-40B4-BE49-F238E27FC236}">
                <a16:creationId xmlns:a16="http://schemas.microsoft.com/office/drawing/2014/main" id="{3E8CACDC-CE1B-448A-5D5F-BF4D715F95AE}"/>
              </a:ext>
            </a:extLst>
          </p:cNvPr>
          <p:cNvSpPr txBox="1">
            <a:spLocks/>
          </p:cNvSpPr>
          <p:nvPr/>
        </p:nvSpPr>
        <p:spPr>
          <a:xfrm>
            <a:off x="990600" y="19780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latin typeface="Times New Roman" panose="02020603050405020304" pitchFamily="18" charset="0"/>
              <a:cs typeface="Times New Roman" panose="02020603050405020304" pitchFamily="18" charset="0"/>
            </a:endParaRPr>
          </a:p>
        </p:txBody>
      </p:sp>
      <p:graphicFrame>
        <p:nvGraphicFramePr>
          <p:cNvPr id="3" name="Table 3">
            <a:extLst>
              <a:ext uri="{FF2B5EF4-FFF2-40B4-BE49-F238E27FC236}">
                <a16:creationId xmlns:a16="http://schemas.microsoft.com/office/drawing/2014/main" id="{D5492C34-DF62-E3B9-3F6C-997B49ACCC8A}"/>
              </a:ext>
            </a:extLst>
          </p:cNvPr>
          <p:cNvGraphicFramePr>
            <a:graphicFrameLocks noGrp="1"/>
          </p:cNvGraphicFramePr>
          <p:nvPr>
            <p:extLst>
              <p:ext uri="{D42A27DB-BD31-4B8C-83A1-F6EECF244321}">
                <p14:modId xmlns:p14="http://schemas.microsoft.com/office/powerpoint/2010/main" val="3178862364"/>
              </p:ext>
            </p:extLst>
          </p:nvPr>
        </p:nvGraphicFramePr>
        <p:xfrm>
          <a:off x="179110" y="681037"/>
          <a:ext cx="11821212" cy="5495927"/>
        </p:xfrm>
        <a:graphic>
          <a:graphicData uri="http://schemas.openxmlformats.org/drawingml/2006/table">
            <a:tbl>
              <a:tblPr firstRow="1" bandRow="1">
                <a:tableStyleId>{17292A2E-F333-43FB-9621-5CBBE7FDCDCB}</a:tableStyleId>
              </a:tblPr>
              <a:tblGrid>
                <a:gridCol w="536413">
                  <a:extLst>
                    <a:ext uri="{9D8B030D-6E8A-4147-A177-3AD203B41FA5}">
                      <a16:colId xmlns:a16="http://schemas.microsoft.com/office/drawing/2014/main" val="166576671"/>
                    </a:ext>
                  </a:extLst>
                </a:gridCol>
                <a:gridCol w="2335735">
                  <a:extLst>
                    <a:ext uri="{9D8B030D-6E8A-4147-A177-3AD203B41FA5}">
                      <a16:colId xmlns:a16="http://schemas.microsoft.com/office/drawing/2014/main" val="946789180"/>
                    </a:ext>
                  </a:extLst>
                </a:gridCol>
                <a:gridCol w="1566673">
                  <a:extLst>
                    <a:ext uri="{9D8B030D-6E8A-4147-A177-3AD203B41FA5}">
                      <a16:colId xmlns:a16="http://schemas.microsoft.com/office/drawing/2014/main" val="3483638722"/>
                    </a:ext>
                  </a:extLst>
                </a:gridCol>
                <a:gridCol w="1558952">
                  <a:extLst>
                    <a:ext uri="{9D8B030D-6E8A-4147-A177-3AD203B41FA5}">
                      <a16:colId xmlns:a16="http://schemas.microsoft.com/office/drawing/2014/main" val="1190061112"/>
                    </a:ext>
                  </a:extLst>
                </a:gridCol>
                <a:gridCol w="2132244">
                  <a:extLst>
                    <a:ext uri="{9D8B030D-6E8A-4147-A177-3AD203B41FA5}">
                      <a16:colId xmlns:a16="http://schemas.microsoft.com/office/drawing/2014/main" val="3469305604"/>
                    </a:ext>
                  </a:extLst>
                </a:gridCol>
                <a:gridCol w="1699760">
                  <a:extLst>
                    <a:ext uri="{9D8B030D-6E8A-4147-A177-3AD203B41FA5}">
                      <a16:colId xmlns:a16="http://schemas.microsoft.com/office/drawing/2014/main" val="3853106642"/>
                    </a:ext>
                  </a:extLst>
                </a:gridCol>
                <a:gridCol w="1991435">
                  <a:extLst>
                    <a:ext uri="{9D8B030D-6E8A-4147-A177-3AD203B41FA5}">
                      <a16:colId xmlns:a16="http://schemas.microsoft.com/office/drawing/2014/main" val="1601472594"/>
                    </a:ext>
                  </a:extLst>
                </a:gridCol>
              </a:tblGrid>
              <a:tr h="632974">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7051210"/>
                  </a:ext>
                </a:extLst>
              </a:tr>
              <a:tr h="1704149">
                <a:tc>
                  <a:txBody>
                    <a:bodyPr/>
                    <a:lstStyle/>
                    <a:p>
                      <a:pPr algn="just"/>
                      <a:r>
                        <a:rPr lang="en-US" sz="1400" dirty="0"/>
                        <a:t>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Weighted Feature Selection for Machine Learning-Based Accurate Intrusion Detection in Communication Networks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it-IT" sz="1400" dirty="0">
                          <a:latin typeface="Times New Roman" panose="02020603050405020304" pitchFamily="18" charset="0"/>
                          <a:cs typeface="Times New Roman" panose="02020603050405020304" pitchFamily="18" charset="0"/>
                        </a:rPr>
                        <a:t>Tripathi G., Singh V. K., Sharma V., Vinod Bhai M. V.</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IEEE Xplore, 2024</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Applied weighted feature selection to improve the detection accuracy of machine learning models for intrusion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Improved accuracy and reduced false positives in network intrusion detection 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Did not address computational efficiency or high-dimensional data challenges.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925414"/>
                  </a:ext>
                </a:extLst>
              </a:tr>
              <a:tr h="1580554">
                <a:tc>
                  <a:txBody>
                    <a:bodyPr/>
                    <a:lstStyle/>
                    <a:p>
                      <a:pPr algn="just"/>
                      <a:r>
                        <a:rPr lang="en-US" sz="1400" dirty="0"/>
                        <a:t>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An Imbalanced Generative Adversarial Network-Based Approach for Network Intrusion Detection in an Imbalanced Dataset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Narasimha Rao Y., Suresh Babu K.</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Sensors, 2023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Utilized GANs to handle class imbalance issues in intrusion detection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Enhanced detection rates for minority classes in imbalanced datasets.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Did not focus on feature reduction or reducing computational complexity.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8357853"/>
                  </a:ext>
                </a:extLst>
              </a:tr>
              <a:tr h="1578250">
                <a:tc>
                  <a:txBody>
                    <a:bodyPr/>
                    <a:lstStyle/>
                    <a:p>
                      <a:pPr algn="just"/>
                      <a:r>
                        <a:rPr lang="en-US" sz="1400" dirty="0"/>
                        <a:t>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Intrusion Detection System Based on Decision Tree Over Big Data in Fog Environment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nb-NO" sz="1400" dirty="0">
                          <a:latin typeface="Times New Roman" panose="02020603050405020304" pitchFamily="18" charset="0"/>
                          <a:cs typeface="Times New Roman" panose="02020603050405020304" pitchFamily="18" charset="0"/>
                        </a:rPr>
                        <a:t>Peng K., Leung V. C. M., Zheng L.,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Wireless Communications and Mobile Computing, 2018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Used decision tree classifiers to analyze intrusion detection data in fog computing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Achieved improved accuracy and classification rates in distributed environments.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Did not address feature selection or high training times.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436231"/>
                  </a:ext>
                </a:extLst>
              </a:tr>
            </a:tbl>
          </a:graphicData>
        </a:graphic>
      </p:graphicFrame>
    </p:spTree>
    <p:extLst>
      <p:ext uri="{BB962C8B-B14F-4D97-AF65-F5344CB8AC3E}">
        <p14:creationId xmlns:p14="http://schemas.microsoft.com/office/powerpoint/2010/main" val="6717236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BF79B92-C4D8-A945-EC31-D5E58D25C1D9}"/>
              </a:ext>
            </a:extLst>
          </p:cNvPr>
          <p:cNvSpPr>
            <a:spLocks noGrp="1"/>
          </p:cNvSpPr>
          <p:nvPr>
            <p:ph type="dt" sz="half" idx="10"/>
          </p:nvPr>
        </p:nvSpPr>
        <p:spPr/>
        <p:txBody>
          <a:bodyPr/>
          <a:lstStyle/>
          <a:p>
            <a:fld id="{304C4C06-05BC-4F9A-A9A9-2C1E73ECA444}" type="datetime1">
              <a:rPr lang="en-IN" smtClean="0"/>
              <a:t>04-12-2025</a:t>
            </a:fld>
            <a:endParaRPr lang="en-IN"/>
          </a:p>
        </p:txBody>
      </p:sp>
      <p:sp>
        <p:nvSpPr>
          <p:cNvPr id="3" name="Footer Placeholder 2">
            <a:extLst>
              <a:ext uri="{FF2B5EF4-FFF2-40B4-BE49-F238E27FC236}">
                <a16:creationId xmlns:a16="http://schemas.microsoft.com/office/drawing/2014/main" id="{4CE1AD96-739D-1FF6-B6F1-F5CAF22E25AB}"/>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321E1C4B-63BA-9348-E38F-E6621214FF01}"/>
              </a:ext>
            </a:extLst>
          </p:cNvPr>
          <p:cNvSpPr>
            <a:spLocks noGrp="1"/>
          </p:cNvSpPr>
          <p:nvPr>
            <p:ph type="sldNum" sz="quarter" idx="12"/>
          </p:nvPr>
        </p:nvSpPr>
        <p:spPr/>
        <p:txBody>
          <a:bodyPr/>
          <a:lstStyle/>
          <a:p>
            <a:fld id="{65DCBD69-296B-4D7C-AF62-9B588FC78772}" type="slidenum">
              <a:rPr lang="en-IN" smtClean="0"/>
              <a:t>8</a:t>
            </a:fld>
            <a:endParaRPr lang="en-IN" dirty="0"/>
          </a:p>
        </p:txBody>
      </p:sp>
      <p:pic>
        <p:nvPicPr>
          <p:cNvPr id="5" name="Picture 4">
            <a:extLst>
              <a:ext uri="{FF2B5EF4-FFF2-40B4-BE49-F238E27FC236}">
                <a16:creationId xmlns:a16="http://schemas.microsoft.com/office/drawing/2014/main" id="{FE1E2B41-C737-CF1F-F0F3-AD21D02602E8}"/>
              </a:ext>
            </a:extLst>
          </p:cNvPr>
          <p:cNvPicPr>
            <a:picLocks noChangeAspect="1"/>
          </p:cNvPicPr>
          <p:nvPr/>
        </p:nvPicPr>
        <p:blipFill>
          <a:blip r:embed="rId2"/>
          <a:stretch>
            <a:fillRect/>
          </a:stretch>
        </p:blipFill>
        <p:spPr>
          <a:xfrm>
            <a:off x="0" y="0"/>
            <a:ext cx="3762900" cy="579027"/>
          </a:xfrm>
          <a:prstGeom prst="rect">
            <a:avLst/>
          </a:prstGeom>
        </p:spPr>
      </p:pic>
      <p:graphicFrame>
        <p:nvGraphicFramePr>
          <p:cNvPr id="8" name="Table 7">
            <a:extLst>
              <a:ext uri="{FF2B5EF4-FFF2-40B4-BE49-F238E27FC236}">
                <a16:creationId xmlns:a16="http://schemas.microsoft.com/office/drawing/2014/main" id="{10190BED-524B-F391-F1DF-4C00EC57FE4A}"/>
              </a:ext>
            </a:extLst>
          </p:cNvPr>
          <p:cNvGraphicFramePr>
            <a:graphicFrameLocks noGrp="1"/>
          </p:cNvGraphicFramePr>
          <p:nvPr>
            <p:extLst>
              <p:ext uri="{D42A27DB-BD31-4B8C-83A1-F6EECF244321}">
                <p14:modId xmlns:p14="http://schemas.microsoft.com/office/powerpoint/2010/main" val="3436143185"/>
              </p:ext>
            </p:extLst>
          </p:nvPr>
        </p:nvGraphicFramePr>
        <p:xfrm>
          <a:off x="207390" y="825165"/>
          <a:ext cx="11821211" cy="5377672"/>
        </p:xfrm>
        <a:graphic>
          <a:graphicData uri="http://schemas.openxmlformats.org/drawingml/2006/table">
            <a:tbl>
              <a:tblPr firstRow="1" bandRow="1">
                <a:tableStyleId>{17292A2E-F333-43FB-9621-5CBBE7FDCDCB}</a:tableStyleId>
              </a:tblPr>
              <a:tblGrid>
                <a:gridCol w="629731">
                  <a:extLst>
                    <a:ext uri="{9D8B030D-6E8A-4147-A177-3AD203B41FA5}">
                      <a16:colId xmlns:a16="http://schemas.microsoft.com/office/drawing/2014/main" val="3847149916"/>
                    </a:ext>
                  </a:extLst>
                </a:gridCol>
                <a:gridCol w="2081421">
                  <a:extLst>
                    <a:ext uri="{9D8B030D-6E8A-4147-A177-3AD203B41FA5}">
                      <a16:colId xmlns:a16="http://schemas.microsoft.com/office/drawing/2014/main" val="1796882217"/>
                    </a:ext>
                  </a:extLst>
                </a:gridCol>
                <a:gridCol w="1734517">
                  <a:extLst>
                    <a:ext uri="{9D8B030D-6E8A-4147-A177-3AD203B41FA5}">
                      <a16:colId xmlns:a16="http://schemas.microsoft.com/office/drawing/2014/main" val="4108380731"/>
                    </a:ext>
                  </a:extLst>
                </a:gridCol>
                <a:gridCol w="1634170">
                  <a:extLst>
                    <a:ext uri="{9D8B030D-6E8A-4147-A177-3AD203B41FA5}">
                      <a16:colId xmlns:a16="http://schemas.microsoft.com/office/drawing/2014/main" val="4070148983"/>
                    </a:ext>
                  </a:extLst>
                </a:gridCol>
                <a:gridCol w="2097648">
                  <a:extLst>
                    <a:ext uri="{9D8B030D-6E8A-4147-A177-3AD203B41FA5}">
                      <a16:colId xmlns:a16="http://schemas.microsoft.com/office/drawing/2014/main" val="3351025460"/>
                    </a:ext>
                  </a:extLst>
                </a:gridCol>
                <a:gridCol w="1733433">
                  <a:extLst>
                    <a:ext uri="{9D8B030D-6E8A-4147-A177-3AD203B41FA5}">
                      <a16:colId xmlns:a16="http://schemas.microsoft.com/office/drawing/2014/main" val="2232980813"/>
                    </a:ext>
                  </a:extLst>
                </a:gridCol>
                <a:gridCol w="1910291">
                  <a:extLst>
                    <a:ext uri="{9D8B030D-6E8A-4147-A177-3AD203B41FA5}">
                      <a16:colId xmlns:a16="http://schemas.microsoft.com/office/drawing/2014/main" val="878577757"/>
                    </a:ext>
                  </a:extLst>
                </a:gridCol>
              </a:tblGrid>
              <a:tr h="658532">
                <a:tc>
                  <a:txBody>
                    <a:bodyPr/>
                    <a:lstStyle/>
                    <a:p>
                      <a:pPr algn="ctr"/>
                      <a:r>
                        <a:rPr lang="en-US" sz="1600" dirty="0">
                          <a:solidFill>
                            <a:schemeClr val="tx1"/>
                          </a:solidFill>
                        </a:rPr>
                        <a:t>No</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Title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Author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Journal Name &amp; Year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Methodology Adapted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Key Findings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600" dirty="0">
                          <a:solidFill>
                            <a:schemeClr val="tx1"/>
                          </a:solidFill>
                        </a:rPr>
                        <a:t>Gaps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23645685"/>
                  </a:ext>
                </a:extLst>
              </a:tr>
              <a:tr h="1476884">
                <a:tc>
                  <a:txBody>
                    <a:bodyPr/>
                    <a:lstStyle/>
                    <a:p>
                      <a:pPr algn="l"/>
                      <a:r>
                        <a:rPr lang="en-US" sz="1400" dirty="0"/>
                        <a:t>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Improved TLBO for </a:t>
                      </a:r>
                    </a:p>
                    <a:p>
                      <a:pPr algn="just"/>
                      <a:r>
                        <a:rPr lang="en-US" sz="1400" dirty="0">
                          <a:latin typeface="Times New Roman" panose="02020603050405020304" pitchFamily="18" charset="0"/>
                          <a:cs typeface="Times New Roman" panose="02020603050405020304" pitchFamily="18" charset="0"/>
                        </a:rPr>
                        <a:t>Intrusion Detection</a:t>
                      </a:r>
                    </a:p>
                    <a:p>
                      <a:pPr algn="just"/>
                      <a:r>
                        <a:rPr lang="en-US" sz="1400" dirty="0">
                          <a:latin typeface="Times New Roman" panose="02020603050405020304" pitchFamily="18" charset="0"/>
                          <a:cs typeface="Times New Roman" panose="02020603050405020304" pitchFamily="18" charset="0"/>
                        </a:rPr>
                        <a:t>Using MapReduce</a:t>
                      </a:r>
                    </a:p>
                    <a:p>
                      <a:pPr algn="just"/>
                      <a:r>
                        <a:rPr lang="en-US" sz="1400" dirty="0">
                          <a:latin typeface="Times New Roman" panose="02020603050405020304" pitchFamily="18" charset="0"/>
                          <a:cs typeface="Times New Roman" panose="02020603050405020304" pitchFamily="18" charset="0"/>
                        </a:rPr>
                        <a:t>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Mohammad </a:t>
                      </a:r>
                      <a:r>
                        <a:rPr lang="en-IN" sz="1400" dirty="0" err="1">
                          <a:latin typeface="Times New Roman" panose="02020603050405020304" pitchFamily="18" charset="0"/>
                          <a:cs typeface="Times New Roman" panose="02020603050405020304" pitchFamily="18" charset="0"/>
                        </a:rPr>
                        <a:t>Aljanabi</a:t>
                      </a:r>
                      <a:r>
                        <a:rPr lang="en-IN" sz="1400" dirty="0">
                          <a:latin typeface="Times New Roman" panose="02020603050405020304" pitchFamily="18" charset="0"/>
                          <a:cs typeface="Times New Roman" panose="02020603050405020304" pitchFamily="18" charset="0"/>
                        </a:rPr>
                        <a:t> et al.</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IEEE Xplore, 2023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Improved teaching-</a:t>
                      </a:r>
                    </a:p>
                    <a:p>
                      <a:pPr algn="just"/>
                      <a:r>
                        <a:rPr lang="en-US" sz="1400" dirty="0">
                          <a:latin typeface="Times New Roman" panose="02020603050405020304" pitchFamily="18" charset="0"/>
                          <a:cs typeface="Times New Roman" panose="02020603050405020304" pitchFamily="18" charset="0"/>
                        </a:rPr>
                        <a:t>learning-based optimization for feature selection and applied it using the MapReduce framework.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Improved detection accuracy and</a:t>
                      </a:r>
                    </a:p>
                    <a:p>
                      <a:pPr algn="just"/>
                      <a:r>
                        <a:rPr lang="en-US" sz="1400" dirty="0">
                          <a:latin typeface="Times New Roman" panose="02020603050405020304" pitchFamily="18" charset="0"/>
                          <a:cs typeface="Times New Roman" panose="02020603050405020304" pitchFamily="18" charset="0"/>
                        </a:rPr>
                        <a:t>efficiency for</a:t>
                      </a:r>
                    </a:p>
                    <a:p>
                      <a:pPr algn="just"/>
                      <a:r>
                        <a:rPr lang="en-US" sz="1400" dirty="0">
                          <a:latin typeface="Times New Roman" panose="02020603050405020304" pitchFamily="18" charset="0"/>
                          <a:cs typeface="Times New Roman" panose="02020603050405020304" pitchFamily="18" charset="0"/>
                        </a:rPr>
                        <a:t>multiclass classification tasks.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400" dirty="0">
                          <a:latin typeface="Times New Roman" panose="02020603050405020304" pitchFamily="18" charset="0"/>
                          <a:cs typeface="Times New Roman" panose="02020603050405020304" pitchFamily="18" charset="0"/>
                        </a:rPr>
                        <a:t>High computational costs for large-scale data.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72334002"/>
                  </a:ext>
                </a:extLst>
              </a:tr>
              <a:tr h="1305897">
                <a:tc>
                  <a:txBody>
                    <a:bodyPr/>
                    <a:lstStyle/>
                    <a:p>
                      <a:pPr algn="just"/>
                      <a:r>
                        <a:rPr lang="en-US" sz="1400" dirty="0"/>
                        <a:t>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 Two-Level Ensemble Learning Framework for Enhancing Network</a:t>
                      </a:r>
                    </a:p>
                    <a:p>
                      <a:pPr algn="just"/>
                      <a:r>
                        <a:rPr lang="en-US" sz="1400" dirty="0">
                          <a:latin typeface="Times New Roman" panose="02020603050405020304" pitchFamily="18" charset="0"/>
                          <a:cs typeface="Times New Roman" panose="02020603050405020304" pitchFamily="18" charset="0"/>
                        </a:rPr>
                        <a:t>Intrusion Detection</a:t>
                      </a:r>
                    </a:p>
                    <a:p>
                      <a:pPr algn="just"/>
                      <a:r>
                        <a:rPr lang="en-US" sz="1400" dirty="0">
                          <a:latin typeface="Times New Roman" panose="02020603050405020304" pitchFamily="18" charset="0"/>
                          <a:cs typeface="Times New Roman" panose="02020603050405020304" pitchFamily="18" charset="0"/>
                        </a:rPr>
                        <a:t>Systems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err="1">
                          <a:latin typeface="Times New Roman" panose="02020603050405020304" pitchFamily="18" charset="0"/>
                          <a:cs typeface="Times New Roman" panose="02020603050405020304" pitchFamily="18" charset="0"/>
                        </a:rPr>
                        <a:t>Arreche</a:t>
                      </a:r>
                      <a:r>
                        <a:rPr lang="en-US" sz="1400" dirty="0">
                          <a:latin typeface="Times New Roman" panose="02020603050405020304" pitchFamily="18" charset="0"/>
                          <a:cs typeface="Times New Roman" panose="02020603050405020304" pitchFamily="18" charset="0"/>
                        </a:rPr>
                        <a:t> O., </a:t>
                      </a:r>
                      <a:r>
                        <a:rPr lang="en-US" sz="1400" dirty="0" err="1">
                          <a:latin typeface="Times New Roman" panose="02020603050405020304" pitchFamily="18" charset="0"/>
                          <a:cs typeface="Times New Roman" panose="02020603050405020304" pitchFamily="18" charset="0"/>
                        </a:rPr>
                        <a:t>Bibers</a:t>
                      </a:r>
                      <a:r>
                        <a:rPr lang="en-US" sz="1400" dirty="0">
                          <a:latin typeface="Times New Roman" panose="02020603050405020304" pitchFamily="18" charset="0"/>
                          <a:cs typeface="Times New Roman" panose="02020603050405020304" pitchFamily="18" charset="0"/>
                        </a:rPr>
                        <a:t> I., Abdallah 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IN" sz="1400" dirty="0">
                          <a:latin typeface="Times New Roman" panose="02020603050405020304" pitchFamily="18" charset="0"/>
                          <a:cs typeface="Times New Roman" panose="02020603050405020304" pitchFamily="18" charset="0"/>
                        </a:rPr>
                        <a:t>IEEE Xplore, 2024</a:t>
                      </a:r>
                      <a:endParaRPr lang="en-US" sz="1400" dirty="0">
                        <a:latin typeface="Times New Roman" panose="02020603050405020304" pitchFamily="18" charset="0"/>
                        <a:cs typeface="Times New Roman" panose="02020603050405020304" pitchFamily="18" charset="0"/>
                      </a:endParaRPr>
                    </a:p>
                    <a:p>
                      <a:pPr algn="just"/>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Applied ensemble methods like bagging, stacking, and boosting for intrusion detection.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Achieved high accuracy and low false-positive rates in binary classification.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Computational overhead and lack of focus on multi-class classification.</a:t>
                      </a:r>
                    </a:p>
                    <a:p>
                      <a:pPr algn="just"/>
                      <a:endParaRPr lang="en-US" sz="14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0331738"/>
                  </a:ext>
                </a:extLst>
              </a:tr>
              <a:tr h="1936359">
                <a:tc>
                  <a:txBody>
                    <a:bodyPr/>
                    <a:lstStyle/>
                    <a:p>
                      <a:pPr algn="just"/>
                      <a:r>
                        <a:rPr lang="en-US" sz="1400" dirty="0">
                          <a:latin typeface="Times New Roman" panose="02020603050405020304" pitchFamily="18" charset="0"/>
                          <a:cs typeface="Times New Roman" panose="02020603050405020304" pitchFamily="18" charset="0"/>
                        </a:rPr>
                        <a:t>10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A Novel Two-Stage</a:t>
                      </a:r>
                    </a:p>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Deep Learning Model</a:t>
                      </a:r>
                    </a:p>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for Network Intrusion</a:t>
                      </a:r>
                    </a:p>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Detection: LSTM-AE</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V. </a:t>
                      </a:r>
                      <a:r>
                        <a:rPr lang="en-IN" sz="1400" kern="1200" dirty="0" err="1">
                          <a:solidFill>
                            <a:schemeClr val="tx1"/>
                          </a:solidFill>
                          <a:effectLst/>
                          <a:latin typeface="Times New Roman" panose="02020603050405020304" pitchFamily="18" charset="0"/>
                          <a:ea typeface="+mn-ea"/>
                          <a:cs typeface="Times New Roman" panose="02020603050405020304" pitchFamily="18" charset="0"/>
                        </a:rPr>
                        <a:t>Hnamte</a:t>
                      </a:r>
                      <a:r>
                        <a:rPr lang="en-IN" sz="1400" kern="1200" dirty="0">
                          <a:solidFill>
                            <a:schemeClr val="tx1"/>
                          </a:solidFill>
                          <a:effectLst/>
                          <a:latin typeface="Times New Roman" panose="02020603050405020304" pitchFamily="18" charset="0"/>
                          <a:ea typeface="+mn-ea"/>
                          <a:cs typeface="Times New Roman" panose="02020603050405020304" pitchFamily="18" charset="0"/>
                        </a:rPr>
                        <a:t>, H.N.</a:t>
                      </a:r>
                    </a:p>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Nguyen, J. Hussain</a:t>
                      </a:r>
                    </a:p>
                    <a:p>
                      <a:pPr algn="just"/>
                      <a:r>
                        <a:rPr lang="en-IN" sz="1400" kern="1200" dirty="0">
                          <a:solidFill>
                            <a:schemeClr val="tx1"/>
                          </a:solidFill>
                          <a:effectLst/>
                          <a:latin typeface="Times New Roman" panose="02020603050405020304" pitchFamily="18" charset="0"/>
                          <a:ea typeface="+mn-ea"/>
                          <a:cs typeface="Times New Roman" panose="02020603050405020304" pitchFamily="18" charset="0"/>
                        </a:rPr>
                        <a:t>and Y.H. Kim</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IN" sz="1400" dirty="0">
                          <a:latin typeface="Times New Roman" panose="02020603050405020304" pitchFamily="18" charset="0"/>
                          <a:cs typeface="Times New Roman" panose="02020603050405020304" pitchFamily="18" charset="0"/>
                        </a:rPr>
                        <a:t>IEEE Xplore, 2023</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dirty="0">
                          <a:latin typeface="Times New Roman" panose="02020603050405020304" pitchFamily="18" charset="0"/>
                          <a:cs typeface="Times New Roman" panose="02020603050405020304" pitchFamily="18" charset="0"/>
                        </a:rPr>
                        <a:t>Utilized an imbalanced generative adversarial network (IGAN) to address class imbalance in network intrusion detection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Proposed a novel two-stage deep learning technique hybridizing Long-Short Term Memory (LSTM) and Auto-Encoders (AE) for detecting attacks.</a:t>
                      </a:r>
                      <a:endParaRPr lang="en-US" sz="140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just"/>
                      <a:r>
                        <a:rPr lang="en-US" sz="1400" b="0" i="0" kern="1200" dirty="0">
                          <a:solidFill>
                            <a:schemeClr val="tx1"/>
                          </a:solidFill>
                          <a:effectLst/>
                          <a:latin typeface="Times New Roman" panose="02020603050405020304" pitchFamily="18" charset="0"/>
                          <a:ea typeface="+mn-ea"/>
                          <a:cs typeface="Times New Roman" panose="02020603050405020304" pitchFamily="18" charset="0"/>
                        </a:rPr>
                        <a:t>No previous research has examined the performance of the proposed model on a variety of publicly accessible datasets in detail</a:t>
                      </a:r>
                      <a:r>
                        <a:rPr lang="en-US" sz="1400" dirty="0">
                          <a:latin typeface="Times New Roman" panose="02020603050405020304" pitchFamily="18" charset="0"/>
                          <a:cs typeface="Times New Roman" panose="02020603050405020304" pitchFamily="18" charset="0"/>
                        </a:rPr>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4780676"/>
                  </a:ext>
                </a:extLst>
              </a:tr>
            </a:tbl>
          </a:graphicData>
        </a:graphic>
      </p:graphicFrame>
    </p:spTree>
    <p:extLst>
      <p:ext uri="{BB962C8B-B14F-4D97-AF65-F5344CB8AC3E}">
        <p14:creationId xmlns:p14="http://schemas.microsoft.com/office/powerpoint/2010/main" val="2589204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RESEARCH GAPS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199" y="1573699"/>
            <a:ext cx="10610461" cy="4351338"/>
          </a:xfrm>
        </p:spPr>
        <p:txBody>
          <a:bodyPr>
            <a:normAutofit lnSpcReduction="10000"/>
          </a:bodyPr>
          <a:lstStyle/>
          <a:p>
            <a:pPr algn="just"/>
            <a:r>
              <a:rPr lang="en-US" b="1" dirty="0">
                <a:latin typeface="Times New Roman" panose="02020603050405020304" pitchFamily="18" charset="0"/>
                <a:cs typeface="Times New Roman" panose="02020603050405020304" pitchFamily="18" charset="0"/>
              </a:rPr>
              <a:t>High-dimensional data</a:t>
            </a:r>
            <a:r>
              <a:rPr lang="en-US" dirty="0">
                <a:latin typeface="Times New Roman" panose="02020603050405020304" pitchFamily="18" charset="0"/>
                <a:cs typeface="Times New Roman" panose="02020603050405020304" pitchFamily="18" charset="0"/>
              </a:rPr>
              <a:t> — existing IDS models suffer from redundant and irrelevant features, causing overfitting and longer training times.</a:t>
            </a:r>
          </a:p>
          <a:p>
            <a:pPr algn="just"/>
            <a:r>
              <a:rPr lang="en-US" b="1" dirty="0">
                <a:latin typeface="Times New Roman" panose="02020603050405020304" pitchFamily="18" charset="0"/>
                <a:cs typeface="Times New Roman" panose="02020603050405020304" pitchFamily="18" charset="0"/>
              </a:rPr>
              <a:t>Uncertain predictions</a:t>
            </a:r>
            <a:r>
              <a:rPr lang="en-US" dirty="0">
                <a:latin typeface="Times New Roman" panose="02020603050405020304" pitchFamily="18" charset="0"/>
                <a:cs typeface="Times New Roman" panose="02020603050405020304" pitchFamily="18" charset="0"/>
              </a:rPr>
              <a:t> — most models rely on fixed thresholds and can’t adapt to low-confidence or borderline cases.</a:t>
            </a:r>
          </a:p>
          <a:p>
            <a:pPr algn="just"/>
            <a:r>
              <a:rPr lang="en-US" b="1" dirty="0">
                <a:latin typeface="Times New Roman" panose="02020603050405020304" pitchFamily="18" charset="0"/>
                <a:cs typeface="Times New Roman" panose="02020603050405020304" pitchFamily="18" charset="0"/>
              </a:rPr>
              <a:t>Class imbalance</a:t>
            </a:r>
            <a:r>
              <a:rPr lang="en-US" dirty="0">
                <a:latin typeface="Times New Roman" panose="02020603050405020304" pitchFamily="18" charset="0"/>
                <a:cs typeface="Times New Roman" panose="02020603050405020304" pitchFamily="18" charset="0"/>
              </a:rPr>
              <a:t> — rare or hidden attacks (like </a:t>
            </a:r>
            <a:r>
              <a:rPr lang="en-US" dirty="0" err="1">
                <a:latin typeface="Times New Roman" panose="02020603050405020304" pitchFamily="18" charset="0"/>
                <a:cs typeface="Times New Roman" panose="02020603050405020304" pitchFamily="18" charset="0"/>
              </a:rPr>
              <a:t>PortScan</a:t>
            </a:r>
            <a:r>
              <a:rPr lang="en-US" dirty="0">
                <a:latin typeface="Times New Roman" panose="02020603050405020304" pitchFamily="18" charset="0"/>
                <a:cs typeface="Times New Roman" panose="02020603050405020304" pitchFamily="18" charset="0"/>
              </a:rPr>
              <a:t>, Heartbleed, Infiltration) are often missed due to skewed datasets.</a:t>
            </a:r>
          </a:p>
          <a:p>
            <a:pPr algn="just"/>
            <a:r>
              <a:rPr lang="en-US" b="1" dirty="0">
                <a:latin typeface="Times New Roman" panose="02020603050405020304" pitchFamily="18" charset="0"/>
                <a:cs typeface="Times New Roman" panose="02020603050405020304" pitchFamily="18" charset="0"/>
              </a:rPr>
              <a:t>Single-model dependency</a:t>
            </a:r>
            <a:r>
              <a:rPr lang="en-US" dirty="0">
                <a:latin typeface="Times New Roman" panose="02020603050405020304" pitchFamily="18" charset="0"/>
                <a:cs typeface="Times New Roman" panose="02020603050405020304" pitchFamily="18" charset="0"/>
              </a:rPr>
              <a:t> — relying on one classifier (e.g., DNN or Random Forest) limits adaptability and generalization.</a:t>
            </a:r>
          </a:p>
          <a:p>
            <a:pPr algn="just"/>
            <a:r>
              <a:rPr lang="en-US" b="1" dirty="0">
                <a:latin typeface="Times New Roman" panose="02020603050405020304" pitchFamily="18" charset="0"/>
                <a:cs typeface="Times New Roman" panose="02020603050405020304" pitchFamily="18" charset="0"/>
              </a:rPr>
              <a:t>Lack of interpretability</a:t>
            </a:r>
            <a:r>
              <a:rPr lang="en-US" dirty="0">
                <a:latin typeface="Times New Roman" panose="02020603050405020304" pitchFamily="18" charset="0"/>
                <a:cs typeface="Times New Roman" panose="02020603050405020304" pitchFamily="18" charset="0"/>
              </a:rPr>
              <a:t> — deep learning IDS models often behave as black boxes, offering little explanation or post-prediction correction.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E6D5A82-D726-48B9-9292-CE3293248181}"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13168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p:txBody>
          <a:bodyPr>
            <a:noAutofit/>
          </a:bodyPr>
          <a:lstStyle/>
          <a:p>
            <a:pPr algn="just"/>
            <a:r>
              <a:rPr lang="en-US" sz="2400" dirty="0">
                <a:latin typeface="Times New Roman" panose="02020603050405020304" pitchFamily="18" charset="0"/>
                <a:cs typeface="Times New Roman" panose="02020603050405020304" pitchFamily="18" charset="0"/>
              </a:rPr>
              <a:t>Use MRMR to select top-ranked features and reduce dimensionality without performance loss.</a:t>
            </a:r>
          </a:p>
          <a:p>
            <a:pPr algn="just"/>
            <a:r>
              <a:rPr lang="en-US" sz="2400" dirty="0">
                <a:latin typeface="Times New Roman" panose="02020603050405020304" pitchFamily="18" charset="0"/>
                <a:cs typeface="Times New Roman" panose="02020603050405020304" pitchFamily="18" charset="0"/>
              </a:rPr>
              <a:t>Train a </a:t>
            </a:r>
            <a:r>
              <a:rPr lang="en-US" sz="2400" dirty="0" err="1">
                <a:latin typeface="Times New Roman" panose="02020603050405020304" pitchFamily="18" charset="0"/>
                <a:cs typeface="Times New Roman" panose="02020603050405020304" pitchFamily="18" charset="0"/>
              </a:rPr>
              <a:t>TabNet</a:t>
            </a:r>
            <a:r>
              <a:rPr lang="en-US" sz="2400" dirty="0">
                <a:latin typeface="Times New Roman" panose="02020603050405020304" pitchFamily="18" charset="0"/>
                <a:cs typeface="Times New Roman" panose="02020603050405020304" pitchFamily="18" charset="0"/>
              </a:rPr>
              <a:t> model for interpretable and efficient structured data learning.</a:t>
            </a:r>
          </a:p>
          <a:p>
            <a:pPr algn="just"/>
            <a:r>
              <a:rPr lang="en-US" sz="2400" dirty="0">
                <a:latin typeface="Times New Roman" panose="02020603050405020304" pitchFamily="18" charset="0"/>
                <a:cs typeface="Times New Roman" panose="02020603050405020304" pitchFamily="18" charset="0"/>
              </a:rPr>
              <a:t>Add a fuzzy logic layer to adapt decision boundaries based on prediction confidence.</a:t>
            </a:r>
          </a:p>
          <a:p>
            <a:pPr algn="just"/>
            <a:r>
              <a:rPr lang="en-US" sz="2400" dirty="0">
                <a:latin typeface="Times New Roman" panose="02020603050405020304" pitchFamily="18" charset="0"/>
                <a:cs typeface="Times New Roman" panose="02020603050405020304" pitchFamily="18" charset="0"/>
              </a:rPr>
              <a:t>Apply Decision Tree, Random Forest, and </a:t>
            </a:r>
            <a:r>
              <a:rPr lang="en-US" sz="2400" dirty="0" err="1">
                <a:latin typeface="Times New Roman" panose="02020603050405020304" pitchFamily="18" charset="0"/>
                <a:cs typeface="Times New Roman" panose="02020603050405020304" pitchFamily="18" charset="0"/>
              </a:rPr>
              <a:t>XGBoost</a:t>
            </a:r>
            <a:r>
              <a:rPr lang="en-US" sz="2400" dirty="0">
                <a:latin typeface="Times New Roman" panose="02020603050405020304" pitchFamily="18" charset="0"/>
                <a:cs typeface="Times New Roman" panose="02020603050405020304" pitchFamily="18" charset="0"/>
              </a:rPr>
              <a:t> for correcting uncertain or edge-case predictions.</a:t>
            </a:r>
          </a:p>
          <a:p>
            <a:pPr algn="just"/>
            <a:r>
              <a:rPr lang="en-US" sz="2400" dirty="0">
                <a:latin typeface="Times New Roman" panose="02020603050405020304" pitchFamily="18" charset="0"/>
                <a:cs typeface="Times New Roman" panose="02020603050405020304" pitchFamily="18" charset="0"/>
              </a:rPr>
              <a:t>Build a stacked ensemble combining model outputs through weighted voting and logistic regression.</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33414CB8-921C-4FBC-99B9-BB8FFDFB0A28}"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10</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123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normAutofit/>
          </a:bodyPr>
          <a:lstStyle/>
          <a:p>
            <a:pPr algn="ctr"/>
            <a:r>
              <a:rPr lang="en-US" b="1" dirty="0">
                <a:latin typeface="Times New Roman" panose="02020603050405020304" pitchFamily="18" charset="0"/>
                <a:cs typeface="Times New Roman" panose="02020603050405020304" pitchFamily="18" charset="0"/>
              </a:rPr>
              <a:t>FLOW DIAGRAM</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40AAE5EC-2EB1-4BBF-8D96-F80A5FE5A069}"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pic>
        <p:nvPicPr>
          <p:cNvPr id="10" name="Content Placeholder 9">
            <a:extLst>
              <a:ext uri="{FF2B5EF4-FFF2-40B4-BE49-F238E27FC236}">
                <a16:creationId xmlns:a16="http://schemas.microsoft.com/office/drawing/2014/main" id="{AF27DE1D-BA16-D818-032A-F287D9F3D1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36948" y="1493135"/>
            <a:ext cx="9926425" cy="4671996"/>
          </a:xfrm>
        </p:spPr>
      </p:pic>
    </p:spTree>
    <p:extLst>
      <p:ext uri="{BB962C8B-B14F-4D97-AF65-F5344CB8AC3E}">
        <p14:creationId xmlns:p14="http://schemas.microsoft.com/office/powerpoint/2010/main" val="21370290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BE319-C761-A7DC-F8F5-35C2B4A9F44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C0AC5C1-1525-E013-B124-AE208700D362}"/>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CD12FB77-D210-A4E0-8B0B-AD4E36B51787}"/>
              </a:ext>
            </a:extLst>
          </p:cNvPr>
          <p:cNvSpPr>
            <a:spLocks noGrp="1"/>
          </p:cNvSpPr>
          <p:nvPr>
            <p:ph idx="1"/>
          </p:nvPr>
        </p:nvSpPr>
        <p:spPr>
          <a:xfrm>
            <a:off x="838200" y="1310640"/>
            <a:ext cx="10515600" cy="4866323"/>
          </a:xfrm>
        </p:spPr>
        <p:txBody>
          <a:bodyPr>
            <a:normAutofit/>
          </a:bodyPr>
          <a:lstStyle/>
          <a:p>
            <a:pPr marL="0" indent="0">
              <a:buNone/>
            </a:pPr>
            <a:endParaRPr lang="en-US" sz="2400" dirty="0">
              <a:latin typeface="Times New Roman" panose="02020603050405020304" pitchFamily="18" charset="0"/>
              <a:cs typeface="Times New Roman" panose="02020603050405020304" pitchFamily="18" charset="0"/>
            </a:endParaRPr>
          </a:p>
          <a:p>
            <a:pPr marL="514350" indent="-514350" algn="just">
              <a:lnSpc>
                <a:spcPct val="10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7223F06-8365-6230-25AE-18E73DA49294}"/>
              </a:ext>
            </a:extLst>
          </p:cNvPr>
          <p:cNvSpPr>
            <a:spLocks noGrp="1"/>
          </p:cNvSpPr>
          <p:nvPr>
            <p:ph type="dt" sz="half" idx="10"/>
          </p:nvPr>
        </p:nvSpPr>
        <p:spPr/>
        <p:txBody>
          <a:bodyPr/>
          <a:lstStyle/>
          <a:p>
            <a:fld id="{12070DA7-80D8-491B-8EFC-8BD2E8908145}"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2BA2CF1-3734-A2C3-0DC4-87BC4B8A6786}"/>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453C65E-6FE3-2081-05B1-61B1C4E2906C}"/>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12</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00E1199-1A36-D192-8F94-3FF4A77216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902276" y="1310640"/>
            <a:ext cx="6387447" cy="4750795"/>
          </a:xfrm>
          <a:prstGeom prst="rect">
            <a:avLst/>
          </a:prstGeom>
        </p:spPr>
      </p:pic>
    </p:spTree>
    <p:extLst>
      <p:ext uri="{BB962C8B-B14F-4D97-AF65-F5344CB8AC3E}">
        <p14:creationId xmlns:p14="http://schemas.microsoft.com/office/powerpoint/2010/main" val="40080287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310640"/>
            <a:ext cx="10515600" cy="4866323"/>
          </a:xfrm>
        </p:spPr>
        <p:txBody>
          <a:bodyPr>
            <a:normAutofit lnSpcReduction="10000"/>
          </a:bodyPr>
          <a:lstStyle/>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Dataset Selection:</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Used the CICIDS-2017 dataset, containing both normal and malicious network traffic for binary, 7-class, and 15-class classification.</a:t>
            </a: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Data Preprocessing:</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Cleaned and normalized data by removing non-descriptive columns, handling missing values, encoding labels, and applying Min–Max scaling.</a:t>
            </a: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Feature Selection (MRMR):</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Applied Minimum Redundancy Maximum Relevance to select the top 30 most relevant features, improving efficiency and reducing redundancy.</a:t>
            </a: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Test-Train split</a:t>
            </a:r>
            <a:r>
              <a:rPr lang="en-US" sz="2400" dirty="0">
                <a:latin typeface="Times New Roman" panose="02020603050405020304" pitchFamily="18" charset="0"/>
                <a:cs typeface="Times New Roman" panose="02020603050405020304" pitchFamily="18" charset="0"/>
              </a:rPr>
              <a:t>: Split the dataset into test and training sets</a:t>
            </a:r>
          </a:p>
          <a:p>
            <a:pPr marL="457200" indent="-457200">
              <a:buFont typeface="+mj-lt"/>
              <a:buAutoNum type="arabicPeriod"/>
            </a:pPr>
            <a:r>
              <a:rPr lang="en-US" sz="2400" b="1" dirty="0">
                <a:latin typeface="Times New Roman" panose="02020603050405020304" pitchFamily="18" charset="0"/>
                <a:cs typeface="Times New Roman" panose="02020603050405020304" pitchFamily="18" charset="0"/>
              </a:rPr>
              <a:t>Model Training (</a:t>
            </a:r>
            <a:r>
              <a:rPr lang="en-US" sz="2400" b="1" dirty="0" err="1">
                <a:latin typeface="Times New Roman" panose="02020603050405020304" pitchFamily="18" charset="0"/>
                <a:cs typeface="Times New Roman" panose="02020603050405020304" pitchFamily="18" charset="0"/>
              </a:rPr>
              <a:t>TabNet</a:t>
            </a:r>
            <a:r>
              <a:rPr lang="en-US" sz="2400" b="1" dirty="0">
                <a:latin typeface="Times New Roman" panose="02020603050405020304" pitchFamily="18" charset="0"/>
                <a:cs typeface="Times New Roman" panose="02020603050405020304" pitchFamily="18" charset="0"/>
              </a:rPr>
              <a:t>):</a:t>
            </a:r>
            <a:br>
              <a:rPr lang="en-US" sz="2400" dirty="0">
                <a:latin typeface="Times New Roman" panose="02020603050405020304" pitchFamily="18" charset="0"/>
                <a:cs typeface="Times New Roman" panose="02020603050405020304" pitchFamily="18" charset="0"/>
              </a:rPr>
            </a:br>
            <a:r>
              <a:rPr lang="en-US" sz="2400" dirty="0">
                <a:latin typeface="Times New Roman" panose="02020603050405020304" pitchFamily="18" charset="0"/>
                <a:cs typeface="Times New Roman" panose="02020603050405020304" pitchFamily="18" charset="0"/>
              </a:rPr>
              <a:t>Trained the </a:t>
            </a:r>
            <a:r>
              <a:rPr lang="en-US" sz="2400" dirty="0" err="1">
                <a:latin typeface="Times New Roman" panose="02020603050405020304" pitchFamily="18" charset="0"/>
                <a:cs typeface="Times New Roman" panose="02020603050405020304" pitchFamily="18" charset="0"/>
              </a:rPr>
              <a:t>TabNet</a:t>
            </a:r>
            <a:r>
              <a:rPr lang="en-US" sz="2400" dirty="0">
                <a:latin typeface="Times New Roman" panose="02020603050405020304" pitchFamily="18" charset="0"/>
                <a:cs typeface="Times New Roman" panose="02020603050405020304" pitchFamily="18" charset="0"/>
              </a:rPr>
              <a:t> classifier on selected features to leverage its interpretability and attention-based feature learning.</a:t>
            </a:r>
          </a:p>
          <a:p>
            <a:pPr marL="457200" indent="-457200">
              <a:buFont typeface="+mj-lt"/>
              <a:buAutoNum type="arabicPeriod"/>
            </a:pPr>
            <a:endParaRPr lang="en-US" sz="2400" dirty="0">
              <a:latin typeface="Times New Roman" panose="02020603050405020304" pitchFamily="18" charset="0"/>
              <a:cs typeface="Times New Roman" panose="02020603050405020304" pitchFamily="18" charset="0"/>
            </a:endParaRPr>
          </a:p>
          <a:p>
            <a:pPr marL="514350" indent="-514350" algn="just">
              <a:lnSpc>
                <a:spcPct val="100000"/>
              </a:lnSpc>
              <a:buFont typeface="+mj-lt"/>
              <a:buAutoNum type="arabicPeriod"/>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12070DA7-80D8-491B-8EFC-8BD2E8908145}"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885765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65930-F722-CA3C-07AE-DA9230FDCB2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665FE69-F67C-9421-27E7-16075FCD7FE8}"/>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METHODOLOGY</a:t>
            </a:r>
          </a:p>
        </p:txBody>
      </p:sp>
      <p:sp>
        <p:nvSpPr>
          <p:cNvPr id="9" name="Content Placeholder 8">
            <a:extLst>
              <a:ext uri="{FF2B5EF4-FFF2-40B4-BE49-F238E27FC236}">
                <a16:creationId xmlns:a16="http://schemas.microsoft.com/office/drawing/2014/main" id="{5ED63866-CE01-54F5-1080-BE00E4768604}"/>
              </a:ext>
            </a:extLst>
          </p:cNvPr>
          <p:cNvSpPr>
            <a:spLocks noGrp="1"/>
          </p:cNvSpPr>
          <p:nvPr>
            <p:ph idx="1"/>
          </p:nvPr>
        </p:nvSpPr>
        <p:spPr>
          <a:xfrm>
            <a:off x="838200" y="1310640"/>
            <a:ext cx="10515600" cy="4866323"/>
          </a:xfrm>
        </p:spPr>
        <p:txBody>
          <a:bodyPr>
            <a:normAutofit/>
          </a:bodyPr>
          <a:lstStyle/>
          <a:p>
            <a:pPr marL="457200" indent="-457200">
              <a:buFont typeface="+mj-lt"/>
              <a:buAutoNum type="arabicPeriod" startAt="6"/>
            </a:pPr>
            <a:r>
              <a:rPr lang="en-US" sz="2400" b="1" dirty="0">
                <a:latin typeface="Times New Roman" panose="02020603050405020304" pitchFamily="18" charset="0"/>
                <a:cs typeface="Times New Roman" panose="02020603050405020304" pitchFamily="18" charset="0"/>
              </a:rPr>
              <a:t>Optimization Techniques:</a:t>
            </a:r>
            <a:br>
              <a:rPr lang="en-US" sz="2400"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This stage brings together several mechanisms that tighten the model’s decision quality. A fuzzy logic layer adjusts thresholds on the fly based on confidence, so uncertain predictions get treated more cautiously. In that fuzzy zone, micro-correction models like Decision Trees and Random Forests step in to fix likely mistakes. On top of that, an ensemble of </a:t>
            </a:r>
            <a:r>
              <a:rPr lang="en-US" dirty="0" err="1">
                <a:latin typeface="Times New Roman" panose="02020603050405020304" pitchFamily="18" charset="0"/>
                <a:cs typeface="Times New Roman" panose="02020603050405020304" pitchFamily="18" charset="0"/>
              </a:rPr>
              <a:t>TabNet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LightGBM</a:t>
            </a:r>
            <a:r>
              <a:rPr lang="en-US" dirty="0">
                <a:latin typeface="Times New Roman" panose="02020603050405020304" pitchFamily="18" charset="0"/>
                <a:cs typeface="Times New Roman" panose="02020603050405020304" pitchFamily="18" charset="0"/>
              </a:rPr>
              <a:t>, and Random Forest uses weighted voting and a stacked logistic regression layer to settle on stronger combined predictions. Any remaining edge-case errors are then passed through an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correction stage to clean up residual misclassifications.</a:t>
            </a:r>
          </a:p>
          <a:p>
            <a:pPr marL="457200" indent="-457200">
              <a:buFont typeface="+mj-lt"/>
              <a:buAutoNum type="arabicPeriod" startAt="6"/>
            </a:pPr>
            <a:r>
              <a:rPr lang="en-US" sz="2400" b="1" dirty="0">
                <a:latin typeface="Times New Roman" panose="02020603050405020304" pitchFamily="18" charset="0"/>
                <a:cs typeface="Times New Roman" panose="02020603050405020304" pitchFamily="18" charset="0"/>
              </a:rPr>
              <a:t>Evaluation: </a:t>
            </a:r>
            <a:r>
              <a:rPr lang="en-US" sz="2400" dirty="0">
                <a:latin typeface="Times New Roman" panose="02020603050405020304" pitchFamily="18" charset="0"/>
                <a:cs typeface="Times New Roman" panose="02020603050405020304" pitchFamily="18" charset="0"/>
              </a:rPr>
              <a:t>Evaluate the model performance on test dataset.</a:t>
            </a:r>
            <a:endParaRPr lang="en-US" sz="2400" b="1" dirty="0">
              <a:latin typeface="Times New Roman" panose="02020603050405020304" pitchFamily="18" charset="0"/>
              <a:cs typeface="Times New Roman" panose="02020603050405020304" pitchFamily="18" charset="0"/>
            </a:endParaRPr>
          </a:p>
          <a:p>
            <a:pPr marL="0" indent="0" algn="just">
              <a:lnSpc>
                <a:spcPct val="100000"/>
              </a:lnSpc>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F9BAAE7-B7C3-6C7E-A6BF-2484C64DD843}"/>
              </a:ext>
            </a:extLst>
          </p:cNvPr>
          <p:cNvSpPr>
            <a:spLocks noGrp="1"/>
          </p:cNvSpPr>
          <p:nvPr>
            <p:ph type="dt" sz="half" idx="10"/>
          </p:nvPr>
        </p:nvSpPr>
        <p:spPr/>
        <p:txBody>
          <a:bodyPr/>
          <a:lstStyle/>
          <a:p>
            <a:fld id="{D5715628-5968-46E3-9D4D-E4058AFFD5D8}"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25BABF30-BB1A-B29E-33A6-564F8020A3B0}"/>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4B83A7D-C662-B78B-0F6F-BC3BEFDEB9F2}"/>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14</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854241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D2D1C6B-8540-EB16-F932-F5999FC435C1}"/>
              </a:ext>
            </a:extLst>
          </p:cNvPr>
          <p:cNvSpPr>
            <a:spLocks noGrp="1"/>
          </p:cNvSpPr>
          <p:nvPr>
            <p:ph type="dt" sz="half" idx="10"/>
          </p:nvPr>
        </p:nvSpPr>
        <p:spPr/>
        <p:txBody>
          <a:bodyPr/>
          <a:lstStyle/>
          <a:p>
            <a:fld id="{B8EBEB20-0D9C-4C25-8E69-8C814B741A90}" type="datetime1">
              <a:rPr lang="en-IN" smtClean="0"/>
              <a:t>04-12-2025</a:t>
            </a:fld>
            <a:endParaRPr lang="en-IN"/>
          </a:p>
        </p:txBody>
      </p:sp>
      <p:sp>
        <p:nvSpPr>
          <p:cNvPr id="3" name="Footer Placeholder 2">
            <a:extLst>
              <a:ext uri="{FF2B5EF4-FFF2-40B4-BE49-F238E27FC236}">
                <a16:creationId xmlns:a16="http://schemas.microsoft.com/office/drawing/2014/main" id="{C97189CC-5F23-DA24-7D31-F096503EB275}"/>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D72AEED0-C219-9F6C-182B-AE87FC0048BC}"/>
              </a:ext>
            </a:extLst>
          </p:cNvPr>
          <p:cNvSpPr>
            <a:spLocks noGrp="1"/>
          </p:cNvSpPr>
          <p:nvPr>
            <p:ph type="sldNum" sz="quarter" idx="12"/>
          </p:nvPr>
        </p:nvSpPr>
        <p:spPr/>
        <p:txBody>
          <a:bodyPr/>
          <a:lstStyle/>
          <a:p>
            <a:fld id="{65DCBD69-296B-4D7C-AF62-9B588FC78772}" type="slidenum">
              <a:rPr lang="en-IN" smtClean="0"/>
              <a:t>15</a:t>
            </a:fld>
            <a:endParaRPr lang="en-IN"/>
          </a:p>
        </p:txBody>
      </p:sp>
      <p:pic>
        <p:nvPicPr>
          <p:cNvPr id="5" name="Picture 4">
            <a:extLst>
              <a:ext uri="{FF2B5EF4-FFF2-40B4-BE49-F238E27FC236}">
                <a16:creationId xmlns:a16="http://schemas.microsoft.com/office/drawing/2014/main" id="{F71DEA5E-7BE6-DF48-3DA1-B0B3FA15556C}"/>
              </a:ext>
            </a:extLst>
          </p:cNvPr>
          <p:cNvPicPr>
            <a:picLocks noChangeAspect="1"/>
          </p:cNvPicPr>
          <p:nvPr/>
        </p:nvPicPr>
        <p:blipFill>
          <a:blip r:embed="rId2"/>
          <a:stretch>
            <a:fillRect/>
          </a:stretch>
        </p:blipFill>
        <p:spPr>
          <a:xfrm>
            <a:off x="0" y="0"/>
            <a:ext cx="3762900" cy="579027"/>
          </a:xfrm>
          <a:prstGeom prst="rect">
            <a:avLst/>
          </a:prstGeom>
        </p:spPr>
      </p:pic>
      <p:sp>
        <p:nvSpPr>
          <p:cNvPr id="8" name="Content Placeholder 8">
            <a:extLst>
              <a:ext uri="{FF2B5EF4-FFF2-40B4-BE49-F238E27FC236}">
                <a16:creationId xmlns:a16="http://schemas.microsoft.com/office/drawing/2014/main" id="{AEFFA0F3-B50C-56D4-10F7-FC9C94A3FA93}"/>
              </a:ext>
            </a:extLst>
          </p:cNvPr>
          <p:cNvSpPr txBox="1">
            <a:spLocks/>
          </p:cNvSpPr>
          <p:nvPr/>
        </p:nvSpPr>
        <p:spPr>
          <a:xfrm>
            <a:off x="838200" y="1576873"/>
            <a:ext cx="10515600" cy="4600090"/>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Font typeface="Arial" panose="020B0604020202020204" pitchFamily="34" charset="0"/>
              <a:buNone/>
            </a:pPr>
            <a:endParaRPr lang="en-US"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B8FC8184-03C9-AD8D-A773-8E910ECC1B4A}"/>
              </a:ext>
            </a:extLst>
          </p:cNvPr>
          <p:cNvGraphicFramePr>
            <a:graphicFrameLocks noGrp="1"/>
          </p:cNvGraphicFramePr>
          <p:nvPr>
            <p:extLst>
              <p:ext uri="{D42A27DB-BD31-4B8C-83A1-F6EECF244321}">
                <p14:modId xmlns:p14="http://schemas.microsoft.com/office/powerpoint/2010/main" val="1687260796"/>
              </p:ext>
            </p:extLst>
          </p:nvPr>
        </p:nvGraphicFramePr>
        <p:xfrm>
          <a:off x="563852" y="1576873"/>
          <a:ext cx="6989604" cy="4145280"/>
        </p:xfrm>
        <a:graphic>
          <a:graphicData uri="http://schemas.openxmlformats.org/drawingml/2006/table">
            <a:tbl>
              <a:tblPr firstRow="1" bandRow="1">
                <a:tableStyleId>{5C22544A-7EE6-4342-B048-85BDC9FD1C3A}</a:tableStyleId>
              </a:tblPr>
              <a:tblGrid>
                <a:gridCol w="2329868">
                  <a:extLst>
                    <a:ext uri="{9D8B030D-6E8A-4147-A177-3AD203B41FA5}">
                      <a16:colId xmlns:a16="http://schemas.microsoft.com/office/drawing/2014/main" val="3849647267"/>
                    </a:ext>
                  </a:extLst>
                </a:gridCol>
                <a:gridCol w="2329868">
                  <a:extLst>
                    <a:ext uri="{9D8B030D-6E8A-4147-A177-3AD203B41FA5}">
                      <a16:colId xmlns:a16="http://schemas.microsoft.com/office/drawing/2014/main" val="1323723909"/>
                    </a:ext>
                  </a:extLst>
                </a:gridCol>
                <a:gridCol w="2329868">
                  <a:extLst>
                    <a:ext uri="{9D8B030D-6E8A-4147-A177-3AD203B41FA5}">
                      <a16:colId xmlns:a16="http://schemas.microsoft.com/office/drawing/2014/main" val="1437872152"/>
                    </a:ext>
                  </a:extLst>
                </a:gridCol>
              </a:tblGrid>
              <a:tr h="230479">
                <a:tc>
                  <a:txBody>
                    <a:bodyPr/>
                    <a:lstStyle/>
                    <a:p>
                      <a:r>
                        <a:rPr lang="en-US" sz="1400" dirty="0">
                          <a:solidFill>
                            <a:schemeClr val="tx1"/>
                          </a:solidFill>
                          <a:latin typeface="Times New Roman" panose="02020603050405020304" pitchFamily="18" charset="0"/>
                          <a:cs typeface="Times New Roman" panose="02020603050405020304" pitchFamily="18" charset="0"/>
                        </a:rPr>
                        <a:t>Features</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Description</a:t>
                      </a:r>
                      <a:endParaRPr lang="en-IN" sz="1400" dirty="0">
                        <a:solidFill>
                          <a:schemeClr val="tx1"/>
                        </a:solidFill>
                        <a:latin typeface="Times New Roman" panose="02020603050405020304" pitchFamily="18" charset="0"/>
                        <a:cs typeface="Times New Roman" panose="02020603050405020304" pitchFamily="18" charset="0"/>
                      </a:endParaRPr>
                    </a:p>
                  </a:txBody>
                  <a:tcPr/>
                </a:tc>
                <a:tc>
                  <a:txBody>
                    <a:bodyPr/>
                    <a:lstStyle/>
                    <a:p>
                      <a:r>
                        <a:rPr lang="en-US" sz="1400" dirty="0">
                          <a:solidFill>
                            <a:schemeClr val="tx1"/>
                          </a:solidFill>
                          <a:latin typeface="Times New Roman" panose="02020603050405020304" pitchFamily="18" charset="0"/>
                          <a:cs typeface="Times New Roman" panose="02020603050405020304" pitchFamily="18" charset="0"/>
                        </a:rPr>
                        <a:t>Value/Range</a:t>
                      </a:r>
                      <a:endParaRPr lang="en-IN" sz="1400" dirty="0">
                        <a:solidFill>
                          <a:schemeClr val="tx1"/>
                        </a:solidFill>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782477490"/>
                  </a:ext>
                </a:extLst>
              </a:tr>
              <a:tr h="576197">
                <a:tc>
                  <a:txBody>
                    <a:bodyPr/>
                    <a:lstStyle/>
                    <a:p>
                      <a:pPr algn="just"/>
                      <a:r>
                        <a:rPr lang="en-US" sz="1400" dirty="0">
                          <a:latin typeface="Times New Roman" panose="02020603050405020304" pitchFamily="18" charset="0"/>
                          <a:cs typeface="Times New Roman" panose="02020603050405020304" pitchFamily="18" charset="0"/>
                        </a:rPr>
                        <a:t>Dataset</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CICIDS-2017</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Generated by</a:t>
                      </a:r>
                    </a:p>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Canadian Institute for</a:t>
                      </a:r>
                    </a:p>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Cybersecurity</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25918393"/>
                  </a:ext>
                </a:extLst>
              </a:tr>
              <a:tr h="405704">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Number of Records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2,827,876</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Includes both </a:t>
                      </a:r>
                      <a:r>
                        <a:rPr lang="en-IN" sz="1400" kern="1200" dirty="0" err="1">
                          <a:solidFill>
                            <a:schemeClr val="dk1"/>
                          </a:solidFill>
                          <a:effectLst/>
                          <a:latin typeface="Times New Roman" panose="02020603050405020304" pitchFamily="18" charset="0"/>
                          <a:ea typeface="+mn-ea"/>
                          <a:cs typeface="Times New Roman" panose="02020603050405020304" pitchFamily="18" charset="0"/>
                        </a:rPr>
                        <a:t>bengin</a:t>
                      </a:r>
                      <a:r>
                        <a:rPr lang="en-IN" sz="1400" kern="1200" dirty="0">
                          <a:solidFill>
                            <a:schemeClr val="dk1"/>
                          </a:solidFill>
                          <a:effectLst/>
                          <a:latin typeface="Times New Roman" panose="02020603050405020304" pitchFamily="18" charset="0"/>
                          <a:ea typeface="+mn-ea"/>
                          <a:cs typeface="Times New Roman" panose="02020603050405020304" pitchFamily="18" charset="0"/>
                        </a:rPr>
                        <a:t> and attack data</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843382811"/>
                  </a:ext>
                </a:extLst>
              </a:tr>
              <a:tr h="405704">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Number of Features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84</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Includes traffic and protocol features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322401801"/>
                  </a:ext>
                </a:extLst>
              </a:tr>
              <a:tr h="403338">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Benign Records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2,271,320</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Normal network</a:t>
                      </a:r>
                    </a:p>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traffic</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96759064"/>
                  </a:ext>
                </a:extLst>
              </a:tr>
              <a:tr h="403338">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Attack Records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556,556</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Malicious network</a:t>
                      </a:r>
                    </a:p>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traffic</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67052970"/>
                  </a:ext>
                </a:extLst>
              </a:tr>
              <a:tr h="403338">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Types of Attacks</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US" sz="1400" dirty="0">
                          <a:latin typeface="Times New Roman" panose="02020603050405020304" pitchFamily="18" charset="0"/>
                          <a:cs typeface="Times New Roman" panose="02020603050405020304" pitchFamily="18" charset="0"/>
                        </a:rPr>
                        <a:t>14</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DDoS, DoS Hulk, port Scan, etc., </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952564345"/>
                  </a:ext>
                </a:extLst>
              </a:tr>
              <a:tr h="403338">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Protocols Included</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HTTP, HTTPS, FTP, SSH, SMTP</a:t>
                      </a:r>
                      <a:endParaRPr lang="en-IN" sz="1400" dirty="0">
                        <a:latin typeface="Times New Roman" panose="02020603050405020304" pitchFamily="18" charset="0"/>
                        <a:cs typeface="Times New Roman" panose="02020603050405020304" pitchFamily="18" charset="0"/>
                      </a:endParaRPr>
                    </a:p>
                  </a:txBody>
                  <a:tcPr/>
                </a:tc>
                <a:tc>
                  <a:txBody>
                    <a:bodyPr/>
                    <a:lstStyle/>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Simulated realistic</a:t>
                      </a:r>
                    </a:p>
                    <a:p>
                      <a:pPr algn="just"/>
                      <a:r>
                        <a:rPr lang="en-IN" sz="1400" kern="1200" dirty="0">
                          <a:solidFill>
                            <a:schemeClr val="dk1"/>
                          </a:solidFill>
                          <a:effectLst/>
                          <a:latin typeface="Times New Roman" panose="02020603050405020304" pitchFamily="18" charset="0"/>
                          <a:ea typeface="+mn-ea"/>
                          <a:cs typeface="Times New Roman" panose="02020603050405020304" pitchFamily="18" charset="0"/>
                        </a:rPr>
                        <a:t>protocols</a:t>
                      </a:r>
                      <a:endParaRPr lang="en-IN"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809092497"/>
                  </a:ext>
                </a:extLst>
              </a:tr>
            </a:tbl>
          </a:graphicData>
        </a:graphic>
      </p:graphicFrame>
      <p:sp>
        <p:nvSpPr>
          <p:cNvPr id="7" name="TextBox 6">
            <a:extLst>
              <a:ext uri="{FF2B5EF4-FFF2-40B4-BE49-F238E27FC236}">
                <a16:creationId xmlns:a16="http://schemas.microsoft.com/office/drawing/2014/main" id="{0CEE950C-AC5E-E18C-3A69-D15D54203C07}"/>
              </a:ext>
            </a:extLst>
          </p:cNvPr>
          <p:cNvSpPr txBox="1"/>
          <p:nvPr/>
        </p:nvSpPr>
        <p:spPr>
          <a:xfrm>
            <a:off x="1640305" y="5783002"/>
            <a:ext cx="6493042" cy="369332"/>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Dataset Description Before Data Preprocessing.</a:t>
            </a:r>
          </a:p>
        </p:txBody>
      </p:sp>
      <p:graphicFrame>
        <p:nvGraphicFramePr>
          <p:cNvPr id="9" name="Table 8">
            <a:extLst>
              <a:ext uri="{FF2B5EF4-FFF2-40B4-BE49-F238E27FC236}">
                <a16:creationId xmlns:a16="http://schemas.microsoft.com/office/drawing/2014/main" id="{DC542454-008E-06CB-B440-092957AEA81C}"/>
              </a:ext>
            </a:extLst>
          </p:cNvPr>
          <p:cNvGraphicFramePr>
            <a:graphicFrameLocks noGrp="1"/>
          </p:cNvGraphicFramePr>
          <p:nvPr>
            <p:extLst>
              <p:ext uri="{D42A27DB-BD31-4B8C-83A1-F6EECF244321}">
                <p14:modId xmlns:p14="http://schemas.microsoft.com/office/powerpoint/2010/main" val="254196485"/>
              </p:ext>
            </p:extLst>
          </p:nvPr>
        </p:nvGraphicFramePr>
        <p:xfrm>
          <a:off x="7930441" y="1556032"/>
          <a:ext cx="3697707" cy="2264489"/>
        </p:xfrm>
        <a:graphic>
          <a:graphicData uri="http://schemas.openxmlformats.org/drawingml/2006/table">
            <a:tbl>
              <a:tblPr firstRow="1" firstCol="1" bandRow="1">
                <a:tableStyleId>{5C22544A-7EE6-4342-B048-85BDC9FD1C3A}</a:tableStyleId>
              </a:tblPr>
              <a:tblGrid>
                <a:gridCol w="1890288">
                  <a:extLst>
                    <a:ext uri="{9D8B030D-6E8A-4147-A177-3AD203B41FA5}">
                      <a16:colId xmlns:a16="http://schemas.microsoft.com/office/drawing/2014/main" val="1203735910"/>
                    </a:ext>
                  </a:extLst>
                </a:gridCol>
                <a:gridCol w="1807419">
                  <a:extLst>
                    <a:ext uri="{9D8B030D-6E8A-4147-A177-3AD203B41FA5}">
                      <a16:colId xmlns:a16="http://schemas.microsoft.com/office/drawing/2014/main" val="3195655884"/>
                    </a:ext>
                  </a:extLst>
                </a:gridCol>
              </a:tblGrid>
              <a:tr h="497567">
                <a:tc>
                  <a:txBody>
                    <a:bodyPr/>
                    <a:lstStyle/>
                    <a:p>
                      <a:pPr algn="just">
                        <a:lnSpc>
                          <a:spcPct val="150000"/>
                        </a:lnSpc>
                        <a:spcAft>
                          <a:spcPts val="800"/>
                        </a:spcAft>
                      </a:pPr>
                      <a:r>
                        <a:rPr lang="en-IN" sz="1400" kern="100">
                          <a:solidFill>
                            <a:schemeClr val="tx1"/>
                          </a:solidFill>
                          <a:effectLst/>
                          <a:latin typeface="Times New Roman" panose="02020603050405020304" pitchFamily="18" charset="0"/>
                          <a:cs typeface="Times New Roman" panose="02020603050405020304" pitchFamily="18" charset="0"/>
                        </a:rPr>
                        <a:t>Features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IN" sz="1400" kern="100">
                          <a:solidFill>
                            <a:schemeClr val="tx1"/>
                          </a:solidFill>
                          <a:effectLst/>
                          <a:latin typeface="Times New Roman" panose="02020603050405020304" pitchFamily="18" charset="0"/>
                          <a:cs typeface="Times New Roman" panose="02020603050405020304" pitchFamily="18" charset="0"/>
                        </a:rPr>
                        <a:t>Description</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93566193"/>
                  </a:ext>
                </a:extLst>
              </a:tr>
              <a:tr h="588974">
                <a:tc>
                  <a:txBody>
                    <a:bodyPr/>
                    <a:lstStyle/>
                    <a:p>
                      <a:pPr algn="just">
                        <a:lnSpc>
                          <a:spcPct val="150000"/>
                        </a:lnSpc>
                        <a:spcAft>
                          <a:spcPts val="800"/>
                        </a:spcAft>
                      </a:pPr>
                      <a:r>
                        <a:rPr lang="en-IN" sz="1400" kern="100">
                          <a:solidFill>
                            <a:schemeClr val="tx1"/>
                          </a:solidFill>
                          <a:effectLst/>
                          <a:latin typeface="Times New Roman" panose="02020603050405020304" pitchFamily="18" charset="0"/>
                          <a:cs typeface="Times New Roman" panose="02020603050405020304" pitchFamily="18" charset="0"/>
                        </a:rPr>
                        <a:t>Number of Records</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IN" sz="1400" kern="100">
                          <a:solidFill>
                            <a:schemeClr val="tx1"/>
                          </a:solidFill>
                          <a:effectLst/>
                          <a:latin typeface="Times New Roman" panose="02020603050405020304" pitchFamily="18" charset="0"/>
                          <a:cs typeface="Times New Roman" panose="02020603050405020304" pitchFamily="18" charset="0"/>
                        </a:rPr>
                        <a:t>548,790</a:t>
                      </a:r>
                      <a:endParaRPr lang="en-IN" sz="1100" kern="10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145040850"/>
                  </a:ext>
                </a:extLst>
              </a:tr>
              <a:tr h="588974">
                <a:tc>
                  <a:txBody>
                    <a:bodyPr/>
                    <a:lstStyle/>
                    <a:p>
                      <a:pPr algn="just">
                        <a:lnSpc>
                          <a:spcPct val="150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Number of Features</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54</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797372651"/>
                  </a:ext>
                </a:extLst>
              </a:tr>
              <a:tr h="588974">
                <a:tc>
                  <a:txBody>
                    <a:bodyPr/>
                    <a:lstStyle/>
                    <a:p>
                      <a:pPr marL="914400" indent="-914400" algn="just">
                        <a:lnSpc>
                          <a:spcPct val="150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Types of Attacks</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50000"/>
                        </a:lnSpc>
                        <a:spcAft>
                          <a:spcPts val="800"/>
                        </a:spcAft>
                      </a:pPr>
                      <a:r>
                        <a:rPr lang="en-IN" sz="1400" kern="100" dirty="0">
                          <a:solidFill>
                            <a:schemeClr val="tx1"/>
                          </a:solidFill>
                          <a:effectLst/>
                          <a:latin typeface="Times New Roman" panose="02020603050405020304" pitchFamily="18" charset="0"/>
                          <a:cs typeface="Times New Roman" panose="02020603050405020304" pitchFamily="18" charset="0"/>
                        </a:rPr>
                        <a:t>14</a:t>
                      </a:r>
                      <a:endParaRPr lang="en-IN" sz="11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783845135"/>
                  </a:ext>
                </a:extLst>
              </a:tr>
            </a:tbl>
          </a:graphicData>
        </a:graphic>
      </p:graphicFrame>
      <p:sp>
        <p:nvSpPr>
          <p:cNvPr id="11" name="TextBox 10">
            <a:extLst>
              <a:ext uri="{FF2B5EF4-FFF2-40B4-BE49-F238E27FC236}">
                <a16:creationId xmlns:a16="http://schemas.microsoft.com/office/drawing/2014/main" id="{3A1A1C19-97AA-9403-6C6E-5534698F6F91}"/>
              </a:ext>
            </a:extLst>
          </p:cNvPr>
          <p:cNvSpPr txBox="1"/>
          <p:nvPr/>
        </p:nvSpPr>
        <p:spPr>
          <a:xfrm>
            <a:off x="8133347" y="3912474"/>
            <a:ext cx="3144253" cy="646331"/>
          </a:xfrm>
          <a:prstGeom prst="rect">
            <a:avLst/>
          </a:prstGeom>
          <a:noFill/>
        </p:spPr>
        <p:txBody>
          <a:bodyPr wrap="square" rtlCol="0">
            <a:spAutoFit/>
          </a:bodyPr>
          <a:lstStyle/>
          <a:p>
            <a:pPr algn="just"/>
            <a:r>
              <a:rPr lang="en-IN" sz="1800" dirty="0">
                <a:latin typeface="Times New Roman" panose="02020603050405020304" pitchFamily="18" charset="0"/>
                <a:cs typeface="Times New Roman" panose="02020603050405020304" pitchFamily="18" charset="0"/>
              </a:rPr>
              <a:t>Dataset Description After Data Preprocessing</a:t>
            </a:r>
          </a:p>
        </p:txBody>
      </p:sp>
      <p:sp>
        <p:nvSpPr>
          <p:cNvPr id="10" name="TextBox 9">
            <a:extLst>
              <a:ext uri="{FF2B5EF4-FFF2-40B4-BE49-F238E27FC236}">
                <a16:creationId xmlns:a16="http://schemas.microsoft.com/office/drawing/2014/main" id="{10F56D17-3FF7-EE63-F6DF-7F37331B6613}"/>
              </a:ext>
            </a:extLst>
          </p:cNvPr>
          <p:cNvSpPr txBox="1"/>
          <p:nvPr/>
        </p:nvSpPr>
        <p:spPr>
          <a:xfrm>
            <a:off x="2617002" y="557955"/>
            <a:ext cx="6957995" cy="769441"/>
          </a:xfrm>
          <a:prstGeom prst="rect">
            <a:avLst/>
          </a:prstGeom>
          <a:noFill/>
        </p:spPr>
        <p:txBody>
          <a:bodyPr wrap="none" rtlCol="0">
            <a:spAutoFit/>
          </a:bodyPr>
          <a:lstStyle/>
          <a:p>
            <a:r>
              <a:rPr lang="en-US" sz="4400" b="1" dirty="0">
                <a:latin typeface="Times New Roman" panose="02020603050405020304" pitchFamily="18" charset="0"/>
                <a:cs typeface="Times New Roman" panose="02020603050405020304" pitchFamily="18" charset="0"/>
              </a:rPr>
              <a:t>DATASET DESCRIPTION </a:t>
            </a:r>
          </a:p>
        </p:txBody>
      </p:sp>
    </p:spTree>
    <p:extLst>
      <p:ext uri="{BB962C8B-B14F-4D97-AF65-F5344CB8AC3E}">
        <p14:creationId xmlns:p14="http://schemas.microsoft.com/office/powerpoint/2010/main" val="15645896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30756D0-9B70-1E23-BAA0-4ABB3313AC47}"/>
              </a:ext>
            </a:extLst>
          </p:cNvPr>
          <p:cNvSpPr>
            <a:spLocks noGrp="1"/>
          </p:cNvSpPr>
          <p:nvPr>
            <p:ph type="dt" sz="half" idx="10"/>
          </p:nvPr>
        </p:nvSpPr>
        <p:spPr/>
        <p:txBody>
          <a:bodyPr/>
          <a:lstStyle/>
          <a:p>
            <a:fld id="{7EDDB7BE-5836-4FB4-B305-5854BD0F2118}" type="datetime1">
              <a:rPr lang="en-IN" smtClean="0"/>
              <a:t>04-12-2025</a:t>
            </a:fld>
            <a:endParaRPr lang="en-IN" dirty="0"/>
          </a:p>
        </p:txBody>
      </p:sp>
      <p:sp>
        <p:nvSpPr>
          <p:cNvPr id="3" name="Footer Placeholder 2">
            <a:extLst>
              <a:ext uri="{FF2B5EF4-FFF2-40B4-BE49-F238E27FC236}">
                <a16:creationId xmlns:a16="http://schemas.microsoft.com/office/drawing/2014/main" id="{1FF3849D-CD4F-9F77-6966-A8B39C3549D4}"/>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951560FE-2FEA-AE54-9DF6-78141A70F3B9}"/>
              </a:ext>
            </a:extLst>
          </p:cNvPr>
          <p:cNvSpPr>
            <a:spLocks noGrp="1"/>
          </p:cNvSpPr>
          <p:nvPr>
            <p:ph type="sldNum" sz="quarter" idx="12"/>
          </p:nvPr>
        </p:nvSpPr>
        <p:spPr/>
        <p:txBody>
          <a:bodyPr/>
          <a:lstStyle/>
          <a:p>
            <a:fld id="{65DCBD69-296B-4D7C-AF62-9B588FC78772}" type="slidenum">
              <a:rPr lang="en-IN" smtClean="0"/>
              <a:t>16</a:t>
            </a:fld>
            <a:endParaRPr lang="en-IN"/>
          </a:p>
        </p:txBody>
      </p:sp>
      <p:pic>
        <p:nvPicPr>
          <p:cNvPr id="5" name="Picture 4">
            <a:extLst>
              <a:ext uri="{FF2B5EF4-FFF2-40B4-BE49-F238E27FC236}">
                <a16:creationId xmlns:a16="http://schemas.microsoft.com/office/drawing/2014/main" id="{9505243D-9D3E-B16D-7664-8F128469C0D7}"/>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5896A253-4453-8E01-47BB-30772054AAB3}"/>
              </a:ext>
            </a:extLst>
          </p:cNvPr>
          <p:cNvSpPr txBox="1"/>
          <p:nvPr/>
        </p:nvSpPr>
        <p:spPr>
          <a:xfrm>
            <a:off x="3047223" y="579027"/>
            <a:ext cx="6097554"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System Requirements</a:t>
            </a:r>
            <a:endParaRPr lang="en-IN" sz="4000" dirty="0"/>
          </a:p>
        </p:txBody>
      </p:sp>
      <p:sp>
        <p:nvSpPr>
          <p:cNvPr id="9" name="TextBox 8">
            <a:extLst>
              <a:ext uri="{FF2B5EF4-FFF2-40B4-BE49-F238E27FC236}">
                <a16:creationId xmlns:a16="http://schemas.microsoft.com/office/drawing/2014/main" id="{8F3C6643-B936-C17F-5FFD-2A78A30C738B}"/>
              </a:ext>
            </a:extLst>
          </p:cNvPr>
          <p:cNvSpPr txBox="1"/>
          <p:nvPr/>
        </p:nvSpPr>
        <p:spPr>
          <a:xfrm>
            <a:off x="1388706" y="1286913"/>
            <a:ext cx="9965094" cy="4524315"/>
          </a:xfrm>
          <a:prstGeom prst="rect">
            <a:avLst/>
          </a:prstGeom>
          <a:noFill/>
        </p:spPr>
        <p:txBody>
          <a:bodyPr wrap="square">
            <a:spAutoFit/>
          </a:bodyPr>
          <a:lstStyle/>
          <a:p>
            <a:pPr>
              <a:lnSpc>
                <a:spcPct val="150000"/>
              </a:lnSpc>
              <a:buNone/>
              <a:tabLst>
                <a:tab pos="3860800" algn="l"/>
                <a:tab pos="5473700" algn="l"/>
              </a:tabLst>
            </a:pPr>
            <a:r>
              <a:rPr lang="en-US" sz="2400" b="1" dirty="0">
                <a:latin typeface="Times New Roman" panose="02020603050405020304" pitchFamily="18" charset="0"/>
                <a:cs typeface="Times New Roman" panose="02020603050405020304" pitchFamily="18" charset="0"/>
              </a:rPr>
              <a:t>Hardware Requirements</a:t>
            </a:r>
            <a:endParaRPr lang="en-IN" sz="2400" dirty="0">
              <a:latin typeface="Times New Roman" panose="02020603050405020304" pitchFamily="18" charset="0"/>
              <a:cs typeface="Times New Roman" panose="02020603050405020304" pitchFamily="18" charset="0"/>
            </a:endParaRPr>
          </a:p>
          <a:p>
            <a:pPr lvl="0" defTabSz="1041400">
              <a:tabLst>
                <a:tab pos="3860800" algn="l"/>
                <a:tab pos="5473700" algn="l"/>
              </a:tabLst>
            </a:pPr>
            <a:r>
              <a:rPr lang="en-US" sz="2400" dirty="0">
                <a:latin typeface="Times New Roman" panose="02020603050405020304" pitchFamily="18" charset="0"/>
                <a:cs typeface="Times New Roman" panose="02020603050405020304" pitchFamily="18" charset="0"/>
              </a:rPr>
              <a:t>Processor	:	intel Core i5</a:t>
            </a:r>
            <a:endParaRPr lang="en-IN" sz="2400" dirty="0">
              <a:latin typeface="Times New Roman" panose="02020603050405020304" pitchFamily="18" charset="0"/>
              <a:cs typeface="Times New Roman" panose="02020603050405020304" pitchFamily="18" charset="0"/>
            </a:endParaRPr>
          </a:p>
          <a:p>
            <a:pPr lvl="0" defTabSz="1790700">
              <a:tabLst>
                <a:tab pos="3860800" algn="l"/>
                <a:tab pos="5473700" algn="l"/>
              </a:tabLst>
            </a:pPr>
            <a:r>
              <a:rPr lang="en-US" sz="2400" dirty="0">
                <a:latin typeface="Times New Roman" panose="02020603050405020304" pitchFamily="18" charset="0"/>
                <a:cs typeface="Times New Roman" panose="02020603050405020304" pitchFamily="18" charset="0"/>
              </a:rPr>
              <a:t>Cache memory	:	4MB(Megabyte)</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RAM	</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12.7GB (gigabyte)</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Hard Disk</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166.8GB</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IN" sz="2400" dirty="0">
                <a:latin typeface="Times New Roman" panose="02020603050405020304" pitchFamily="18" charset="0"/>
                <a:cs typeface="Times New Roman" panose="02020603050405020304" pitchFamily="18" charset="0"/>
              </a:rPr>
              <a:t>Compute Engine      	:	T4 GPU</a:t>
            </a:r>
          </a:p>
          <a:p>
            <a:pPr lvl="0">
              <a:lnSpc>
                <a:spcPct val="150000"/>
              </a:lnSpc>
              <a:buNone/>
              <a:tabLst>
                <a:tab pos="3860800" algn="l"/>
                <a:tab pos="5473700" algn="l"/>
              </a:tabLst>
            </a:pPr>
            <a:r>
              <a:rPr lang="en-US" sz="2400" b="1" dirty="0">
                <a:latin typeface="Times New Roman" panose="02020603050405020304" pitchFamily="18" charset="0"/>
                <a:cs typeface="Times New Roman" panose="02020603050405020304" pitchFamily="18" charset="0"/>
              </a:rPr>
              <a:t>Software Requirements</a:t>
            </a:r>
            <a:endParaRPr lang="en-IN" sz="2400" dirty="0">
              <a:latin typeface="Times New Roman" panose="02020603050405020304" pitchFamily="18" charset="0"/>
              <a:cs typeface="Times New Roman" panose="02020603050405020304" pitchFamily="18" charset="0"/>
            </a:endParaRP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Operating System</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Windows 11, 64-bit OS</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Coding Language</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Python</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Python distribution</a:t>
            </a:r>
            <a:r>
              <a:rPr lang="en-IN" sz="2400" dirty="0">
                <a:latin typeface="Times New Roman" panose="02020603050405020304" pitchFamily="18" charset="0"/>
                <a:cs typeface="Times New Roman" panose="02020603050405020304" pitchFamily="18" charset="0"/>
              </a:rPr>
              <a:t> 	</a:t>
            </a:r>
            <a:r>
              <a:rPr lang="en-US" sz="2400" dirty="0">
                <a:latin typeface="Times New Roman" panose="02020603050405020304" pitchFamily="18" charset="0"/>
                <a:cs typeface="Times New Roman" panose="02020603050405020304" pitchFamily="18" charset="0"/>
              </a:rPr>
              <a:t>: 		Google </a:t>
            </a:r>
            <a:r>
              <a:rPr lang="en-US" sz="2400" dirty="0" err="1">
                <a:latin typeface="Times New Roman" panose="02020603050405020304" pitchFamily="18" charset="0"/>
                <a:cs typeface="Times New Roman" panose="02020603050405020304" pitchFamily="18" charset="0"/>
              </a:rPr>
              <a:t>Colab</a:t>
            </a:r>
            <a:r>
              <a:rPr lang="en-US" sz="2400" dirty="0">
                <a:latin typeface="Times New Roman" panose="02020603050405020304" pitchFamily="18" charset="0"/>
                <a:cs typeface="Times New Roman" panose="02020603050405020304" pitchFamily="18" charset="0"/>
              </a:rPr>
              <a:t> Pro , Flask</a:t>
            </a:r>
            <a:r>
              <a:rPr lang="en-IN" sz="2400" dirty="0">
                <a:latin typeface="Times New Roman" panose="02020603050405020304" pitchFamily="18" charset="0"/>
                <a:cs typeface="Times New Roman" panose="02020603050405020304" pitchFamily="18" charset="0"/>
              </a:rPr>
              <a:t> </a:t>
            </a:r>
          </a:p>
          <a:p>
            <a:pPr lvl="0">
              <a:tabLst>
                <a:tab pos="3860800" algn="l"/>
                <a:tab pos="5473700" algn="l"/>
              </a:tabLst>
            </a:pPr>
            <a:r>
              <a:rPr lang="en-US" sz="2400" dirty="0">
                <a:latin typeface="Times New Roman" panose="02020603050405020304" pitchFamily="18" charset="0"/>
                <a:cs typeface="Times New Roman" panose="02020603050405020304" pitchFamily="18" charset="0"/>
              </a:rPr>
              <a:t>Browser	: 	Any Latest Browser like Chrome</a:t>
            </a:r>
            <a:r>
              <a:rPr lang="en-IN" sz="2400" dirty="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20578938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3184D-6BF7-A49D-32CB-549F04C5898D}"/>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4704425-7101-89FE-A433-F0046786F95C}"/>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1DD6E22C-1CAE-D2E5-C56E-A3D02B390C4F}"/>
              </a:ext>
            </a:extLst>
          </p:cNvPr>
          <p:cNvSpPr>
            <a:spLocks noGrp="1"/>
          </p:cNvSpPr>
          <p:nvPr>
            <p:ph idx="1"/>
          </p:nvPr>
        </p:nvSpPr>
        <p:spPr>
          <a:xfrm>
            <a:off x="502138" y="1493134"/>
            <a:ext cx="10515600" cy="4351338"/>
          </a:xfrm>
        </p:spPr>
        <p:txBody>
          <a:bodyPr>
            <a:normAutofit/>
          </a:bodyPr>
          <a:lstStyle/>
          <a:p>
            <a:pPr marL="0" indent="0" algn="just">
              <a:buNone/>
            </a:pPr>
            <a:r>
              <a:rPr lang="en-US" sz="1600" b="1" dirty="0">
                <a:latin typeface="Times New Roman" panose="02020603050405020304" pitchFamily="18" charset="0"/>
                <a:cs typeface="Times New Roman" panose="02020603050405020304" pitchFamily="18" charset="0"/>
              </a:rPr>
              <a:t>1. Environment Setup and Google Drive Mounting- </a:t>
            </a:r>
            <a:r>
              <a:rPr lang="en-US" sz="1600" dirty="0">
                <a:latin typeface="Times New Roman" panose="02020603050405020304" pitchFamily="18" charset="0"/>
                <a:cs typeface="Times New Roman" panose="02020603050405020304" pitchFamily="18" charset="0"/>
              </a:rPr>
              <a:t>You start in Google Colab and mount your Google Drive so you can read and write datasets.- Code: - from </a:t>
            </a:r>
            <a:r>
              <a:rPr lang="en-US" sz="1600" dirty="0" err="1">
                <a:latin typeface="Times New Roman" panose="02020603050405020304" pitchFamily="18" charset="0"/>
                <a:cs typeface="Times New Roman" panose="02020603050405020304" pitchFamily="18" charset="0"/>
              </a:rPr>
              <a:t>google.colab</a:t>
            </a:r>
            <a:r>
              <a:rPr lang="en-US" sz="1600" dirty="0">
                <a:latin typeface="Times New Roman" panose="02020603050405020304" pitchFamily="18" charset="0"/>
                <a:cs typeface="Times New Roman" panose="02020603050405020304" pitchFamily="18" charset="0"/>
              </a:rPr>
              <a:t> import drive - </a:t>
            </a:r>
            <a:r>
              <a:rPr lang="en-US" sz="1600" dirty="0" err="1">
                <a:latin typeface="Times New Roman" panose="02020603050405020304" pitchFamily="18" charset="0"/>
                <a:cs typeface="Times New Roman" panose="02020603050405020304" pitchFamily="18" charset="0"/>
              </a:rPr>
              <a:t>drive.mount</a:t>
            </a:r>
            <a:r>
              <a:rPr lang="en-US" sz="1600" dirty="0">
                <a:latin typeface="Times New Roman" panose="02020603050405020304" pitchFamily="18" charset="0"/>
                <a:cs typeface="Times New Roman" panose="02020603050405020304" pitchFamily="18" charset="0"/>
              </a:rPr>
              <a:t>('/content/drive')- Purpose: - Gives Colab access to files stored in your Google Drive, especially the CICIDS2017 dataset and all saved intermediate CSVs. </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r>
              <a:rPr lang="en-US" sz="1600" b="1" dirty="0">
                <a:latin typeface="Times New Roman" panose="02020603050405020304" pitchFamily="18" charset="0"/>
                <a:cs typeface="Times New Roman" panose="02020603050405020304" pitchFamily="18" charset="0"/>
              </a:rPr>
              <a:t>2. Importing Core Libraries- </a:t>
            </a:r>
            <a:r>
              <a:rPr lang="en-US" sz="1600" dirty="0">
                <a:latin typeface="Times New Roman" panose="02020603050405020304" pitchFamily="18" charset="0"/>
                <a:cs typeface="Times New Roman" panose="02020603050405020304" pitchFamily="18" charset="0"/>
              </a:rPr>
              <a:t>You import the main Python libraries you need for data handling and preprocessing: - pandas as pd – for reading and manipulating tabular data. - </a:t>
            </a:r>
            <a:r>
              <a:rPr lang="en-US" sz="1600" dirty="0" err="1">
                <a:latin typeface="Times New Roman" panose="02020603050405020304" pitchFamily="18" charset="0"/>
                <a:cs typeface="Times New Roman" panose="02020603050405020304" pitchFamily="18" charset="0"/>
              </a:rPr>
              <a:t>numpy</a:t>
            </a:r>
            <a:r>
              <a:rPr lang="en-US" sz="1600" dirty="0">
                <a:latin typeface="Times New Roman" panose="02020603050405020304" pitchFamily="18" charset="0"/>
                <a:cs typeface="Times New Roman" panose="02020603050405020304" pitchFamily="18" charset="0"/>
              </a:rPr>
              <a:t> as np – for numerical operations. - </a:t>
            </a:r>
            <a:r>
              <a:rPr lang="en-US" sz="1600" dirty="0" err="1">
                <a:latin typeface="Times New Roman" panose="02020603050405020304" pitchFamily="18" charset="0"/>
                <a:cs typeface="Times New Roman" panose="02020603050405020304" pitchFamily="18" charset="0"/>
              </a:rPr>
              <a:t>MinMaxScaler</a:t>
            </a:r>
            <a:r>
              <a:rPr lang="en-US" sz="1600" dirty="0">
                <a:latin typeface="Times New Roman" panose="02020603050405020304" pitchFamily="18" charset="0"/>
                <a:cs typeface="Times New Roman" panose="02020603050405020304" pitchFamily="18" charset="0"/>
              </a:rPr>
              <a:t> from </a:t>
            </a:r>
            <a:r>
              <a:rPr lang="en-US" sz="1600" dirty="0" err="1">
                <a:latin typeface="Times New Roman" panose="02020603050405020304" pitchFamily="18" charset="0"/>
                <a:cs typeface="Times New Roman" panose="02020603050405020304" pitchFamily="18" charset="0"/>
              </a:rPr>
              <a:t>sklearn.preprocessing</a:t>
            </a:r>
            <a:r>
              <a:rPr lang="en-US" sz="1600" dirty="0">
                <a:latin typeface="Times New Roman" panose="02020603050405020304" pitchFamily="18" charset="0"/>
                <a:cs typeface="Times New Roman" panose="02020603050405020304" pitchFamily="18" charset="0"/>
              </a:rPr>
              <a:t> – for feature scaling / normalization. - </a:t>
            </a:r>
            <a:r>
              <a:rPr lang="en-US" sz="1600" dirty="0" err="1">
                <a:latin typeface="Times New Roman" panose="02020603050405020304" pitchFamily="18" charset="0"/>
                <a:cs typeface="Times New Roman" panose="02020603050405020304" pitchFamily="18" charset="0"/>
              </a:rPr>
              <a:t>os</a:t>
            </a:r>
            <a:r>
              <a:rPr lang="en-US" sz="1600" dirty="0">
                <a:latin typeface="Times New Roman" panose="02020603050405020304" pitchFamily="18" charset="0"/>
                <a:cs typeface="Times New Roman" panose="02020603050405020304" pitchFamily="18" charset="0"/>
              </a:rPr>
              <a:t> – for file path handling (though not heavily used later).- Purpose: - Sets up the environment to load, clean, transform, and normalize the CICIDS2017 data.</a:t>
            </a:r>
          </a:p>
        </p:txBody>
      </p:sp>
      <p:sp>
        <p:nvSpPr>
          <p:cNvPr id="5" name="Date Placeholder 4">
            <a:extLst>
              <a:ext uri="{FF2B5EF4-FFF2-40B4-BE49-F238E27FC236}">
                <a16:creationId xmlns:a16="http://schemas.microsoft.com/office/drawing/2014/main" id="{2744537F-4E86-0566-D3BF-E3BC2016ABC9}"/>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F08812C-F541-BFE2-F445-7EC48DD4FB9E}"/>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BD17433-AA09-E20E-6700-2B220386DABE}"/>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17</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9A9682D7-839C-6F1C-7DBA-AC4C34F8F8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47" y="2235060"/>
            <a:ext cx="2720576" cy="823031"/>
          </a:xfrm>
          <a:prstGeom prst="rect">
            <a:avLst/>
          </a:prstGeom>
        </p:spPr>
      </p:pic>
      <p:pic>
        <p:nvPicPr>
          <p:cNvPr id="10" name="Picture 9">
            <a:extLst>
              <a:ext uri="{FF2B5EF4-FFF2-40B4-BE49-F238E27FC236}">
                <a16:creationId xmlns:a16="http://schemas.microsoft.com/office/drawing/2014/main" id="{E4FDD07C-8E4B-FDFE-D786-3AF112A2F70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3347" y="4315984"/>
            <a:ext cx="3977985" cy="922100"/>
          </a:xfrm>
          <a:prstGeom prst="rect">
            <a:avLst/>
          </a:prstGeom>
        </p:spPr>
      </p:pic>
    </p:spTree>
    <p:extLst>
      <p:ext uri="{BB962C8B-B14F-4D97-AF65-F5344CB8AC3E}">
        <p14:creationId xmlns:p14="http://schemas.microsoft.com/office/powerpoint/2010/main" val="23249796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A341B-914D-8924-78C7-A586A85320C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B1A45F1-2D24-39E6-389C-3D3FC97AC68E}"/>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0F7DA315-7704-2613-00EE-4AE2AB9A4127}"/>
              </a:ext>
            </a:extLst>
          </p:cNvPr>
          <p:cNvSpPr>
            <a:spLocks noGrp="1"/>
          </p:cNvSpPr>
          <p:nvPr>
            <p:ph idx="1"/>
          </p:nvPr>
        </p:nvSpPr>
        <p:spPr>
          <a:xfrm>
            <a:off x="502138" y="1493134"/>
            <a:ext cx="10515600" cy="4351338"/>
          </a:xfrm>
        </p:spPr>
        <p:txBody>
          <a:bodyPr>
            <a:normAutofit/>
          </a:bodyPr>
          <a:lstStyle/>
          <a:p>
            <a:pPr marL="0" indent="0" algn="just">
              <a:buNone/>
            </a:pPr>
            <a:r>
              <a:rPr lang="en-US" sz="1600" b="1" dirty="0">
                <a:latin typeface="Times New Roman" panose="02020603050405020304" pitchFamily="18" charset="0"/>
                <a:cs typeface="Times New Roman" panose="02020603050405020304" pitchFamily="18" charset="0"/>
              </a:rPr>
              <a:t>3. Reading the Original CICIDS2017 Merged Dataset- </a:t>
            </a:r>
            <a:r>
              <a:rPr lang="en-US" sz="1600" dirty="0">
                <a:latin typeface="Times New Roman" panose="02020603050405020304" pitchFamily="18" charset="0"/>
                <a:cs typeface="Times New Roman" panose="02020603050405020304" pitchFamily="18" charset="0"/>
              </a:rPr>
              <a:t>You specify the path in your Drive: - </a:t>
            </a:r>
            <a:r>
              <a:rPr lang="en-US" sz="1600" dirty="0" err="1">
                <a:latin typeface="Times New Roman" panose="02020603050405020304" pitchFamily="18" charset="0"/>
                <a:cs typeface="Times New Roman" panose="02020603050405020304" pitchFamily="18" charset="0"/>
              </a:rPr>
              <a:t>data_path</a:t>
            </a:r>
            <a:r>
              <a:rPr lang="en-US" sz="1600" dirty="0">
                <a:latin typeface="Times New Roman" panose="02020603050405020304" pitchFamily="18" charset="0"/>
                <a:cs typeface="Times New Roman" panose="02020603050405020304" pitchFamily="18" charset="0"/>
              </a:rPr>
              <a:t> = '/content/drive/</a:t>
            </a:r>
            <a:r>
              <a:rPr lang="en-US" sz="1600" dirty="0" err="1">
                <a:latin typeface="Times New Roman" panose="02020603050405020304" pitchFamily="18" charset="0"/>
                <a:cs typeface="Times New Roman" panose="02020603050405020304" pitchFamily="18" charset="0"/>
              </a:rPr>
              <a:t>MyDrive</a:t>
            </a:r>
            <a:r>
              <a:rPr lang="en-US" sz="1600" dirty="0">
                <a:latin typeface="Times New Roman" panose="02020603050405020304" pitchFamily="18" charset="0"/>
                <a:cs typeface="Times New Roman" panose="02020603050405020304" pitchFamily="18" charset="0"/>
              </a:rPr>
              <a:t>/Project/Datasets/CICIDS2017_Merged.csv'- You load it into a </a:t>
            </a:r>
            <a:r>
              <a:rPr lang="en-US" sz="1600" dirty="0" err="1">
                <a:latin typeface="Times New Roman" panose="02020603050405020304" pitchFamily="18" charset="0"/>
                <a:cs typeface="Times New Roman" panose="02020603050405020304" pitchFamily="18" charset="0"/>
              </a:rPr>
              <a:t>DataFrame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pd.read_csv</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data_path</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low_memory</a:t>
            </a:r>
            <a:r>
              <a:rPr lang="en-US" sz="1600" dirty="0">
                <a:latin typeface="Times New Roman" panose="02020603050405020304" pitchFamily="18" charset="0"/>
                <a:cs typeface="Times New Roman" panose="02020603050405020304" pitchFamily="18" charset="0"/>
              </a:rPr>
              <a:t>=False)- You print the original shape and preview a few rows using </a:t>
            </a:r>
            <a:r>
              <a:rPr lang="en-US" sz="1600" dirty="0" err="1">
                <a:latin typeface="Times New Roman" panose="02020603050405020304" pitchFamily="18" charset="0"/>
                <a:cs typeface="Times New Roman" panose="02020603050405020304" pitchFamily="18" charset="0"/>
              </a:rPr>
              <a:t>df.head</a:t>
            </a:r>
            <a:r>
              <a:rPr lang="en-US" sz="1600" dirty="0">
                <a:latin typeface="Times New Roman" panose="02020603050405020304" pitchFamily="18" charset="0"/>
                <a:cs typeface="Times New Roman" panose="02020603050405020304" pitchFamily="18" charset="0"/>
              </a:rPr>
              <a:t>().- Purpose: - Loads the full merged CICIDS2017 dataset into memory for preprocessing and model building.</a:t>
            </a: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BA26673-2039-2516-07E2-ED8C4FD815E2}"/>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F5262983-BE84-7813-B81D-50485D3DAD5A}"/>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B14E51BB-A044-DBB6-BCE2-2BE5F9B7D19C}"/>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18</a:t>
            </a:fld>
            <a:endParaRPr lang="en-US">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5BE7C002-99DF-2CC3-3BDE-570BAE0E69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3347" y="2441542"/>
            <a:ext cx="10344391" cy="3914808"/>
          </a:xfrm>
          <a:prstGeom prst="rect">
            <a:avLst/>
          </a:prstGeom>
        </p:spPr>
      </p:pic>
    </p:spTree>
    <p:extLst>
      <p:ext uri="{BB962C8B-B14F-4D97-AF65-F5344CB8AC3E}">
        <p14:creationId xmlns:p14="http://schemas.microsoft.com/office/powerpoint/2010/main" val="426479553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0C2051-A6C7-0273-2706-5D5419D2F6D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A7ECCFB4-5EE8-93FE-EFD3-EC44A8CC1087}"/>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BDEF04BA-F02B-98FC-1236-B11A818225CB}"/>
              </a:ext>
            </a:extLst>
          </p:cNvPr>
          <p:cNvSpPr>
            <a:spLocks noGrp="1"/>
          </p:cNvSpPr>
          <p:nvPr>
            <p:ph idx="1"/>
          </p:nvPr>
        </p:nvSpPr>
        <p:spPr>
          <a:xfrm>
            <a:off x="502138" y="1493134"/>
            <a:ext cx="10515600" cy="4351338"/>
          </a:xfrm>
        </p:spPr>
        <p:txBody>
          <a:bodyPr>
            <a:normAutofit lnSpcReduction="10000"/>
          </a:bodyPr>
          <a:lstStyle/>
          <a:p>
            <a:pPr marL="0" indent="0" algn="ctr">
              <a:buNone/>
            </a:pPr>
            <a:r>
              <a:rPr lang="en-US" sz="1800" b="1" dirty="0">
                <a:latin typeface="Times New Roman" panose="02020603050405020304" pitchFamily="18" charset="0"/>
                <a:cs typeface="Times New Roman" panose="02020603050405020304" pitchFamily="18" charset="0"/>
              </a:rPr>
              <a:t>PRE-PROCESSING</a:t>
            </a:r>
          </a:p>
          <a:p>
            <a:pPr marL="0" indent="0" algn="just">
              <a:buNone/>
            </a:pPr>
            <a:r>
              <a:rPr lang="en-US" sz="1600" dirty="0">
                <a:latin typeface="Times New Roman" panose="02020603050405020304" pitchFamily="18" charset="0"/>
                <a:cs typeface="Times New Roman" panose="02020603050405020304" pitchFamily="18" charset="0"/>
              </a:rPr>
              <a:t>4. </a:t>
            </a:r>
            <a:r>
              <a:rPr lang="en-US" sz="1600" b="1" dirty="0">
                <a:latin typeface="Times New Roman" panose="02020603050405020304" pitchFamily="18" charset="0"/>
                <a:cs typeface="Times New Roman" panose="02020603050405020304" pitchFamily="18" charset="0"/>
              </a:rPr>
              <a:t>Dropping Non-Useful Identifier Columns</a:t>
            </a:r>
            <a:r>
              <a:rPr lang="en-US" sz="1600" dirty="0">
                <a:latin typeface="Times New Roman" panose="02020603050405020304" pitchFamily="18" charset="0"/>
                <a:cs typeface="Times New Roman" panose="02020603050405020304" pitchFamily="18" charset="0"/>
              </a:rPr>
              <a:t>- define a set of columns that are not useful for classification: - ['Flow ID', 'Timestamp', 'Source IP', 'Destination IP', 'Source Port', 'Destination Port', 'Protocol']- You drop them if they exist: - </a:t>
            </a:r>
            <a:r>
              <a:rPr lang="en-US" sz="1600" dirty="0" err="1">
                <a:latin typeface="Times New Roman" panose="02020603050405020304" pitchFamily="18" charset="0"/>
                <a:cs typeface="Times New Roman" panose="02020603050405020304" pitchFamily="18" charset="0"/>
              </a:rPr>
              <a:t>df.drop</a:t>
            </a:r>
            <a:r>
              <a:rPr lang="en-US" sz="1600" dirty="0">
                <a:latin typeface="Times New Roman" panose="02020603050405020304" pitchFamily="18" charset="0"/>
                <a:cs typeface="Times New Roman" panose="02020603050405020304" pitchFamily="18" charset="0"/>
              </a:rPr>
              <a:t>(columns=[col for col in </a:t>
            </a:r>
            <a:r>
              <a:rPr lang="en-US" sz="1600" dirty="0" err="1">
                <a:latin typeface="Times New Roman" panose="02020603050405020304" pitchFamily="18" charset="0"/>
                <a:cs typeface="Times New Roman" panose="02020603050405020304" pitchFamily="18" charset="0"/>
              </a:rPr>
              <a:t>drop_cols</a:t>
            </a:r>
            <a:r>
              <a:rPr lang="en-US" sz="1600" dirty="0">
                <a:latin typeface="Times New Roman" panose="02020603050405020304" pitchFamily="18" charset="0"/>
                <a:cs typeface="Times New Roman" panose="02020603050405020304" pitchFamily="18" charset="0"/>
              </a:rPr>
              <a:t> if col in </a:t>
            </a:r>
            <a:r>
              <a:rPr lang="en-US" sz="1600" dirty="0" err="1">
                <a:latin typeface="Times New Roman" panose="02020603050405020304" pitchFamily="18" charset="0"/>
                <a:cs typeface="Times New Roman" panose="02020603050405020304" pitchFamily="18" charset="0"/>
              </a:rPr>
              <a:t>df.columns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Purpose: - Removes network identifiers and time stamps that are not needed for learning attack patterns and may leak low-level or non-generalizable info. </a:t>
            </a:r>
          </a:p>
          <a:p>
            <a:pPr marL="0" indent="0" algn="just">
              <a:buNone/>
            </a:pPr>
            <a:r>
              <a:rPr lang="en-US" sz="1600" dirty="0">
                <a:latin typeface="Times New Roman" panose="02020603050405020304" pitchFamily="18" charset="0"/>
                <a:cs typeface="Times New Roman" panose="02020603050405020304" pitchFamily="18" charset="0"/>
              </a:rPr>
              <a:t>5. </a:t>
            </a:r>
            <a:r>
              <a:rPr lang="en-US" sz="1600" b="1" dirty="0">
                <a:latin typeface="Times New Roman" panose="02020603050405020304" pitchFamily="18" charset="0"/>
                <a:cs typeface="Times New Roman" panose="02020603050405020304" pitchFamily="18" charset="0"/>
              </a:rPr>
              <a:t>Removing Fully Null and Constant Columns</a:t>
            </a:r>
            <a:r>
              <a:rPr lang="en-US" sz="1600" dirty="0">
                <a:latin typeface="Times New Roman" panose="02020603050405020304" pitchFamily="18" charset="0"/>
                <a:cs typeface="Times New Roman" panose="02020603050405020304" pitchFamily="18" charset="0"/>
              </a:rPr>
              <a:t>- drop columns that are completely null: - </a:t>
            </a:r>
            <a:r>
              <a:rPr lang="en-US" sz="1600" dirty="0" err="1">
                <a:latin typeface="Times New Roman" panose="02020603050405020304" pitchFamily="18" charset="0"/>
                <a:cs typeface="Times New Roman" panose="02020603050405020304" pitchFamily="18" charset="0"/>
              </a:rPr>
              <a:t>df.dropna</a:t>
            </a:r>
            <a:r>
              <a:rPr lang="en-US" sz="1600" dirty="0">
                <a:latin typeface="Times New Roman" panose="02020603050405020304" pitchFamily="18" charset="0"/>
                <a:cs typeface="Times New Roman" panose="02020603050405020304" pitchFamily="18" charset="0"/>
              </a:rPr>
              <a:t>(axis=1, how='all',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You compute number of unique values per column: - </a:t>
            </a:r>
            <a:r>
              <a:rPr lang="en-US" sz="1600" dirty="0" err="1">
                <a:latin typeface="Times New Roman" panose="02020603050405020304" pitchFamily="18" charset="0"/>
                <a:cs typeface="Times New Roman" panose="02020603050405020304" pitchFamily="18" charset="0"/>
              </a:rPr>
              <a:t>nunique</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df.nunique</a:t>
            </a:r>
            <a:r>
              <a:rPr lang="en-US" sz="1600" dirty="0">
                <a:latin typeface="Times New Roman" panose="02020603050405020304" pitchFamily="18" charset="0"/>
                <a:cs typeface="Times New Roman" panose="02020603050405020304" pitchFamily="18" charset="0"/>
              </a:rPr>
              <a:t>()- You identify constant columns (</a:t>
            </a:r>
            <a:r>
              <a:rPr lang="en-US" sz="1600" dirty="0" err="1">
                <a:latin typeface="Times New Roman" panose="02020603050405020304" pitchFamily="18" charset="0"/>
                <a:cs typeface="Times New Roman" panose="02020603050405020304" pitchFamily="18" charset="0"/>
              </a:rPr>
              <a:t>nunique</a:t>
            </a:r>
            <a:r>
              <a:rPr lang="en-US" sz="1600" dirty="0">
                <a:latin typeface="Times New Roman" panose="02020603050405020304" pitchFamily="18" charset="0"/>
                <a:cs typeface="Times New Roman" panose="02020603050405020304" pitchFamily="18" charset="0"/>
              </a:rPr>
              <a:t> &lt;= 1) and drop them: - </a:t>
            </a:r>
            <a:r>
              <a:rPr lang="en-US" sz="1600" dirty="0" err="1">
                <a:latin typeface="Times New Roman" panose="02020603050405020304" pitchFamily="18" charset="0"/>
                <a:cs typeface="Times New Roman" panose="02020603050405020304" pitchFamily="18" charset="0"/>
              </a:rPr>
              <a:t>constant_cols</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nunique</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nunique</a:t>
            </a:r>
            <a:r>
              <a:rPr lang="en-US" sz="1600" dirty="0">
                <a:latin typeface="Times New Roman" panose="02020603050405020304" pitchFamily="18" charset="0"/>
                <a:cs typeface="Times New Roman" panose="02020603050405020304" pitchFamily="18" charset="0"/>
              </a:rPr>
              <a:t> &lt;= 1].index - </a:t>
            </a:r>
            <a:r>
              <a:rPr lang="en-US" sz="1600" dirty="0" err="1">
                <a:latin typeface="Times New Roman" panose="02020603050405020304" pitchFamily="18" charset="0"/>
                <a:cs typeface="Times New Roman" panose="02020603050405020304" pitchFamily="18" charset="0"/>
              </a:rPr>
              <a:t>df.drop</a:t>
            </a:r>
            <a:r>
              <a:rPr lang="en-US" sz="1600" dirty="0">
                <a:latin typeface="Times New Roman" panose="02020603050405020304" pitchFamily="18" charset="0"/>
                <a:cs typeface="Times New Roman" panose="02020603050405020304" pitchFamily="18" charset="0"/>
              </a:rPr>
              <a:t>(columns=</a:t>
            </a:r>
            <a:r>
              <a:rPr lang="en-US" sz="1600" dirty="0" err="1">
                <a:latin typeface="Times New Roman" panose="02020603050405020304" pitchFamily="18" charset="0"/>
                <a:cs typeface="Times New Roman" panose="02020603050405020304" pitchFamily="18" charset="0"/>
              </a:rPr>
              <a:t>constant_cols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You print the updated shape.- Purpose: - Eliminates columns that do not carry useful information (either all missing or same value everywhere). </a:t>
            </a:r>
          </a:p>
          <a:p>
            <a:pPr marL="0" indent="0" algn="just">
              <a:buNone/>
            </a:pPr>
            <a:r>
              <a:rPr lang="en-US" sz="1600" b="1" dirty="0">
                <a:latin typeface="Times New Roman" panose="02020603050405020304" pitchFamily="18" charset="0"/>
                <a:cs typeface="Times New Roman" panose="02020603050405020304" pitchFamily="18" charset="0"/>
              </a:rPr>
              <a:t>6. Handling Missing and Infinite Values-  </a:t>
            </a:r>
            <a:r>
              <a:rPr lang="en-US" sz="1600" dirty="0">
                <a:latin typeface="Times New Roman" panose="02020603050405020304" pitchFamily="18" charset="0"/>
                <a:cs typeface="Times New Roman" panose="02020603050405020304" pitchFamily="18" charset="0"/>
              </a:rPr>
              <a:t>replace infinite values with </a:t>
            </a:r>
            <a:r>
              <a:rPr lang="en-US" sz="1600" dirty="0" err="1">
                <a:latin typeface="Times New Roman" panose="02020603050405020304" pitchFamily="18" charset="0"/>
                <a:cs typeface="Times New Roman" panose="02020603050405020304" pitchFamily="18" charset="0"/>
              </a:rPr>
              <a:t>NaN</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df.replace</a:t>
            </a:r>
            <a:r>
              <a:rPr lang="en-US" sz="1600" dirty="0">
                <a:latin typeface="Times New Roman" panose="02020603050405020304" pitchFamily="18" charset="0"/>
                <a:cs typeface="Times New Roman" panose="02020603050405020304" pitchFamily="18" charset="0"/>
              </a:rPr>
              <a:t>([np.inf, -np.inf], </a:t>
            </a:r>
            <a:r>
              <a:rPr lang="en-US" sz="1600" dirty="0" err="1">
                <a:latin typeface="Times New Roman" panose="02020603050405020304" pitchFamily="18" charset="0"/>
                <a:cs typeface="Times New Roman" panose="02020603050405020304" pitchFamily="18" charset="0"/>
              </a:rPr>
              <a:t>np.nan</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You identify numeric columns: - </a:t>
            </a:r>
            <a:r>
              <a:rPr lang="en-US" sz="1600" dirty="0" err="1">
                <a:latin typeface="Times New Roman" panose="02020603050405020304" pitchFamily="18" charset="0"/>
                <a:cs typeface="Times New Roman" panose="02020603050405020304" pitchFamily="18" charset="0"/>
              </a:rPr>
              <a:t>num_cols</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df.select_dtypes</a:t>
            </a:r>
            <a:r>
              <a:rPr lang="en-US" sz="1600" dirty="0">
                <a:latin typeface="Times New Roman" panose="02020603050405020304" pitchFamily="18" charset="0"/>
                <a:cs typeface="Times New Roman" panose="02020603050405020304" pitchFamily="18" charset="0"/>
              </a:rPr>
              <a:t>(include=['float64', 'int64']).columns- You fill </a:t>
            </a:r>
            <a:r>
              <a:rPr lang="en-US" sz="1600" dirty="0" err="1">
                <a:latin typeface="Times New Roman" panose="02020603050405020304" pitchFamily="18" charset="0"/>
                <a:cs typeface="Times New Roman" panose="02020603050405020304" pitchFamily="18" charset="0"/>
              </a:rPr>
              <a:t>NaNs</a:t>
            </a:r>
            <a:r>
              <a:rPr lang="en-US" sz="1600" dirty="0">
                <a:latin typeface="Times New Roman" panose="02020603050405020304" pitchFamily="18" charset="0"/>
                <a:cs typeface="Times New Roman" panose="02020603050405020304" pitchFamily="18" charset="0"/>
              </a:rPr>
              <a:t> in numeric columns with the column median: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num_cols</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num_cols</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fillna</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df</a:t>
            </a:r>
            <a:r>
              <a:rPr lang="en-US" sz="1600" dirty="0">
                <a:latin typeface="Times New Roman" panose="02020603050405020304" pitchFamily="18" charset="0"/>
                <a:cs typeface="Times New Roman" panose="02020603050405020304" pitchFamily="18" charset="0"/>
              </a:rPr>
              <a:t>[</a:t>
            </a:r>
            <a:r>
              <a:rPr lang="en-US" sz="1600" dirty="0" err="1">
                <a:latin typeface="Times New Roman" panose="02020603050405020304" pitchFamily="18" charset="0"/>
                <a:cs typeface="Times New Roman" panose="02020603050405020304" pitchFamily="18" charset="0"/>
              </a:rPr>
              <a:t>num_cols</a:t>
            </a:r>
            <a:r>
              <a:rPr lang="en-US" sz="1600" dirty="0">
                <a:latin typeface="Times New Roman" panose="02020603050405020304" pitchFamily="18" charset="0"/>
                <a:cs typeface="Times New Roman" panose="02020603050405020304" pitchFamily="18" charset="0"/>
              </a:rPr>
              <a:t>].median())- You drop rows that still have too many </a:t>
            </a:r>
            <a:r>
              <a:rPr lang="en-US" sz="1600" dirty="0" err="1">
                <a:latin typeface="Times New Roman" panose="02020603050405020304" pitchFamily="18" charset="0"/>
                <a:cs typeface="Times New Roman" panose="02020603050405020304" pitchFamily="18" charset="0"/>
              </a:rPr>
              <a:t>NaNs</a:t>
            </a:r>
            <a:r>
              <a:rPr lang="en-US" sz="1600" dirty="0">
                <a:latin typeface="Times New Roman" panose="02020603050405020304" pitchFamily="18" charset="0"/>
                <a:cs typeface="Times New Roman" panose="02020603050405020304" pitchFamily="18" charset="0"/>
              </a:rPr>
              <a:t>: - </a:t>
            </a:r>
            <a:r>
              <a:rPr lang="en-US" sz="1600" dirty="0" err="1">
                <a:latin typeface="Times New Roman" panose="02020603050405020304" pitchFamily="18" charset="0"/>
                <a:cs typeface="Times New Roman" panose="02020603050405020304" pitchFamily="18" charset="0"/>
              </a:rPr>
              <a:t>df.dropna</a:t>
            </a:r>
            <a:r>
              <a:rPr lang="en-US" sz="1600" dirty="0">
                <a:latin typeface="Times New Roman" panose="02020603050405020304" pitchFamily="18" charset="0"/>
                <a:cs typeface="Times New Roman" panose="02020603050405020304" pitchFamily="18" charset="0"/>
              </a:rPr>
              <a:t>(thresh=int(0.8 * </a:t>
            </a:r>
            <a:r>
              <a:rPr lang="en-US" sz="1600" dirty="0" err="1">
                <a:latin typeface="Times New Roman" panose="02020603050405020304" pitchFamily="18" charset="0"/>
                <a:cs typeface="Times New Roman" panose="02020603050405020304" pitchFamily="18" charset="0"/>
              </a:rPr>
              <a:t>df.shape</a:t>
            </a:r>
            <a:r>
              <a:rPr lang="en-US" sz="1600" dirty="0">
                <a:latin typeface="Times New Roman" panose="02020603050405020304" pitchFamily="18" charset="0"/>
                <a:cs typeface="Times New Roman" panose="02020603050405020304" pitchFamily="18" charset="0"/>
              </a:rPr>
              <a:t>[1]),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You print the new shape.- Purpose: - Ensures the dataset has no infinite values and handles missing data in a robust way, mainly using median imputation for numerical features and dropping rows that are too incomplete. </a:t>
            </a:r>
          </a:p>
          <a:p>
            <a:pPr marL="0" indent="0" algn="just">
              <a:buNone/>
            </a:pPr>
            <a:r>
              <a:rPr lang="en-US" sz="1600" b="1" dirty="0">
                <a:latin typeface="Times New Roman" panose="02020603050405020304" pitchFamily="18" charset="0"/>
                <a:cs typeface="Times New Roman" panose="02020603050405020304" pitchFamily="18" charset="0"/>
              </a:rPr>
              <a:t>7. Dropping </a:t>
            </a:r>
            <a:r>
              <a:rPr lang="en-US" sz="1600" b="1" dirty="0" err="1">
                <a:latin typeface="Times New Roman" panose="02020603050405020304" pitchFamily="18" charset="0"/>
                <a:cs typeface="Times New Roman" panose="02020603050405020304" pitchFamily="18" charset="0"/>
              </a:rPr>
              <a:t>SourceFile</a:t>
            </a:r>
            <a:r>
              <a:rPr lang="en-US" sz="1600" b="1" dirty="0">
                <a:latin typeface="Times New Roman" panose="02020603050405020304" pitchFamily="18" charset="0"/>
                <a:cs typeface="Times New Roman" panose="02020603050405020304" pitchFamily="18" charset="0"/>
              </a:rPr>
              <a:t> Column (If Present)- </a:t>
            </a:r>
            <a:r>
              <a:rPr lang="en-US" sz="1600" dirty="0">
                <a:latin typeface="Times New Roman" panose="02020603050405020304" pitchFamily="18" charset="0"/>
                <a:cs typeface="Times New Roman" panose="02020603050405020304" pitchFamily="18" charset="0"/>
              </a:rPr>
              <a:t>check if the '</a:t>
            </a:r>
            <a:r>
              <a:rPr lang="en-US" sz="1600" dirty="0" err="1">
                <a:latin typeface="Times New Roman" panose="02020603050405020304" pitchFamily="18" charset="0"/>
                <a:cs typeface="Times New Roman" panose="02020603050405020304" pitchFamily="18" charset="0"/>
              </a:rPr>
              <a:t>SourceFile</a:t>
            </a:r>
            <a:r>
              <a:rPr lang="en-US" sz="1600" dirty="0">
                <a:latin typeface="Times New Roman" panose="02020603050405020304" pitchFamily="18" charset="0"/>
                <a:cs typeface="Times New Roman" panose="02020603050405020304" pitchFamily="18" charset="0"/>
              </a:rPr>
              <a:t>' column exists and drop it: - if '</a:t>
            </a:r>
            <a:r>
              <a:rPr lang="en-US" sz="1600" dirty="0" err="1">
                <a:latin typeface="Times New Roman" panose="02020603050405020304" pitchFamily="18" charset="0"/>
                <a:cs typeface="Times New Roman" panose="02020603050405020304" pitchFamily="18" charset="0"/>
              </a:rPr>
              <a:t>SourceFile</a:t>
            </a:r>
            <a:r>
              <a:rPr lang="en-US" sz="1600" dirty="0">
                <a:latin typeface="Times New Roman" panose="02020603050405020304" pitchFamily="18" charset="0"/>
                <a:cs typeface="Times New Roman" panose="02020603050405020304" pitchFamily="18" charset="0"/>
              </a:rPr>
              <a:t>' in </a:t>
            </a:r>
            <a:r>
              <a:rPr lang="en-US" sz="1600" dirty="0" err="1">
                <a:latin typeface="Times New Roman" panose="02020603050405020304" pitchFamily="18" charset="0"/>
                <a:cs typeface="Times New Roman" panose="02020603050405020304" pitchFamily="18" charset="0"/>
              </a:rPr>
              <a:t>df.columns</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df.drop</a:t>
            </a:r>
            <a:r>
              <a:rPr lang="en-US" sz="1600" dirty="0">
                <a:latin typeface="Times New Roman" panose="02020603050405020304" pitchFamily="18" charset="0"/>
                <a:cs typeface="Times New Roman" panose="02020603050405020304" pitchFamily="18" charset="0"/>
              </a:rPr>
              <a:t>(columns=['</a:t>
            </a:r>
            <a:r>
              <a:rPr lang="en-US" sz="1600" dirty="0" err="1">
                <a:latin typeface="Times New Roman" panose="02020603050405020304" pitchFamily="18" charset="0"/>
                <a:cs typeface="Times New Roman" panose="02020603050405020304" pitchFamily="18" charset="0"/>
              </a:rPr>
              <a:t>SourceFile</a:t>
            </a:r>
            <a:r>
              <a:rPr lang="en-US" sz="1600" dirty="0">
                <a:latin typeface="Times New Roman" panose="02020603050405020304" pitchFamily="18" charset="0"/>
                <a:cs typeface="Times New Roman" panose="02020603050405020304" pitchFamily="18" charset="0"/>
              </a:rPr>
              <a:t>'], </a:t>
            </a:r>
            <a:r>
              <a:rPr lang="en-US" sz="1600" dirty="0" err="1">
                <a:latin typeface="Times New Roman" panose="02020603050405020304" pitchFamily="18" charset="0"/>
                <a:cs typeface="Times New Roman" panose="02020603050405020304" pitchFamily="18" charset="0"/>
              </a:rPr>
              <a:t>inplace</a:t>
            </a:r>
            <a:r>
              <a:rPr lang="en-US" sz="1600" dirty="0">
                <a:latin typeface="Times New Roman" panose="02020603050405020304" pitchFamily="18" charset="0"/>
                <a:cs typeface="Times New Roman" panose="02020603050405020304" pitchFamily="18" charset="0"/>
              </a:rPr>
              <a:t>=True)- Purpose: - Removes another non-essential identifier column that is not needed for modeling.</a:t>
            </a:r>
            <a:endParaRPr lang="en-US" sz="16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43AD14E-F5A1-0FF4-0F44-22F3528C3282}"/>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FF38F802-8B89-22DB-AF49-DA2180CAFC48}"/>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8B0F59C-2CA7-175F-EA3E-A1A3C4F66891}"/>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19</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69579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B21C9-3C11-B494-7890-8900CBE8B9F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8AFD2B4-09FC-77BF-CE34-1CEAE556D853}"/>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D6F9AB6B-40A9-4DDE-F2E9-4CC69FB69B0D}"/>
              </a:ext>
            </a:extLst>
          </p:cNvPr>
          <p:cNvSpPr>
            <a:spLocks noGrp="1"/>
          </p:cNvSpPr>
          <p:nvPr>
            <p:ph idx="1"/>
          </p:nvPr>
        </p:nvSpPr>
        <p:spPr>
          <a:xfrm>
            <a:off x="502138" y="1493134"/>
            <a:ext cx="10515600" cy="4351338"/>
          </a:xfrm>
        </p:spPr>
        <p:txBody>
          <a:bodyPr>
            <a:normAutofit/>
          </a:bodyPr>
          <a:lstStyle/>
          <a:p>
            <a:pPr marL="0" indent="0" algn="ctr">
              <a:buNone/>
            </a:pPr>
            <a:r>
              <a:rPr lang="en-US" sz="1800" b="1" dirty="0">
                <a:latin typeface="Times New Roman" panose="02020603050405020304" pitchFamily="18" charset="0"/>
                <a:cs typeface="Times New Roman" panose="02020603050405020304" pitchFamily="18" charset="0"/>
              </a:rPr>
              <a:t>PRE-PROCESSING</a:t>
            </a:r>
          </a:p>
          <a:p>
            <a:pPr marL="0" indent="0" algn="ctr">
              <a:buNone/>
            </a:pPr>
            <a:endParaRPr lang="en-U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EA89B5FE-E77C-5BD6-FF7F-2C61C2953EBA}"/>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1045A118-D297-9DC1-ABB5-5EA891D764E7}"/>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34EBC2A7-F02C-936B-F286-EC0DD283BF48}"/>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F0216ED-A06E-3B4A-3C8E-14DB402A9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38" y="2152191"/>
            <a:ext cx="5395428" cy="3139076"/>
          </a:xfrm>
          <a:prstGeom prst="rect">
            <a:avLst/>
          </a:prstGeom>
        </p:spPr>
      </p:pic>
      <p:pic>
        <p:nvPicPr>
          <p:cNvPr id="10" name="Picture 9">
            <a:extLst>
              <a:ext uri="{FF2B5EF4-FFF2-40B4-BE49-F238E27FC236}">
                <a16:creationId xmlns:a16="http://schemas.microsoft.com/office/drawing/2014/main" id="{EB9D665A-5F0A-2618-F419-F17EA8BB47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152191"/>
            <a:ext cx="5395428" cy="2910003"/>
          </a:xfrm>
          <a:prstGeom prst="rect">
            <a:avLst/>
          </a:prstGeom>
        </p:spPr>
      </p:pic>
    </p:spTree>
    <p:extLst>
      <p:ext uri="{BB962C8B-B14F-4D97-AF65-F5344CB8AC3E}">
        <p14:creationId xmlns:p14="http://schemas.microsoft.com/office/powerpoint/2010/main" val="19605802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62CAF-4AA0-547A-729F-15B19128AA3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3BFB7CC-B75B-EBB0-7CB5-3D315155BDA2}"/>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0555998B-7749-8D0E-995E-1E313FD6A0B4}"/>
              </a:ext>
            </a:extLst>
          </p:cNvPr>
          <p:cNvSpPr>
            <a:spLocks noGrp="1"/>
          </p:cNvSpPr>
          <p:nvPr>
            <p:ph idx="1"/>
          </p:nvPr>
        </p:nvSpPr>
        <p:spPr>
          <a:xfrm>
            <a:off x="502138" y="1493134"/>
            <a:ext cx="10515600" cy="4351338"/>
          </a:xfrm>
        </p:spPr>
        <p:txBody>
          <a:bodyPr>
            <a:normAutofit fontScale="92500" lnSpcReduction="10000"/>
          </a:bodyPr>
          <a:lstStyle/>
          <a:p>
            <a:pPr marL="0" indent="0" algn="just">
              <a:buNone/>
            </a:pPr>
            <a:r>
              <a:rPr lang="en-US" sz="1800" b="1" dirty="0">
                <a:latin typeface="Times New Roman" panose="02020603050405020304" pitchFamily="18" charset="0"/>
                <a:cs typeface="Times New Roman" panose="02020603050405020304" pitchFamily="18" charset="0"/>
              </a:rPr>
              <a:t>8. Labelling: </a:t>
            </a:r>
            <a:r>
              <a:rPr lang="en-US" sz="1800" dirty="0">
                <a:latin typeface="Times New Roman" panose="02020603050405020304" pitchFamily="18" charset="0"/>
                <a:cs typeface="Times New Roman" panose="02020603050405020304" pitchFamily="18" charset="0"/>
              </a:rPr>
              <a:t>You create a new column </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based on the original ' Label' column: - </a:t>
            </a:r>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 Label'].apply(lambda x: 0 if </a:t>
            </a:r>
            <a:r>
              <a:rPr lang="en-US" sz="1800" dirty="0" err="1">
                <a:latin typeface="Times New Roman" panose="02020603050405020304" pitchFamily="18" charset="0"/>
                <a:cs typeface="Times New Roman" panose="02020603050405020304" pitchFamily="18" charset="0"/>
              </a:rPr>
              <a:t>x.strip</a:t>
            </a:r>
            <a:r>
              <a:rPr lang="en-US" sz="1800" dirty="0">
                <a:latin typeface="Times New Roman" panose="02020603050405020304" pitchFamily="18" charset="0"/>
                <a:cs typeface="Times New Roman" panose="02020603050405020304" pitchFamily="18" charset="0"/>
              </a:rPr>
              <a:t>().upper() == 'BENIGN' else 1)- You drop the original ' Label' column: - </a:t>
            </a:r>
            <a:r>
              <a:rPr lang="en-US" sz="1800" dirty="0" err="1">
                <a:latin typeface="Times New Roman" panose="02020603050405020304" pitchFamily="18" charset="0"/>
                <a:cs typeface="Times New Roman" panose="02020603050405020304" pitchFamily="18" charset="0"/>
              </a:rPr>
              <a:t>df.drop</a:t>
            </a:r>
            <a:r>
              <a:rPr lang="en-US" sz="1800" dirty="0">
                <a:latin typeface="Times New Roman" panose="02020603050405020304" pitchFamily="18" charset="0"/>
                <a:cs typeface="Times New Roman" panose="02020603050405020304" pitchFamily="18" charset="0"/>
              </a:rPr>
              <a:t>(columns=[' Label'], </a:t>
            </a:r>
            <a:r>
              <a:rPr lang="en-US" sz="1800" dirty="0" err="1">
                <a:latin typeface="Times New Roman" panose="02020603050405020304" pitchFamily="18" charset="0"/>
                <a:cs typeface="Times New Roman" panose="02020603050405020304" pitchFamily="18" charset="0"/>
              </a:rPr>
              <a:t>inplace</a:t>
            </a:r>
            <a:r>
              <a:rPr lang="en-US" sz="1800" dirty="0">
                <a:latin typeface="Times New Roman" panose="02020603050405020304" pitchFamily="18" charset="0"/>
                <a:cs typeface="Times New Roman" panose="02020603050405020304" pitchFamily="18" charset="0"/>
              </a:rPr>
              <a:t>=True)- You print the class distribution of </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Purpose: - Converts the multi-class labels into a binary label where: - 0 = BENIGN traffic - 1 = any kind of attack - This simplifies the problem to a binary intrusion detection task. </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9. Normalization and Saving of Binary Dataset- </a:t>
            </a:r>
            <a:r>
              <a:rPr lang="en-US" sz="1800" dirty="0">
                <a:latin typeface="Times New Roman" panose="02020603050405020304" pitchFamily="18" charset="0"/>
                <a:cs typeface="Times New Roman" panose="02020603050405020304" pitchFamily="18" charset="0"/>
              </a:rPr>
              <a:t>Although the exact scaling code is not shown in your snippet, you: - Use </a:t>
            </a:r>
            <a:r>
              <a:rPr lang="en-US" sz="1800" dirty="0" err="1">
                <a:latin typeface="Times New Roman" panose="02020603050405020304" pitchFamily="18" charset="0"/>
                <a:cs typeface="Times New Roman" panose="02020603050405020304" pitchFamily="18" charset="0"/>
              </a:rPr>
              <a:t>MinMaxScaler</a:t>
            </a:r>
            <a:r>
              <a:rPr lang="en-US" sz="1800" dirty="0">
                <a:latin typeface="Times New Roman" panose="02020603050405020304" pitchFamily="18" charset="0"/>
                <a:cs typeface="Times New Roman" panose="02020603050405020304" pitchFamily="18" charset="0"/>
              </a:rPr>
              <a:t> to scale features (most likely between 0 and 1) into a new </a:t>
            </a:r>
            <a:r>
              <a:rPr lang="en-US" sz="1800" dirty="0" err="1">
                <a:latin typeface="Times New Roman" panose="02020603050405020304" pitchFamily="18" charset="0"/>
                <a:cs typeface="Times New Roman" panose="02020603050405020304" pitchFamily="18" charset="0"/>
              </a:rPr>
              <a:t>DataFrame</a:t>
            </a:r>
            <a:r>
              <a:rPr lang="en-US" sz="1800" dirty="0">
                <a:latin typeface="Times New Roman" panose="02020603050405020304" pitchFamily="18" charset="0"/>
                <a:cs typeface="Times New Roman" panose="02020603050405020304" pitchFamily="18" charset="0"/>
              </a:rPr>
              <a:t>, often called </a:t>
            </a:r>
            <a:r>
              <a:rPr lang="en-US" sz="1800" dirty="0" err="1">
                <a:latin typeface="Times New Roman" panose="02020603050405020304" pitchFamily="18" charset="0"/>
                <a:cs typeface="Times New Roman" panose="02020603050405020304" pitchFamily="18" charset="0"/>
              </a:rPr>
              <a:t>scaled_df</a:t>
            </a:r>
            <a:r>
              <a:rPr lang="en-US" sz="1800" dirty="0">
                <a:latin typeface="Times New Roman" panose="02020603050405020304" pitchFamily="18" charset="0"/>
                <a:cs typeface="Times New Roman" panose="02020603050405020304" pitchFamily="18" charset="0"/>
              </a:rPr>
              <a:t>. - Save the scaled binary-labeled dataset: - </a:t>
            </a:r>
            <a:r>
              <a:rPr lang="en-US" sz="1800" dirty="0" err="1">
                <a:latin typeface="Times New Roman" panose="02020603050405020304" pitchFamily="18" charset="0"/>
                <a:cs typeface="Times New Roman" panose="02020603050405020304" pitchFamily="18" charset="0"/>
              </a:rPr>
              <a:t>save_path</a:t>
            </a:r>
            <a:r>
              <a:rPr lang="en-US" sz="1800" dirty="0">
                <a:latin typeface="Times New Roman" panose="02020603050405020304" pitchFamily="18" charset="0"/>
                <a:cs typeface="Times New Roman" panose="02020603050405020304" pitchFamily="18" charset="0"/>
              </a:rPr>
              <a:t> = '/content/drive/</a:t>
            </a:r>
            <a:r>
              <a:rPr lang="en-US" sz="1800" dirty="0" err="1">
                <a:latin typeface="Times New Roman" panose="02020603050405020304" pitchFamily="18" charset="0"/>
                <a:cs typeface="Times New Roman" panose="02020603050405020304" pitchFamily="18" charset="0"/>
              </a:rPr>
              <a:t>MyDrive</a:t>
            </a:r>
            <a:r>
              <a:rPr lang="en-US" sz="1800" dirty="0">
                <a:latin typeface="Times New Roman" panose="02020603050405020304" pitchFamily="18" charset="0"/>
                <a:cs typeface="Times New Roman" panose="02020603050405020304" pitchFamily="18" charset="0"/>
              </a:rPr>
              <a:t>/Project/Datasets/binary classification datasets/cicids_binary.csv' - </a:t>
            </a:r>
            <a:r>
              <a:rPr lang="en-US" sz="1800" dirty="0" err="1">
                <a:latin typeface="Times New Roman" panose="02020603050405020304" pitchFamily="18" charset="0"/>
                <a:cs typeface="Times New Roman" panose="02020603050405020304" pitchFamily="18" charset="0"/>
              </a:rPr>
              <a:t>scaled_df.to_csv</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save_path</a:t>
            </a:r>
            <a:r>
              <a:rPr lang="en-US" sz="1800" dirty="0">
                <a:latin typeface="Times New Roman" panose="02020603050405020304" pitchFamily="18" charset="0"/>
                <a:cs typeface="Times New Roman" panose="02020603050405020304" pitchFamily="18" charset="0"/>
              </a:rPr>
              <a:t>, index=False)- Purpose: - Creates a normalized, binary-labeled dataset for later feature selection (MRMR) and modeling. </a:t>
            </a:r>
            <a:endParaRPr lang="en-US" sz="16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2DB8176-70C6-293C-9250-B9097E36C0C6}"/>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DD2F14D2-1FCF-A270-493A-65F1874C9C00}"/>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9A538630-31A0-F41C-FDB8-559363266365}"/>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D2B55132-7155-23D9-5DC9-E7D26FC10E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8443" y="2637832"/>
            <a:ext cx="4994247" cy="1858754"/>
          </a:xfrm>
          <a:prstGeom prst="rect">
            <a:avLst/>
          </a:prstGeom>
        </p:spPr>
      </p:pic>
    </p:spTree>
    <p:extLst>
      <p:ext uri="{BB962C8B-B14F-4D97-AF65-F5344CB8AC3E}">
        <p14:creationId xmlns:p14="http://schemas.microsoft.com/office/powerpoint/2010/main" val="1920538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3594F-E48F-46E4-2F3E-3914BE08890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0D9B73F-85B4-966F-77D1-FE7F5C6F83C1}"/>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3FABC6E0-7E18-E9D1-0FB8-EE81E4C2485F}"/>
              </a:ext>
            </a:extLst>
          </p:cNvPr>
          <p:cNvSpPr>
            <a:spLocks noGrp="1"/>
          </p:cNvSpPr>
          <p:nvPr>
            <p:ph idx="1"/>
          </p:nvPr>
        </p:nvSpPr>
        <p:spPr>
          <a:xfrm>
            <a:off x="502138" y="1493134"/>
            <a:ext cx="10515600" cy="4351338"/>
          </a:xfrm>
        </p:spPr>
        <p:txBody>
          <a:bodyPr>
            <a:normAutofit/>
          </a:bodyPr>
          <a:lstStyle/>
          <a:p>
            <a:pPr marL="0" indent="0" algn="ctr">
              <a:buNone/>
            </a:pPr>
            <a:r>
              <a:rPr lang="en-US" sz="1800" b="1" dirty="0">
                <a:latin typeface="Times New Roman" panose="02020603050405020304" pitchFamily="18" charset="0"/>
                <a:cs typeface="Times New Roman" panose="02020603050405020304" pitchFamily="18" charset="0"/>
              </a:rPr>
              <a:t>FEATURE SELECTION</a:t>
            </a:r>
          </a:p>
          <a:p>
            <a:pPr marL="0" indent="0" algn="just">
              <a:buNone/>
            </a:pPr>
            <a:r>
              <a:rPr lang="en-US" sz="1800" b="1" dirty="0">
                <a:latin typeface="Times New Roman" panose="02020603050405020304" pitchFamily="18" charset="0"/>
                <a:cs typeface="Times New Roman" panose="02020603050405020304" pitchFamily="18" charset="0"/>
              </a:rPr>
              <a:t>10. Installing MRMR Feature Selection Library- </a:t>
            </a:r>
            <a:r>
              <a:rPr lang="en-US" sz="1800" dirty="0">
                <a:latin typeface="Times New Roman" panose="02020603050405020304" pitchFamily="18" charset="0"/>
                <a:cs typeface="Times New Roman" panose="02020603050405020304" pitchFamily="18" charset="0"/>
              </a:rPr>
              <a:t>You install </a:t>
            </a:r>
            <a:r>
              <a:rPr lang="en-US" sz="1800" dirty="0" err="1">
                <a:latin typeface="Times New Roman" panose="02020603050405020304" pitchFamily="18" charset="0"/>
                <a:cs typeface="Times New Roman" panose="02020603050405020304" pitchFamily="18" charset="0"/>
              </a:rPr>
              <a:t>mrmr_selection</a:t>
            </a:r>
            <a:r>
              <a:rPr lang="en-US" sz="1800" dirty="0">
                <a:latin typeface="Times New Roman" panose="02020603050405020304" pitchFamily="18" charset="0"/>
                <a:cs typeface="Times New Roman" panose="02020603050405020304" pitchFamily="18" charset="0"/>
              </a:rPr>
              <a:t>: - !pip install </a:t>
            </a:r>
            <a:r>
              <a:rPr lang="en-US" sz="1800" dirty="0" err="1">
                <a:latin typeface="Times New Roman" panose="02020603050405020304" pitchFamily="18" charset="0"/>
                <a:cs typeface="Times New Roman" panose="02020603050405020304" pitchFamily="18" charset="0"/>
              </a:rPr>
              <a:t>mrmr_selection</a:t>
            </a:r>
            <a:r>
              <a:rPr lang="en-US" sz="1800" dirty="0">
                <a:latin typeface="Times New Roman" panose="02020603050405020304" pitchFamily="18" charset="0"/>
                <a:cs typeface="Times New Roman" panose="02020603050405020304" pitchFamily="18" charset="0"/>
              </a:rPr>
              <a:t>- Purpose: - Adds the </a:t>
            </a:r>
            <a:r>
              <a:rPr lang="en-US" sz="1800" dirty="0" err="1">
                <a:latin typeface="Times New Roman" panose="02020603050405020304" pitchFamily="18" charset="0"/>
                <a:cs typeface="Times New Roman" panose="02020603050405020304" pitchFamily="18" charset="0"/>
              </a:rPr>
              <a:t>mRMR</a:t>
            </a:r>
            <a:r>
              <a:rPr lang="en-US" sz="1800" dirty="0">
                <a:latin typeface="Times New Roman" panose="02020603050405020304" pitchFamily="18" charset="0"/>
                <a:cs typeface="Times New Roman" panose="02020603050405020304" pitchFamily="18" charset="0"/>
              </a:rPr>
              <a:t> (Minimum Redundancy Maximum Relevance) feature selection method to your environment</a:t>
            </a:r>
          </a:p>
          <a:p>
            <a:pPr marL="0" indent="0" algn="just">
              <a:buNone/>
            </a:pPr>
            <a:r>
              <a:rPr lang="en-US" sz="1800" b="1" dirty="0">
                <a:latin typeface="Times New Roman" panose="02020603050405020304" pitchFamily="18" charset="0"/>
                <a:cs typeface="Times New Roman" panose="02020603050405020304" pitchFamily="18" charset="0"/>
              </a:rPr>
              <a:t>11. Applying MRMR to Select Top 30 Features- </a:t>
            </a:r>
            <a:r>
              <a:rPr lang="en-US" sz="1800" dirty="0">
                <a:latin typeface="Times New Roman" panose="02020603050405020304" pitchFamily="18" charset="0"/>
                <a:cs typeface="Times New Roman" panose="02020603050405020304" pitchFamily="18" charset="0"/>
              </a:rPr>
              <a:t>You separate features and target: - X = </a:t>
            </a:r>
            <a:r>
              <a:rPr lang="en-US" sz="1800" dirty="0" err="1">
                <a:latin typeface="Times New Roman" panose="02020603050405020304" pitchFamily="18" charset="0"/>
                <a:cs typeface="Times New Roman" panose="02020603050405020304" pitchFamily="18" charset="0"/>
              </a:rPr>
              <a:t>df.drop</a:t>
            </a:r>
            <a:r>
              <a:rPr lang="en-US" sz="1800" dirty="0">
                <a:latin typeface="Times New Roman" panose="02020603050405020304" pitchFamily="18" charset="0"/>
                <a:cs typeface="Times New Roman" panose="02020603050405020304" pitchFamily="18" charset="0"/>
              </a:rPr>
              <a:t>(columns=['</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 y = </a:t>
            </a:r>
            <a:r>
              <a:rPr lang="en-US" sz="1800" dirty="0" err="1">
                <a:latin typeface="Times New Roman" panose="02020603050405020304" pitchFamily="18" charset="0"/>
                <a:cs typeface="Times New Roman" panose="02020603050405020304" pitchFamily="18" charset="0"/>
              </a:rPr>
              <a:t>df</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You run MRMR: - </a:t>
            </a:r>
            <a:r>
              <a:rPr lang="en-US" sz="1800" dirty="0" err="1">
                <a:latin typeface="Times New Roman" panose="02020603050405020304" pitchFamily="18" charset="0"/>
                <a:cs typeface="Times New Roman" panose="02020603050405020304" pitchFamily="18" charset="0"/>
              </a:rPr>
              <a:t>selected_features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mrmr_classif</a:t>
            </a:r>
            <a:r>
              <a:rPr lang="en-US" sz="1800" dirty="0">
                <a:latin typeface="Times New Roman" panose="02020603050405020304" pitchFamily="18" charset="0"/>
                <a:cs typeface="Times New Roman" panose="02020603050405020304" pitchFamily="18" charset="0"/>
              </a:rPr>
              <a:t>(</a:t>
            </a:r>
            <a:r>
              <a:rPr lang="es-ES" sz="1800" dirty="0">
                <a:latin typeface="Times New Roman" panose="02020603050405020304" pitchFamily="18" charset="0"/>
                <a:cs typeface="Times New Roman" panose="02020603050405020304" pitchFamily="18" charset="0"/>
              </a:rPr>
              <a:t>X=X, y=y, K=30)</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selected_features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mrmr_classif</a:t>
            </a:r>
            <a:r>
              <a:rPr lang="en-US" sz="1800" dirty="0">
                <a:latin typeface="Times New Roman" panose="02020603050405020304" pitchFamily="18" charset="0"/>
                <a:cs typeface="Times New Roman" panose="02020603050405020304" pitchFamily="18" charset="0"/>
              </a:rPr>
              <a:t>(X=X, y=y, K=30)- You print the list of top 30 features. - Purpose: - Selects 30 features that are highly relevant to the target (</a:t>
            </a:r>
            <a:r>
              <a:rPr lang="en-US" sz="1800" dirty="0" err="1">
                <a:latin typeface="Times New Roman" panose="02020603050405020304" pitchFamily="18" charset="0"/>
                <a:cs typeface="Times New Roman" panose="02020603050405020304" pitchFamily="18" charset="0"/>
              </a:rPr>
              <a:t>Binary_Label</a:t>
            </a:r>
            <a:r>
              <a:rPr lang="en-US" sz="1800" dirty="0">
                <a:latin typeface="Times New Roman" panose="02020603050405020304" pitchFamily="18" charset="0"/>
                <a:cs typeface="Times New Roman" panose="02020603050405020304" pitchFamily="18" charset="0"/>
              </a:rPr>
              <a:t>) while being minimally redundant with each other, improving model efficiency and performance.</a:t>
            </a:r>
          </a:p>
          <a:p>
            <a:pPr marL="0" indent="0" algn="just">
              <a:buNone/>
            </a:pPr>
            <a:endParaRPr lang="es-ES"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F423DFD-0448-D3CC-BC5E-990CF53FFE11}"/>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DD6F196F-4909-BF72-E09C-4F774CFC125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668CCA54-7E12-D4B7-F541-8AD4F923B6DC}"/>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8ED1878-A8FE-83F0-61F7-90D25BDD02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79048" y="4081806"/>
            <a:ext cx="4633904" cy="2274544"/>
          </a:xfrm>
          <a:prstGeom prst="rect">
            <a:avLst/>
          </a:prstGeom>
        </p:spPr>
      </p:pic>
    </p:spTree>
    <p:extLst>
      <p:ext uri="{BB962C8B-B14F-4D97-AF65-F5344CB8AC3E}">
        <p14:creationId xmlns:p14="http://schemas.microsoft.com/office/powerpoint/2010/main" val="270790834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27D158-6EAB-44B2-10A7-C690B4089F94}"/>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9A8E4D32-39FA-4816-A604-6E3A9AA3FC6F}"/>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D1F5550A-60B0-AFDB-BA6E-011B1408D4BE}"/>
              </a:ext>
            </a:extLst>
          </p:cNvPr>
          <p:cNvSpPr>
            <a:spLocks noGrp="1"/>
          </p:cNvSpPr>
          <p:nvPr>
            <p:ph idx="1"/>
          </p:nvPr>
        </p:nvSpPr>
        <p:spPr>
          <a:xfrm>
            <a:off x="502138" y="1264535"/>
            <a:ext cx="10515600" cy="5091816"/>
          </a:xfrm>
        </p:spPr>
        <p:txBody>
          <a:bodyPr>
            <a:normAutofit/>
          </a:bodyPr>
          <a:lstStyle/>
          <a:p>
            <a:pPr marL="0" indent="0" algn="just">
              <a:buNone/>
            </a:pPr>
            <a:r>
              <a:rPr lang="en-US" sz="1800" b="1" dirty="0">
                <a:latin typeface="Times New Roman" panose="02020603050405020304" pitchFamily="18" charset="0"/>
                <a:cs typeface="Times New Roman" panose="02020603050405020304" pitchFamily="18" charset="0"/>
              </a:rPr>
              <a:t>12. Train-Test Split (80% Train, 20% Test)- </a:t>
            </a:r>
            <a:r>
              <a:rPr lang="en-US" sz="1800" dirty="0">
                <a:latin typeface="Times New Roman" panose="02020603050405020304" pitchFamily="18" charset="0"/>
                <a:cs typeface="Times New Roman" panose="02020603050405020304" pitchFamily="18" charset="0"/>
              </a:rPr>
              <a:t>perform a stratified train-test split: - </a:t>
            </a:r>
            <a:r>
              <a:rPr lang="en-US" sz="1800" dirty="0" err="1">
                <a:latin typeface="Times New Roman" panose="02020603050405020304" pitchFamily="18" charset="0"/>
                <a:cs typeface="Times New Roman" panose="02020603050405020304" pitchFamily="18" charset="0"/>
              </a:rPr>
              <a:t>X_train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y_train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y_test</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train_test_split</a:t>
            </a:r>
            <a:r>
              <a:rPr lang="en-US" sz="1800" dirty="0">
                <a:latin typeface="Times New Roman" panose="02020603050405020304" pitchFamily="18" charset="0"/>
                <a:cs typeface="Times New Roman" panose="02020603050405020304" pitchFamily="18" charset="0"/>
              </a:rPr>
              <a:t>( X, y, </a:t>
            </a:r>
            <a:r>
              <a:rPr lang="en-US" sz="1800" dirty="0" err="1">
                <a:latin typeface="Times New Roman" panose="02020603050405020304" pitchFamily="18" charset="0"/>
                <a:cs typeface="Times New Roman" panose="02020603050405020304" pitchFamily="18" charset="0"/>
              </a:rPr>
              <a:t>test_size</a:t>
            </a:r>
            <a:r>
              <a:rPr lang="en-US" sz="1800" dirty="0">
                <a:latin typeface="Times New Roman" panose="02020603050405020304" pitchFamily="18" charset="0"/>
                <a:cs typeface="Times New Roman" panose="02020603050405020304" pitchFamily="18" charset="0"/>
              </a:rPr>
              <a:t>=0.25, stratify=y, </a:t>
            </a:r>
            <a:r>
              <a:rPr lang="en-US" sz="1800" dirty="0" err="1">
                <a:latin typeface="Times New Roman" panose="02020603050405020304" pitchFamily="18" charset="0"/>
                <a:cs typeface="Times New Roman" panose="02020603050405020304" pitchFamily="18" charset="0"/>
              </a:rPr>
              <a:t>random_state</a:t>
            </a:r>
            <a:r>
              <a:rPr lang="en-US" sz="1800" dirty="0">
                <a:latin typeface="Times New Roman" panose="02020603050405020304" pitchFamily="18" charset="0"/>
                <a:cs typeface="Times New Roman" panose="02020603050405020304" pitchFamily="18" charset="0"/>
              </a:rPr>
              <a:t>=42 )- You print shapes of train and test sets.- Purpose: - Creates training and test sets while preserving the original class distribution</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ctr">
              <a:buNone/>
            </a:pPr>
            <a:r>
              <a:rPr lang="en-US" sz="1800" b="1" dirty="0">
                <a:latin typeface="Times New Roman" panose="02020603050405020304" pitchFamily="18" charset="0"/>
                <a:cs typeface="Times New Roman" panose="02020603050405020304" pitchFamily="18" charset="0"/>
              </a:rPr>
              <a:t>MODEL TRAINING</a:t>
            </a:r>
          </a:p>
          <a:p>
            <a:pPr marL="0" indent="0" algn="just">
              <a:buNone/>
            </a:pPr>
            <a:r>
              <a:rPr lang="en-US" sz="1800" b="1" dirty="0">
                <a:latin typeface="Times New Roman" panose="02020603050405020304" pitchFamily="18" charset="0"/>
                <a:cs typeface="Times New Roman" panose="02020603050405020304" pitchFamily="18" charset="0"/>
              </a:rPr>
              <a:t>13. Initializing and Training the </a:t>
            </a:r>
            <a:r>
              <a:rPr lang="en-US" sz="1800" b="1" dirty="0" err="1">
                <a:latin typeface="Times New Roman" panose="02020603050405020304" pitchFamily="18" charset="0"/>
                <a:cs typeface="Times New Roman" panose="02020603050405020304" pitchFamily="18" charset="0"/>
              </a:rPr>
              <a:t>TabNet</a:t>
            </a:r>
            <a:r>
              <a:rPr lang="en-US" sz="1800" b="1" dirty="0">
                <a:latin typeface="Times New Roman" panose="02020603050405020304" pitchFamily="18" charset="0"/>
                <a:cs typeface="Times New Roman" panose="02020603050405020304" pitchFamily="18" charset="0"/>
              </a:rPr>
              <a:t> Model- </a:t>
            </a:r>
            <a:r>
              <a:rPr lang="en-US" sz="1800" dirty="0">
                <a:latin typeface="Times New Roman" panose="02020603050405020304" pitchFamily="18" charset="0"/>
                <a:cs typeface="Times New Roman" panose="02020603050405020304" pitchFamily="18" charset="0"/>
              </a:rPr>
              <a:t>Train a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model with early stopping using your MRMR features to detect attacks, and ensures GPU memory is freed afterwards. Measures the baseline performance of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before any fuzzy logic or ensemble corrections. Visualizes which of the 30 MRMR features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finds most important in its first decision step</a:t>
            </a:r>
            <a:endParaRPr lang="es-ES" sz="1800"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17957522-D049-C687-1096-42A3032F90FE}"/>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CA21CD16-BBC2-D6CC-3D58-DAF3FFD235DB}"/>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E8954E58-D7BC-CC41-4DD0-4CC0D47DF01E}"/>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23</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F3BCF8BC-C3D1-560C-84E5-545FF2BE55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9136" y="2052118"/>
            <a:ext cx="5265876" cy="1699407"/>
          </a:xfrm>
          <a:prstGeom prst="rect">
            <a:avLst/>
          </a:prstGeom>
        </p:spPr>
      </p:pic>
    </p:spTree>
    <p:extLst>
      <p:ext uri="{BB962C8B-B14F-4D97-AF65-F5344CB8AC3E}">
        <p14:creationId xmlns:p14="http://schemas.microsoft.com/office/powerpoint/2010/main" val="152161342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B8CDA0-693E-3460-B3A4-9242B9DA7B2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A242961-FC02-393D-01B2-0AEF2306768C}"/>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pic>
        <p:nvPicPr>
          <p:cNvPr id="3" name="Content Placeholder 2">
            <a:extLst>
              <a:ext uri="{FF2B5EF4-FFF2-40B4-BE49-F238E27FC236}">
                <a16:creationId xmlns:a16="http://schemas.microsoft.com/office/drawing/2014/main" id="{782A441F-D4D0-E6AF-EB3E-6B7E941F166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73348" y="1264534"/>
            <a:ext cx="5274966" cy="4564776"/>
          </a:xfrm>
        </p:spPr>
      </p:pic>
      <p:sp>
        <p:nvSpPr>
          <p:cNvPr id="5" name="Date Placeholder 4">
            <a:extLst>
              <a:ext uri="{FF2B5EF4-FFF2-40B4-BE49-F238E27FC236}">
                <a16:creationId xmlns:a16="http://schemas.microsoft.com/office/drawing/2014/main" id="{EAD124D3-10CE-F0DB-934D-690EDBC6A9EE}"/>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39D53B97-828C-4FFC-F7A0-1BF82E77617E}"/>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28D040B0-7307-9496-D64E-DD8F4B8C150D}"/>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24</a:t>
            </a:fld>
            <a:endParaRPr lang="en-US">
              <a:latin typeface="Times New Roman" panose="02020603050405020304" pitchFamily="18" charset="0"/>
              <a:cs typeface="Times New Roman" panose="02020603050405020304" pitchFamily="18" charset="0"/>
            </a:endParaRPr>
          </a:p>
        </p:txBody>
      </p:sp>
      <p:pic>
        <p:nvPicPr>
          <p:cNvPr id="11" name="Picture 10">
            <a:extLst>
              <a:ext uri="{FF2B5EF4-FFF2-40B4-BE49-F238E27FC236}">
                <a16:creationId xmlns:a16="http://schemas.microsoft.com/office/drawing/2014/main" id="{26299EED-B469-9BD9-A923-C05FC82F6B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48314" y="1264534"/>
            <a:ext cx="5121084" cy="4564776"/>
          </a:xfrm>
          <a:prstGeom prst="rect">
            <a:avLst/>
          </a:prstGeom>
        </p:spPr>
      </p:pic>
    </p:spTree>
    <p:extLst>
      <p:ext uri="{BB962C8B-B14F-4D97-AF65-F5344CB8AC3E}">
        <p14:creationId xmlns:p14="http://schemas.microsoft.com/office/powerpoint/2010/main" val="2834198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EBF38-B841-A3C0-F3B5-8C8DE0BB865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ECC40563-50FA-76B6-FD69-3BFF7E08A08D}"/>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D55DA225-9BFB-5A21-C823-F9CF0222BE3C}"/>
              </a:ext>
            </a:extLst>
          </p:cNvPr>
          <p:cNvSpPr>
            <a:spLocks noGrp="1"/>
          </p:cNvSpPr>
          <p:nvPr>
            <p:ph idx="1"/>
          </p:nvPr>
        </p:nvSpPr>
        <p:spPr>
          <a:xfrm>
            <a:off x="502138" y="1264535"/>
            <a:ext cx="10515600" cy="5091816"/>
          </a:xfrm>
        </p:spPr>
        <p:txBody>
          <a:bodyPr>
            <a:normAutofit/>
          </a:bodyPr>
          <a:lstStyle/>
          <a:p>
            <a:pPr marL="0" indent="0" algn="ctr">
              <a:buNone/>
            </a:pPr>
            <a:r>
              <a:rPr lang="es-ES" sz="1800" b="1" dirty="0">
                <a:latin typeface="Times New Roman" panose="02020603050405020304" pitchFamily="18" charset="0"/>
                <a:cs typeface="Times New Roman" panose="02020603050405020304" pitchFamily="18" charset="0"/>
              </a:rPr>
              <a:t>OPTIMIZATION TECHNIQUES</a:t>
            </a:r>
          </a:p>
          <a:p>
            <a:pPr marL="0" indent="0">
              <a:buNone/>
            </a:pPr>
            <a:r>
              <a:rPr lang="en-US" sz="1800" b="1" dirty="0">
                <a:latin typeface="Times New Roman" panose="02020603050405020304" pitchFamily="18" charset="0"/>
                <a:cs typeface="Times New Roman" panose="02020603050405020304" pitchFamily="18" charset="0"/>
              </a:rPr>
              <a:t>14) Fuzzy Logic Layer: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stage refines model decisions by looking at both predicted labels and their probabilities. First, the system regenerates predictions and bundles them with true labels into a single data frame so we can judge confidence directly. A fuzzy rule set then kicks in: anything below a low-confidence boundary is treated as benign, anything above a high boundary is considered an attack, and anything in the middle enters a controlled fuzzy zone where decisions lean on probability behavior and fallback logic. Once these fuzzy labels are created, the model’s performance is reevaluated to see how much they improve over the raw outputs. From there, a threshold-tuning routine scans through a range of cutoffs, applies local fuzzy rules around each candidate threshold, and picks the one that gives the best F1 score. After selecting the optimal threshold, final predictions are generated and compared against the ground truth to measure overall gains in accuracy, recall, and AUC. The stage ends with a look at how many samples land in each confidence region and how many predictions were actually corrected, giving a clear sense of how the fuzzy layer reshapes decision boundaries and handles uncertainty.</a:t>
            </a:r>
            <a:endParaRPr lang="es-E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31608D9-DB96-02FE-F1B0-F001AF8D5F50}"/>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6D42D1C3-E9A2-121A-72FA-FA01C871A06A}"/>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12AF87D4-D7DC-B9A1-407E-F3C1072A9922}"/>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199840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D676E-914E-8008-D356-8A52A9DF018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C5104E54-9B81-A1B2-8219-0F641188E294}"/>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CB7CD68F-5843-3C4B-BB75-F5DABAD4181B}"/>
              </a:ext>
            </a:extLst>
          </p:cNvPr>
          <p:cNvSpPr>
            <a:spLocks noGrp="1"/>
          </p:cNvSpPr>
          <p:nvPr>
            <p:ph idx="1"/>
          </p:nvPr>
        </p:nvSpPr>
        <p:spPr>
          <a:xfrm>
            <a:off x="502138" y="1264535"/>
            <a:ext cx="10515600" cy="5091816"/>
          </a:xfrm>
        </p:spPr>
        <p:txBody>
          <a:bodyPr>
            <a:normAutofit/>
          </a:bodyPr>
          <a:lstStyle/>
          <a:p>
            <a:pPr marL="0" indent="0" algn="ctr">
              <a:buNone/>
            </a:pPr>
            <a:r>
              <a:rPr lang="es-ES" sz="1800" b="1" dirty="0">
                <a:latin typeface="Times New Roman" panose="02020603050405020304" pitchFamily="18" charset="0"/>
                <a:cs typeface="Times New Roman" panose="02020603050405020304" pitchFamily="18" charset="0"/>
              </a:rPr>
              <a:t>OPTIMIZATION TECHNIQUES</a:t>
            </a:r>
          </a:p>
          <a:p>
            <a:pPr marL="0" indent="0" algn="ctr">
              <a:buNone/>
            </a:pPr>
            <a:endParaRPr lang="es-E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2903F06D-D656-853F-7E2B-2F3152CA5A23}"/>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3697F059-A052-4036-3F0A-98A5F2034A1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14A91016-1556-737F-57BB-3C7AAC98424E}"/>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26</a:t>
            </a:fld>
            <a:endParaRPr lang="en-US">
              <a:latin typeface="Times New Roman" panose="02020603050405020304" pitchFamily="18" charset="0"/>
              <a:cs typeface="Times New Roman" panose="02020603050405020304" pitchFamily="18" charset="0"/>
            </a:endParaRPr>
          </a:p>
        </p:txBody>
      </p:sp>
      <p:pic>
        <p:nvPicPr>
          <p:cNvPr id="10" name="Picture 9">
            <a:extLst>
              <a:ext uri="{FF2B5EF4-FFF2-40B4-BE49-F238E27FC236}">
                <a16:creationId xmlns:a16="http://schemas.microsoft.com/office/drawing/2014/main" id="{BFBFFB94-8FB3-AAA8-CD9D-9243278910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38" y="1642050"/>
            <a:ext cx="4114800" cy="4457092"/>
          </a:xfrm>
          <a:prstGeom prst="rect">
            <a:avLst/>
          </a:prstGeom>
        </p:spPr>
      </p:pic>
      <p:pic>
        <p:nvPicPr>
          <p:cNvPr id="12" name="Picture 11">
            <a:extLst>
              <a:ext uri="{FF2B5EF4-FFF2-40B4-BE49-F238E27FC236}">
                <a16:creationId xmlns:a16="http://schemas.microsoft.com/office/drawing/2014/main" id="{EE0052CB-5746-F904-3E3A-BACCAF0A27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9938" y="1642051"/>
            <a:ext cx="6035563" cy="4523080"/>
          </a:xfrm>
          <a:prstGeom prst="rect">
            <a:avLst/>
          </a:prstGeom>
        </p:spPr>
      </p:pic>
    </p:spTree>
    <p:extLst>
      <p:ext uri="{BB962C8B-B14F-4D97-AF65-F5344CB8AC3E}">
        <p14:creationId xmlns:p14="http://schemas.microsoft.com/office/powerpoint/2010/main" val="383173961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2B209-D4C5-B9D8-993E-96F9A22CD3F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4749B8C-6E9A-14A6-43B6-5D327824B89D}"/>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A0D7194C-AC05-AD19-A6EA-28522A1CEBD7}"/>
              </a:ext>
            </a:extLst>
          </p:cNvPr>
          <p:cNvSpPr>
            <a:spLocks noGrp="1"/>
          </p:cNvSpPr>
          <p:nvPr>
            <p:ph idx="1"/>
          </p:nvPr>
        </p:nvSpPr>
        <p:spPr>
          <a:xfrm>
            <a:off x="502138" y="1264535"/>
            <a:ext cx="10515600" cy="5091816"/>
          </a:xfrm>
        </p:spPr>
        <p:txBody>
          <a:bodyPr>
            <a:normAutofit/>
          </a:bodyPr>
          <a:lstStyle/>
          <a:p>
            <a:pPr marL="0" indent="0" algn="ctr">
              <a:buNone/>
            </a:pPr>
            <a:r>
              <a:rPr lang="es-ES" sz="1800" b="1" dirty="0">
                <a:latin typeface="Times New Roman" panose="02020603050405020304" pitchFamily="18" charset="0"/>
                <a:cs typeface="Times New Roman" panose="02020603050405020304" pitchFamily="18" charset="0"/>
              </a:rPr>
              <a:t>OPTIMIZATION TECHNIQUES</a:t>
            </a:r>
          </a:p>
          <a:p>
            <a:pPr marL="0" indent="0">
              <a:buNone/>
            </a:pPr>
            <a:r>
              <a:rPr lang="en-US" sz="1800" b="1" dirty="0">
                <a:latin typeface="Times New Roman" panose="02020603050405020304" pitchFamily="18" charset="0"/>
                <a:cs typeface="Times New Roman" panose="02020603050405020304" pitchFamily="18" charset="0"/>
              </a:rPr>
              <a:t>15</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Micro-Correction in Fuzzy Zone Using Decision Tree- </a:t>
            </a:r>
            <a:r>
              <a:rPr lang="en-US" sz="1800" dirty="0">
                <a:latin typeface="Times New Roman" panose="02020603050405020304" pitchFamily="18" charset="0"/>
                <a:cs typeface="Times New Roman" panose="02020603050405020304" pitchFamily="18" charset="0"/>
              </a:rPr>
              <a:t>You define </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as indices where 0.3 &lt;= prob &lt;= 0.7.- You extract: - </a:t>
            </a:r>
            <a:r>
              <a:rPr lang="en-US" sz="1800" dirty="0" err="1">
                <a:latin typeface="Times New Roman" panose="02020603050405020304" pitchFamily="18" charset="0"/>
                <a:cs typeface="Times New Roman" panose="02020603050405020304" pitchFamily="18" charset="0"/>
              </a:rPr>
              <a:t>fuzzy_X</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fuzzy_y_true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y_test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fuzzy_y_pred</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y_final</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You find misclassified indices in fuzzy zone: - </a:t>
            </a:r>
            <a:r>
              <a:rPr lang="en-US" sz="1800" dirty="0" err="1">
                <a:latin typeface="Times New Roman" panose="02020603050405020304" pitchFamily="18" charset="0"/>
                <a:cs typeface="Times New Roman" panose="02020603050405020304" pitchFamily="18" charset="0"/>
              </a:rPr>
              <a:t>error_indices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np.where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fuzzy_y_true</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fuzzy_y_pred</a:t>
            </a:r>
            <a:r>
              <a:rPr lang="en-US" sz="1800" dirty="0">
                <a:latin typeface="Times New Roman" panose="02020603050405020304" pitchFamily="18" charset="0"/>
                <a:cs typeface="Times New Roman" panose="02020603050405020304" pitchFamily="18" charset="0"/>
              </a:rPr>
              <a:t>)[0] - </a:t>
            </a:r>
            <a:r>
              <a:rPr lang="en-US" sz="1800" dirty="0" err="1">
                <a:latin typeface="Times New Roman" panose="02020603050405020304" pitchFamily="18" charset="0"/>
                <a:cs typeface="Times New Roman" panose="02020603050405020304" pitchFamily="18" charset="0"/>
              </a:rPr>
              <a:t>X_errors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fuzzy_X</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error_indices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y_errors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fuzzy_y_true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error_indices</a:t>
            </a:r>
            <a:r>
              <a:rPr lang="en-US" sz="1800" dirty="0">
                <a:latin typeface="Times New Roman" panose="02020603050405020304" pitchFamily="18" charset="0"/>
                <a:cs typeface="Times New Roman" panose="02020603050405020304" pitchFamily="18" charset="0"/>
              </a:rPr>
              <a:t>] - If you have more than 20 errors: - Train </a:t>
            </a:r>
            <a:r>
              <a:rPr lang="en-US" sz="1800" dirty="0" err="1">
                <a:latin typeface="Times New Roman" panose="02020603050405020304" pitchFamily="18" charset="0"/>
                <a:cs typeface="Times New Roman" panose="02020603050405020304" pitchFamily="18" charset="0"/>
              </a:rPr>
              <a:t>DecisionTreeClassifier</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max_depth</a:t>
            </a:r>
            <a:r>
              <a:rPr lang="en-US" sz="1800" dirty="0">
                <a:latin typeface="Times New Roman" panose="02020603050405020304" pitchFamily="18" charset="0"/>
                <a:cs typeface="Times New Roman" panose="02020603050405020304" pitchFamily="18" charset="0"/>
              </a:rPr>
              <a:t>=4) on </a:t>
            </a:r>
            <a:r>
              <a:rPr lang="en-US" sz="1800" dirty="0" err="1">
                <a:latin typeface="Times New Roman" panose="02020603050405020304" pitchFamily="18" charset="0"/>
                <a:cs typeface="Times New Roman" panose="02020603050405020304" pitchFamily="18" charset="0"/>
              </a:rPr>
              <a:t>X_errors</a:t>
            </a:r>
            <a:r>
              <a:rPr lang="en-US" sz="1800" dirty="0">
                <a:latin typeface="Times New Roman" panose="02020603050405020304" pitchFamily="18" charset="0"/>
                <a:cs typeface="Times New Roman" panose="02020603050405020304" pitchFamily="18" charset="0"/>
              </a:rPr>
              <a:t> and </a:t>
            </a:r>
            <a:r>
              <a:rPr lang="en-US" sz="1800" dirty="0" err="1">
                <a:latin typeface="Times New Roman" panose="02020603050405020304" pitchFamily="18" charset="0"/>
                <a:cs typeface="Times New Roman" panose="02020603050405020304" pitchFamily="18" charset="0"/>
              </a:rPr>
              <a:t>y_errors</a:t>
            </a:r>
            <a:r>
              <a:rPr lang="en-US" sz="1800" dirty="0">
                <a:latin typeface="Times New Roman" panose="02020603050405020304" pitchFamily="18" charset="0"/>
                <a:cs typeface="Times New Roman" panose="02020603050405020304" pitchFamily="18" charset="0"/>
              </a:rPr>
              <a:t>. - Predict </a:t>
            </a:r>
            <a:r>
              <a:rPr lang="en-US" sz="1800" dirty="0" err="1">
                <a:latin typeface="Times New Roman" panose="02020603050405020304" pitchFamily="18" charset="0"/>
                <a:cs typeface="Times New Roman" panose="02020603050405020304" pitchFamily="18" charset="0"/>
              </a:rPr>
              <a:t>fuzzy_correction_preds</a:t>
            </a:r>
            <a:r>
              <a:rPr lang="en-US" sz="1800" dirty="0">
                <a:latin typeface="Times New Roman" panose="02020603050405020304" pitchFamily="18" charset="0"/>
                <a:cs typeface="Times New Roman" panose="02020603050405020304" pitchFamily="18" charset="0"/>
              </a:rPr>
              <a:t> on </a:t>
            </a:r>
            <a:r>
              <a:rPr lang="en-US" sz="1800" dirty="0" err="1">
                <a:latin typeface="Times New Roman" panose="02020603050405020304" pitchFamily="18" charset="0"/>
                <a:cs typeface="Times New Roman" panose="02020603050405020304" pitchFamily="18" charset="0"/>
              </a:rPr>
              <a:t>fuzzy_X</a:t>
            </a:r>
            <a:r>
              <a:rPr lang="en-US" sz="1800" dirty="0">
                <a:latin typeface="Times New Roman" panose="02020603050405020304" pitchFamily="18" charset="0"/>
                <a:cs typeface="Times New Roman" panose="02020603050405020304" pitchFamily="18" charset="0"/>
              </a:rPr>
              <a:t>. - Copy </a:t>
            </a:r>
            <a:r>
              <a:rPr lang="en-US" sz="1800" dirty="0" err="1">
                <a:latin typeface="Times New Roman" panose="02020603050405020304" pitchFamily="18" charset="0"/>
                <a:cs typeface="Times New Roman" panose="02020603050405020304" pitchFamily="18" charset="0"/>
              </a:rPr>
              <a:t>y_final</a:t>
            </a:r>
            <a:r>
              <a:rPr lang="en-US" sz="1800" dirty="0">
                <a:latin typeface="Times New Roman" panose="02020603050405020304" pitchFamily="18" charset="0"/>
                <a:cs typeface="Times New Roman" panose="02020603050405020304" pitchFamily="18" charset="0"/>
              </a:rPr>
              <a:t> into </a:t>
            </a:r>
            <a:r>
              <a:rPr lang="en-US" sz="1800" dirty="0" err="1">
                <a:latin typeface="Times New Roman" panose="02020603050405020304" pitchFamily="18" charset="0"/>
                <a:cs typeface="Times New Roman" panose="02020603050405020304" pitchFamily="18" charset="0"/>
              </a:rPr>
              <a:t>y_corrected_final</a:t>
            </a:r>
            <a:r>
              <a:rPr lang="en-US" sz="1800" dirty="0">
                <a:latin typeface="Times New Roman" panose="02020603050405020304" pitchFamily="18" charset="0"/>
                <a:cs typeface="Times New Roman" panose="02020603050405020304" pitchFamily="18" charset="0"/>
              </a:rPr>
              <a:t> and replace predictions at </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with tree outputs. - Evaluate with accuracy and </a:t>
            </a:r>
            <a:r>
              <a:rPr lang="en-US" sz="1800" dirty="0" err="1">
                <a:latin typeface="Times New Roman" panose="02020603050405020304" pitchFamily="18" charset="0"/>
                <a:cs typeface="Times New Roman" panose="02020603050405020304" pitchFamily="18" charset="0"/>
              </a:rPr>
              <a:t>classification_report</a:t>
            </a:r>
            <a:r>
              <a:rPr lang="en-US" sz="1800" dirty="0">
                <a:latin typeface="Times New Roman" panose="02020603050405020304" pitchFamily="18" charset="0"/>
                <a:cs typeface="Times New Roman" panose="02020603050405020304" pitchFamily="18" charset="0"/>
              </a:rPr>
              <a:t>.- Purpose: - Learns small correction rules specifically on difficult fuzzy-zone errors using a shallow decision tree.</a:t>
            </a:r>
          </a:p>
          <a:p>
            <a:pPr marL="0" indent="0">
              <a:buNone/>
            </a:pPr>
            <a:r>
              <a:rPr lang="en-US" sz="1800" b="1" dirty="0">
                <a:latin typeface="Times New Roman" panose="02020603050405020304" pitchFamily="18" charset="0"/>
                <a:cs typeface="Times New Roman" panose="02020603050405020304" pitchFamily="18" charset="0"/>
              </a:rPr>
              <a:t>16. Ensemble Correction Using </a:t>
            </a:r>
            <a:r>
              <a:rPr lang="en-US" sz="1800" b="1" dirty="0" err="1">
                <a:latin typeface="Times New Roman" panose="02020603050405020304" pitchFamily="18" charset="0"/>
                <a:cs typeface="Times New Roman" panose="02020603050405020304" pitchFamily="18" charset="0"/>
              </a:rPr>
              <a:t>LightGBM</a:t>
            </a:r>
            <a:r>
              <a:rPr lang="en-US" sz="1800" b="1" dirty="0">
                <a:latin typeface="Times New Roman" panose="02020603050405020304" pitchFamily="18" charset="0"/>
                <a:cs typeface="Times New Roman" panose="02020603050405020304" pitchFamily="18" charset="0"/>
              </a:rPr>
              <a:t> on Fuzzy Zone- </a:t>
            </a:r>
            <a:r>
              <a:rPr lang="en-US" sz="1800" dirty="0">
                <a:latin typeface="Times New Roman" panose="02020603050405020304" pitchFamily="18" charset="0"/>
                <a:cs typeface="Times New Roman" panose="02020603050405020304" pitchFamily="18" charset="0"/>
              </a:rPr>
              <a:t>You train </a:t>
            </a:r>
            <a:r>
              <a:rPr lang="en-US" sz="1800" dirty="0" err="1">
                <a:latin typeface="Times New Roman" panose="02020603050405020304" pitchFamily="18" charset="0"/>
                <a:cs typeface="Times New Roman" panose="02020603050405020304" pitchFamily="18" charset="0"/>
              </a:rPr>
              <a:t>LightGBM</a:t>
            </a:r>
            <a:r>
              <a:rPr lang="en-US" sz="1800" dirty="0">
                <a:latin typeface="Times New Roman" panose="02020603050405020304" pitchFamily="18" charset="0"/>
                <a:cs typeface="Times New Roman" panose="02020603050405020304" pitchFamily="18" charset="0"/>
              </a:rPr>
              <a:t> on training data: - </a:t>
            </a:r>
            <a:r>
              <a:rPr lang="en-US" sz="1800" dirty="0" err="1">
                <a:latin typeface="Times New Roman" panose="02020603050405020304" pitchFamily="18" charset="0"/>
                <a:cs typeface="Times New Roman" panose="02020603050405020304" pitchFamily="18" charset="0"/>
              </a:rPr>
              <a:t>lgbm</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LGBMClassifier</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lgbm.fit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X_train</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y_train</a:t>
            </a:r>
            <a:r>
              <a:rPr lang="en-US" sz="1800" dirty="0">
                <a:latin typeface="Times New Roman" panose="02020603050405020304" pitchFamily="18" charset="0"/>
                <a:cs typeface="Times New Roman" panose="02020603050405020304" pitchFamily="18" charset="0"/>
              </a:rPr>
              <a:t>)- You predict </a:t>
            </a:r>
            <a:r>
              <a:rPr lang="en-US" sz="1800" dirty="0" err="1">
                <a:latin typeface="Times New Roman" panose="02020603050405020304" pitchFamily="18" charset="0"/>
                <a:cs typeface="Times New Roman" panose="02020603050405020304" pitchFamily="18" charset="0"/>
              </a:rPr>
              <a:t>lgbm_preds</a:t>
            </a:r>
            <a:r>
              <a:rPr lang="en-US" sz="1800" dirty="0">
                <a:latin typeface="Times New Roman" panose="02020603050405020304" pitchFamily="18" charset="0"/>
                <a:cs typeface="Times New Roman" panose="02020603050405020304" pitchFamily="18" charset="0"/>
              </a:rPr>
              <a:t> on </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 You start from </a:t>
            </a:r>
            <a:r>
              <a:rPr lang="en-US" sz="1800" dirty="0" err="1">
                <a:latin typeface="Times New Roman" panose="02020603050405020304" pitchFamily="18" charset="0"/>
                <a:cs typeface="Times New Roman" panose="02020603050405020304" pitchFamily="18" charset="0"/>
              </a:rPr>
              <a:t>y_final</a:t>
            </a:r>
            <a:r>
              <a:rPr lang="en-US" sz="1800" dirty="0">
                <a:latin typeface="Times New Roman" panose="02020603050405020304" pitchFamily="18" charset="0"/>
                <a:cs typeface="Times New Roman" panose="02020603050405020304" pitchFamily="18" charset="0"/>
              </a:rPr>
              <a:t> (tuned fuzzy predictions) copied into </a:t>
            </a:r>
            <a:r>
              <a:rPr lang="en-US" sz="1800" dirty="0" err="1">
                <a:latin typeface="Times New Roman" panose="02020603050405020304" pitchFamily="18" charset="0"/>
                <a:cs typeface="Times New Roman" panose="02020603050405020304" pitchFamily="18" charset="0"/>
              </a:rPr>
              <a:t>y_ensemble</a:t>
            </a:r>
            <a:r>
              <a:rPr lang="en-US" sz="1800" dirty="0">
                <a:latin typeface="Times New Roman" panose="02020603050405020304" pitchFamily="18" charset="0"/>
                <a:cs typeface="Times New Roman" panose="02020603050405020304" pitchFamily="18" charset="0"/>
              </a:rPr>
              <a:t>.- For each index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in </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 If </a:t>
            </a:r>
            <a:r>
              <a:rPr lang="en-US" sz="1800" dirty="0" err="1">
                <a:latin typeface="Times New Roman" panose="02020603050405020304" pitchFamily="18" charset="0"/>
                <a:cs typeface="Times New Roman" panose="02020603050405020304" pitchFamily="18" charset="0"/>
              </a:rPr>
              <a:t>TabNet’s</a:t>
            </a:r>
            <a:r>
              <a:rPr lang="en-US" sz="1800" dirty="0">
                <a:latin typeface="Times New Roman" panose="02020603050405020304" pitchFamily="18" charset="0"/>
                <a:cs typeface="Times New Roman" panose="02020603050405020304" pitchFamily="18" charset="0"/>
              </a:rPr>
              <a:t> original prediction </a:t>
            </a:r>
            <a:r>
              <a:rPr lang="en-US" sz="1800" dirty="0" err="1">
                <a:latin typeface="Times New Roman" panose="02020603050405020304" pitchFamily="18" charset="0"/>
                <a:cs typeface="Times New Roman" panose="02020603050405020304" pitchFamily="18" charset="0"/>
              </a:rPr>
              <a:t>y_pred</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lgbm_preds</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you replace </a:t>
            </a:r>
            <a:r>
              <a:rPr lang="en-US" sz="1800" dirty="0" err="1">
                <a:latin typeface="Times New Roman" panose="02020603050405020304" pitchFamily="18" charset="0"/>
                <a:cs typeface="Times New Roman" panose="02020603050405020304" pitchFamily="18" charset="0"/>
              </a:rPr>
              <a:t>y_ensemble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with </a:t>
            </a:r>
            <a:r>
              <a:rPr lang="en-US" sz="1800" dirty="0" err="1">
                <a:latin typeface="Times New Roman" panose="02020603050405020304" pitchFamily="18" charset="0"/>
                <a:cs typeface="Times New Roman" panose="02020603050405020304" pitchFamily="18" charset="0"/>
              </a:rPr>
              <a:t>lgbm_preds</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You evaluate accuracy and print it.- Purpose: - Uses </a:t>
            </a:r>
            <a:r>
              <a:rPr lang="en-US" sz="1800" dirty="0" err="1">
                <a:latin typeface="Times New Roman" panose="02020603050405020304" pitchFamily="18" charset="0"/>
                <a:cs typeface="Times New Roman" panose="02020603050405020304" pitchFamily="18" charset="0"/>
              </a:rPr>
              <a:t>LightGBM</a:t>
            </a:r>
            <a:r>
              <a:rPr lang="en-US" sz="1800" dirty="0">
                <a:latin typeface="Times New Roman" panose="02020603050405020304" pitchFamily="18" charset="0"/>
                <a:cs typeface="Times New Roman" panose="02020603050405020304" pitchFamily="18" charset="0"/>
              </a:rPr>
              <a:t> as a second opinion to override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in uncertain regions, creating a simple ensemble. Identifying Hard Errors in Fuzzy Zone After Ensemble- You recompute </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(0.3–0.7).- You define: - </a:t>
            </a:r>
            <a:r>
              <a:rPr lang="en-US" sz="1800" dirty="0" err="1">
                <a:latin typeface="Times New Roman" panose="02020603050405020304" pitchFamily="18" charset="0"/>
                <a:cs typeface="Times New Roman" panose="02020603050405020304" pitchFamily="18" charset="0"/>
              </a:rPr>
              <a:t>hard_errors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for </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in </a:t>
            </a:r>
            <a:r>
              <a:rPr lang="en-US" sz="1800" dirty="0" err="1">
                <a:latin typeface="Times New Roman" panose="02020603050405020304" pitchFamily="18" charset="0"/>
                <a:cs typeface="Times New Roman" panose="02020603050405020304" pitchFamily="18" charset="0"/>
              </a:rPr>
              <a:t>fuzzy_zone</a:t>
            </a:r>
            <a:r>
              <a:rPr lang="en-US" sz="1800" dirty="0">
                <a:latin typeface="Times New Roman" panose="02020603050405020304" pitchFamily="18" charset="0"/>
                <a:cs typeface="Times New Roman" panose="02020603050405020304" pitchFamily="18" charset="0"/>
              </a:rPr>
              <a:t> if </a:t>
            </a:r>
            <a:r>
              <a:rPr lang="en-US" sz="1800" dirty="0" err="1">
                <a:latin typeface="Times New Roman" panose="02020603050405020304" pitchFamily="18" charset="0"/>
                <a:cs typeface="Times New Roman" panose="02020603050405020304" pitchFamily="18" charset="0"/>
              </a:rPr>
              <a:t>y_ensemble</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y_test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i</a:t>
            </a:r>
            <a:r>
              <a:rPr lang="en-US" sz="1800" dirty="0">
                <a:latin typeface="Times New Roman" panose="02020603050405020304" pitchFamily="18" charset="0"/>
                <a:cs typeface="Times New Roman" panose="02020603050405020304" pitchFamily="18" charset="0"/>
              </a:rPr>
              <a:t>]]- You print the number of hard fuzzy-zone misclassified samples.- Purpose: - Focuses on the hardest remaining mistakes after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 fuzzy + </a:t>
            </a:r>
            <a:r>
              <a:rPr lang="en-US" sz="1800" dirty="0" err="1">
                <a:latin typeface="Times New Roman" panose="02020603050405020304" pitchFamily="18" charset="0"/>
                <a:cs typeface="Times New Roman" panose="02020603050405020304" pitchFamily="18" charset="0"/>
              </a:rPr>
              <a:t>LightGBM</a:t>
            </a:r>
            <a:r>
              <a:rPr lang="en-US" sz="1800" dirty="0">
                <a:latin typeface="Times New Roman" panose="02020603050405020304" pitchFamily="18" charset="0"/>
                <a:cs typeface="Times New Roman" panose="02020603050405020304" pitchFamily="18" charset="0"/>
              </a:rPr>
              <a:t> ensemble</a:t>
            </a:r>
            <a:endParaRPr lang="es-E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D4CA225B-EF27-164F-D75E-C51D09CCD928}"/>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C1C0CC11-21DD-E759-5FFE-CF32A0FF1B9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37664F46-9AAF-F6C9-6FEE-63A89FA5F510}"/>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79712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80D5E1-B2AE-F3B9-F63C-A23AC6E99E9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EFABCAD-4A1C-7004-3AE5-D61FA0C0C8B6}"/>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01EEB65B-B7FA-56F7-0749-D5F9D38AD406}"/>
              </a:ext>
            </a:extLst>
          </p:cNvPr>
          <p:cNvSpPr>
            <a:spLocks noGrp="1"/>
          </p:cNvSpPr>
          <p:nvPr>
            <p:ph idx="1"/>
          </p:nvPr>
        </p:nvSpPr>
        <p:spPr>
          <a:xfrm>
            <a:off x="502138" y="1264535"/>
            <a:ext cx="10515600" cy="5091816"/>
          </a:xfrm>
        </p:spPr>
        <p:txBody>
          <a:bodyPr>
            <a:normAutofit/>
          </a:bodyPr>
          <a:lstStyle/>
          <a:p>
            <a:pPr marL="0" indent="0" algn="ctr">
              <a:buNone/>
            </a:pPr>
            <a:r>
              <a:rPr lang="es-ES" sz="1800" b="1" dirty="0">
                <a:latin typeface="Times New Roman" panose="02020603050405020304" pitchFamily="18" charset="0"/>
                <a:cs typeface="Times New Roman" panose="02020603050405020304" pitchFamily="18" charset="0"/>
              </a:rPr>
              <a:t>OPTIMIZATION TECHNIQUES</a:t>
            </a:r>
          </a:p>
          <a:p>
            <a:pPr marL="0" indent="0" algn="ctr">
              <a:buNone/>
            </a:pPr>
            <a:endParaRPr lang="es-E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E74CBA3-2002-4016-12CE-171439E6E770}"/>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79BDFB9F-8078-D2B9-846A-AA9B64717FEA}"/>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B48EDB66-D24C-F9F1-EB2A-D2FE2929019D}"/>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28</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1E7A5B1-889E-F472-D46A-FFBE138502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38" y="1661474"/>
            <a:ext cx="4473328" cy="4534293"/>
          </a:xfrm>
          <a:prstGeom prst="rect">
            <a:avLst/>
          </a:prstGeom>
        </p:spPr>
      </p:pic>
      <p:pic>
        <p:nvPicPr>
          <p:cNvPr id="10" name="Picture 9">
            <a:extLst>
              <a:ext uri="{FF2B5EF4-FFF2-40B4-BE49-F238E27FC236}">
                <a16:creationId xmlns:a16="http://schemas.microsoft.com/office/drawing/2014/main" id="{A4773D73-BC30-2935-79AE-47346BEEB0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85237" y="1661474"/>
            <a:ext cx="6004625" cy="4534293"/>
          </a:xfrm>
          <a:prstGeom prst="rect">
            <a:avLst/>
          </a:prstGeom>
        </p:spPr>
      </p:pic>
    </p:spTree>
    <p:extLst>
      <p:ext uri="{BB962C8B-B14F-4D97-AF65-F5344CB8AC3E}">
        <p14:creationId xmlns:p14="http://schemas.microsoft.com/office/powerpoint/2010/main" val="25017028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38295-351F-453E-B814-6993DD2FCB27}"/>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3605D0D-7FD4-6371-B39B-030B1D076CBA}"/>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D8C728F-668C-D014-7EF0-9D781F1D6354}"/>
              </a:ext>
            </a:extLst>
          </p:cNvPr>
          <p:cNvSpPr>
            <a:spLocks noGrp="1"/>
          </p:cNvSpPr>
          <p:nvPr>
            <p:ph idx="1"/>
          </p:nvPr>
        </p:nvSpPr>
        <p:spPr>
          <a:xfrm>
            <a:off x="502138" y="1264535"/>
            <a:ext cx="10515600" cy="5091816"/>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17. Weighted Voting Ensemble (</a:t>
            </a:r>
            <a:r>
              <a:rPr lang="en-US" sz="1800" b="1" dirty="0" err="1">
                <a:latin typeface="Times New Roman" panose="02020603050405020304" pitchFamily="18" charset="0"/>
                <a:cs typeface="Times New Roman" panose="02020603050405020304" pitchFamily="18" charset="0"/>
              </a:rPr>
              <a:t>TabNet</a:t>
            </a:r>
            <a:r>
              <a:rPr lang="en-US" sz="1800" b="1" dirty="0">
                <a:latin typeface="Times New Roman" panose="02020603050405020304" pitchFamily="18" charset="0"/>
                <a:cs typeface="Times New Roman" panose="02020603050405020304" pitchFamily="18" charset="0"/>
              </a:rPr>
              <a:t> + </a:t>
            </a:r>
            <a:r>
              <a:rPr lang="en-US" sz="1800" b="1" dirty="0" err="1">
                <a:latin typeface="Times New Roman" panose="02020603050405020304" pitchFamily="18" charset="0"/>
                <a:cs typeface="Times New Roman" panose="02020603050405020304" pitchFamily="18" charset="0"/>
              </a:rPr>
              <a:t>LightGBM</a:t>
            </a:r>
            <a:r>
              <a:rPr lang="en-US" sz="1800" b="1" dirty="0">
                <a:latin typeface="Times New Roman" panose="02020603050405020304" pitchFamily="18" charset="0"/>
                <a:cs typeface="Times New Roman" panose="02020603050405020304" pitchFamily="18" charset="0"/>
              </a:rPr>
              <a:t> + RF)- </a:t>
            </a:r>
            <a:r>
              <a:rPr lang="en-US" sz="1800" dirty="0">
                <a:latin typeface="Times New Roman" panose="02020603050405020304" pitchFamily="18" charset="0"/>
                <a:cs typeface="Times New Roman" panose="02020603050405020304" pitchFamily="18" charset="0"/>
              </a:rPr>
              <a:t>You compute: - </a:t>
            </a:r>
            <a:r>
              <a:rPr lang="en-US" sz="1800" dirty="0" err="1">
                <a:latin typeface="Times New Roman" panose="02020603050405020304" pitchFamily="18" charset="0"/>
                <a:cs typeface="Times New Roman" panose="02020603050405020304" pitchFamily="18" charset="0"/>
              </a:rPr>
              <a:t>tabnet_probs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y_proba</a:t>
            </a:r>
            <a:r>
              <a:rPr lang="en-US" sz="1800" dirty="0">
                <a:latin typeface="Times New Roman" panose="02020603050405020304" pitchFamily="18" charset="0"/>
                <a:cs typeface="Times New Roman" panose="02020603050405020304" pitchFamily="18" charset="0"/>
              </a:rPr>
              <a:t>[:, 1] - </a:t>
            </a:r>
            <a:r>
              <a:rPr lang="en-US" sz="1800" dirty="0" err="1">
                <a:latin typeface="Times New Roman" panose="02020603050405020304" pitchFamily="18" charset="0"/>
                <a:cs typeface="Times New Roman" panose="02020603050405020304" pitchFamily="18" charset="0"/>
              </a:rPr>
              <a:t>lgbm_probs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lgbm.predict_proba</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 1] - </a:t>
            </a:r>
            <a:r>
              <a:rPr lang="en-US" sz="1800" dirty="0" err="1">
                <a:latin typeface="Times New Roman" panose="02020603050405020304" pitchFamily="18" charset="0"/>
                <a:cs typeface="Times New Roman" panose="02020603050405020304" pitchFamily="18" charset="0"/>
              </a:rPr>
              <a:t>rf_probs</a:t>
            </a:r>
            <a:r>
              <a:rPr lang="en-US" sz="1800" dirty="0">
                <a:latin typeface="Times New Roman" panose="02020603050405020304" pitchFamily="18" charset="0"/>
                <a:cs typeface="Times New Roman" panose="02020603050405020304" pitchFamily="18" charset="0"/>
              </a:rPr>
              <a:t>: - If enough hard errors to train </a:t>
            </a:r>
            <a:r>
              <a:rPr lang="en-US" sz="1800" dirty="0" err="1">
                <a:latin typeface="Times New Roman" panose="02020603050405020304" pitchFamily="18" charset="0"/>
                <a:cs typeface="Times New Roman" panose="02020603050405020304" pitchFamily="18" charset="0"/>
              </a:rPr>
              <a:t>rf_corrector</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rf_probs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rf_corrector.predict_proba</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X_test</a:t>
            </a:r>
            <a:r>
              <a:rPr lang="en-US" sz="1800" dirty="0">
                <a:latin typeface="Times New Roman" panose="02020603050405020304" pitchFamily="18" charset="0"/>
                <a:cs typeface="Times New Roman" panose="02020603050405020304" pitchFamily="18" charset="0"/>
              </a:rPr>
              <a:t>)[:, 1] - Otherwise: </a:t>
            </a:r>
            <a:r>
              <a:rPr lang="en-US" sz="1800" dirty="0" err="1">
                <a:latin typeface="Times New Roman" panose="02020603050405020304" pitchFamily="18" charset="0"/>
                <a:cs typeface="Times New Roman" panose="02020603050405020304" pitchFamily="18" charset="0"/>
              </a:rPr>
              <a:t>rf_probs</a:t>
            </a:r>
            <a:r>
              <a:rPr lang="en-US" sz="1800" dirty="0">
                <a:latin typeface="Times New Roman" panose="02020603050405020304" pitchFamily="18" charset="0"/>
                <a:cs typeface="Times New Roman" panose="02020603050405020304" pitchFamily="18" charset="0"/>
              </a:rPr>
              <a:t> = zeros array.- You compute a weighted probability ensemble: - </a:t>
            </a:r>
            <a:r>
              <a:rPr lang="en-US" sz="1800" dirty="0" err="1">
                <a:latin typeface="Times New Roman" panose="02020603050405020304" pitchFamily="18" charset="0"/>
                <a:cs typeface="Times New Roman" panose="02020603050405020304" pitchFamily="18" charset="0"/>
              </a:rPr>
              <a:t>ensemble_probs</a:t>
            </a:r>
            <a:r>
              <a:rPr lang="en-US" sz="1800" dirty="0">
                <a:latin typeface="Times New Roman" panose="02020603050405020304" pitchFamily="18" charset="0"/>
                <a:cs typeface="Times New Roman" panose="02020603050405020304" pitchFamily="18" charset="0"/>
              </a:rPr>
              <a:t> = 0.5 * </a:t>
            </a:r>
            <a:r>
              <a:rPr lang="en-US" sz="1800" dirty="0" err="1">
                <a:latin typeface="Times New Roman" panose="02020603050405020304" pitchFamily="18" charset="0"/>
                <a:cs typeface="Times New Roman" panose="02020603050405020304" pitchFamily="18" charset="0"/>
              </a:rPr>
              <a:t>tabnet_probs</a:t>
            </a:r>
            <a:r>
              <a:rPr lang="en-US" sz="1800" dirty="0">
                <a:latin typeface="Times New Roman" panose="02020603050405020304" pitchFamily="18" charset="0"/>
                <a:cs typeface="Times New Roman" panose="02020603050405020304" pitchFamily="18" charset="0"/>
              </a:rPr>
              <a:t> + 0.3 * </a:t>
            </a:r>
            <a:r>
              <a:rPr lang="en-US" sz="1800" dirty="0" err="1">
                <a:latin typeface="Times New Roman" panose="02020603050405020304" pitchFamily="18" charset="0"/>
                <a:cs typeface="Times New Roman" panose="02020603050405020304" pitchFamily="18" charset="0"/>
              </a:rPr>
              <a:t>lgbm_probs</a:t>
            </a:r>
            <a:r>
              <a:rPr lang="en-US" sz="1800" dirty="0">
                <a:latin typeface="Times New Roman" panose="02020603050405020304" pitchFamily="18" charset="0"/>
                <a:cs typeface="Times New Roman" panose="02020603050405020304" pitchFamily="18" charset="0"/>
              </a:rPr>
              <a:t> + 0.2 * </a:t>
            </a:r>
            <a:r>
              <a:rPr lang="en-US" sz="1800" dirty="0" err="1">
                <a:latin typeface="Times New Roman" panose="02020603050405020304" pitchFamily="18" charset="0"/>
                <a:cs typeface="Times New Roman" panose="02020603050405020304" pitchFamily="18" charset="0"/>
              </a:rPr>
              <a:t>rf_probs</a:t>
            </a:r>
            <a:r>
              <a:rPr lang="en-US" sz="1800" dirty="0">
                <a:latin typeface="Times New Roman" panose="02020603050405020304" pitchFamily="18" charset="0"/>
                <a:cs typeface="Times New Roman" panose="02020603050405020304" pitchFamily="18" charset="0"/>
              </a:rPr>
              <a:t>- You apply a fixed threshold (e.g., 0.30): - </a:t>
            </a:r>
            <a:r>
              <a:rPr lang="en-US" sz="1800" dirty="0" err="1">
                <a:latin typeface="Times New Roman" panose="02020603050405020304" pitchFamily="18" charset="0"/>
                <a:cs typeface="Times New Roman" panose="02020603050405020304" pitchFamily="18" charset="0"/>
              </a:rPr>
              <a:t>y_super_final</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ensemble_probs</a:t>
            </a:r>
            <a:r>
              <a:rPr lang="en-US" sz="1800" dirty="0">
                <a:latin typeface="Times New Roman" panose="02020603050405020304" pitchFamily="18" charset="0"/>
                <a:cs typeface="Times New Roman" panose="02020603050405020304" pitchFamily="18" charset="0"/>
              </a:rPr>
              <a:t> &gt;= threshold).</a:t>
            </a:r>
            <a:r>
              <a:rPr lang="en-US" sz="1800" dirty="0" err="1">
                <a:latin typeface="Times New Roman" panose="02020603050405020304" pitchFamily="18" charset="0"/>
                <a:cs typeface="Times New Roman" panose="02020603050405020304" pitchFamily="18" charset="0"/>
              </a:rPr>
              <a:t>astype</a:t>
            </a:r>
            <a:r>
              <a:rPr lang="en-US" sz="1800" dirty="0">
                <a:latin typeface="Times New Roman" panose="02020603050405020304" pitchFamily="18" charset="0"/>
                <a:cs typeface="Times New Roman" panose="02020603050405020304" pitchFamily="18" charset="0"/>
              </a:rPr>
              <a:t>(int)- You compute accuracy and </a:t>
            </a:r>
            <a:r>
              <a:rPr lang="en-US" sz="1800" dirty="0" err="1">
                <a:latin typeface="Times New Roman" panose="02020603050405020304" pitchFamily="18" charset="0"/>
                <a:cs typeface="Times New Roman" panose="02020603050405020304" pitchFamily="18" charset="0"/>
              </a:rPr>
              <a:t>classification_report</a:t>
            </a:r>
            <a:r>
              <a:rPr lang="en-US" sz="1800" dirty="0">
                <a:latin typeface="Times New Roman" panose="02020603050405020304" pitchFamily="18" charset="0"/>
                <a:cs typeface="Times New Roman" panose="02020603050405020304" pitchFamily="18" charset="0"/>
              </a:rPr>
              <a:t>.- Purpose: - Combines the outputs of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LightGBM</a:t>
            </a:r>
            <a:r>
              <a:rPr lang="en-US" sz="1800" dirty="0">
                <a:latin typeface="Times New Roman" panose="02020603050405020304" pitchFamily="18" charset="0"/>
                <a:cs typeface="Times New Roman" panose="02020603050405020304" pitchFamily="18" charset="0"/>
              </a:rPr>
              <a:t>, and RF in a weighted way to form a stronger ensemble.</a:t>
            </a:r>
          </a:p>
        </p:txBody>
      </p:sp>
      <p:sp>
        <p:nvSpPr>
          <p:cNvPr id="5" name="Date Placeholder 4">
            <a:extLst>
              <a:ext uri="{FF2B5EF4-FFF2-40B4-BE49-F238E27FC236}">
                <a16:creationId xmlns:a16="http://schemas.microsoft.com/office/drawing/2014/main" id="{E795AC76-9903-D118-6D8C-257FEE1DC3B0}"/>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873AAFC7-DFC1-CAA4-5CDB-2F46268D7C3B}"/>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10FD01B1-19FC-0498-04C8-A1F4FD2789BD}"/>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29</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A4958CA4-73C7-1F21-B040-2A6C118D3A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138" y="3173178"/>
            <a:ext cx="5446175" cy="2982525"/>
          </a:xfrm>
          <a:prstGeom prst="rect">
            <a:avLst/>
          </a:prstGeom>
        </p:spPr>
      </p:pic>
      <p:pic>
        <p:nvPicPr>
          <p:cNvPr id="10" name="Picture 9">
            <a:extLst>
              <a:ext uri="{FF2B5EF4-FFF2-40B4-BE49-F238E27FC236}">
                <a16:creationId xmlns:a16="http://schemas.microsoft.com/office/drawing/2014/main" id="{C80BC05F-B8DB-56EE-D366-BDE94A4D60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14918" y="3173177"/>
            <a:ext cx="4627564" cy="2420287"/>
          </a:xfrm>
          <a:prstGeom prst="rect">
            <a:avLst/>
          </a:prstGeom>
        </p:spPr>
      </p:pic>
    </p:spTree>
    <p:extLst>
      <p:ext uri="{BB962C8B-B14F-4D97-AF65-F5344CB8AC3E}">
        <p14:creationId xmlns:p14="http://schemas.microsoft.com/office/powerpoint/2010/main" val="3095154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0C0E0-25F8-9893-515A-13C0C3419E11}"/>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5E631035-2A0C-1F4C-E291-A63A865DDFF0}"/>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9EAB3641-75C5-F0B8-42AA-A860FABB2630}"/>
              </a:ext>
            </a:extLst>
          </p:cNvPr>
          <p:cNvSpPr>
            <a:spLocks noGrp="1"/>
          </p:cNvSpPr>
          <p:nvPr>
            <p:ph idx="1"/>
          </p:nvPr>
        </p:nvSpPr>
        <p:spPr>
          <a:xfrm>
            <a:off x="502138" y="1264535"/>
            <a:ext cx="10515600" cy="5091816"/>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18. Stacked Generalization with Logistic Regression Calibration- </a:t>
            </a:r>
            <a:r>
              <a:rPr lang="en-US" sz="1800" dirty="0">
                <a:latin typeface="Times New Roman" panose="02020603050405020304" pitchFamily="18" charset="0"/>
                <a:cs typeface="Times New Roman" panose="02020603050405020304" pitchFamily="18" charset="0"/>
              </a:rPr>
              <a:t>You build stacked feature inputs: - </a:t>
            </a:r>
            <a:r>
              <a:rPr lang="en-US" sz="1800" dirty="0" err="1">
                <a:latin typeface="Times New Roman" panose="02020603050405020304" pitchFamily="18" charset="0"/>
                <a:cs typeface="Times New Roman" panose="02020603050405020304" pitchFamily="18" charset="0"/>
              </a:rPr>
              <a:t>stacked_features</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np.vstack</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tabnet_probs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lgbm_probs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rf_probs</a:t>
            </a:r>
            <a:r>
              <a:rPr lang="en-US" sz="1800" dirty="0">
                <a:latin typeface="Times New Roman" panose="02020603050405020304" pitchFamily="18" charset="0"/>
                <a:cs typeface="Times New Roman" panose="02020603050405020304" pitchFamily="18" charset="0"/>
              </a:rPr>
              <a:t>)).T- You train </a:t>
            </a:r>
            <a:r>
              <a:rPr lang="en-US" sz="1800" dirty="0" err="1">
                <a:latin typeface="Times New Roman" panose="02020603050405020304" pitchFamily="18" charset="0"/>
                <a:cs typeface="Times New Roman" panose="02020603050405020304" pitchFamily="18" charset="0"/>
              </a:rPr>
              <a:t>LogisticRegression</a:t>
            </a:r>
            <a:r>
              <a:rPr lang="en-US" sz="1800" dirty="0">
                <a:latin typeface="Times New Roman" panose="02020603050405020304" pitchFamily="18" charset="0"/>
                <a:cs typeface="Times New Roman" panose="02020603050405020304" pitchFamily="18" charset="0"/>
              </a:rPr>
              <a:t> as a calibrator: - </a:t>
            </a:r>
            <a:r>
              <a:rPr lang="en-US" sz="1800" dirty="0" err="1">
                <a:latin typeface="Times New Roman" panose="02020603050405020304" pitchFamily="18" charset="0"/>
                <a:cs typeface="Times New Roman" panose="02020603050405020304" pitchFamily="18" charset="0"/>
              </a:rPr>
              <a:t>calibrator.fit</a:t>
            </a:r>
            <a:r>
              <a:rPr lang="en-US" sz="1800" dirty="0">
                <a:latin typeface="Times New Roman" panose="02020603050405020304" pitchFamily="18" charset="0"/>
                <a:cs typeface="Times New Roman" panose="02020603050405020304" pitchFamily="18" charset="0"/>
              </a:rPr>
              <a:t>(</a:t>
            </a:r>
            <a:r>
              <a:rPr lang="en-US" sz="1800" dirty="0" err="1">
                <a:latin typeface="Times New Roman" panose="02020603050405020304" pitchFamily="18" charset="0"/>
                <a:cs typeface="Times New Roman" panose="02020603050405020304" pitchFamily="18" charset="0"/>
              </a:rPr>
              <a:t>stacked_features</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y_test</a:t>
            </a:r>
            <a:r>
              <a:rPr lang="en-US" sz="1800" dirty="0">
                <a:latin typeface="Times New Roman" panose="02020603050405020304" pitchFamily="18" charset="0"/>
                <a:cs typeface="Times New Roman" panose="02020603050405020304" pitchFamily="18" charset="0"/>
              </a:rPr>
              <a:t>)- You compute </a:t>
            </a:r>
            <a:r>
              <a:rPr lang="en-US" sz="1800" dirty="0" err="1">
                <a:latin typeface="Times New Roman" panose="02020603050405020304" pitchFamily="18" charset="0"/>
                <a:cs typeface="Times New Roman" panose="02020603050405020304" pitchFamily="18" charset="0"/>
              </a:rPr>
              <a:t>final_probs</a:t>
            </a:r>
            <a:r>
              <a:rPr lang="en-US" sz="1800" dirty="0">
                <a:latin typeface="Times New Roman" panose="02020603050405020304" pitchFamily="18" charset="0"/>
                <a:cs typeface="Times New Roman" panose="02020603050405020304" pitchFamily="18" charset="0"/>
              </a:rPr>
              <a:t> and: - </a:t>
            </a:r>
            <a:r>
              <a:rPr lang="en-US" sz="1800" dirty="0" err="1">
                <a:latin typeface="Times New Roman" panose="02020603050405020304" pitchFamily="18" charset="0"/>
                <a:cs typeface="Times New Roman" panose="02020603050405020304" pitchFamily="18" charset="0"/>
              </a:rPr>
              <a:t>y_super_calibrated</a:t>
            </a:r>
            <a:r>
              <a:rPr lang="en-US" sz="1800" dirty="0">
                <a:latin typeface="Times New Roman" panose="02020603050405020304" pitchFamily="18" charset="0"/>
                <a:cs typeface="Times New Roman" panose="02020603050405020304" pitchFamily="18" charset="0"/>
              </a:rPr>
              <a:t> = (</a:t>
            </a:r>
            <a:r>
              <a:rPr lang="en-US" sz="1800" dirty="0" err="1">
                <a:latin typeface="Times New Roman" panose="02020603050405020304" pitchFamily="18" charset="0"/>
                <a:cs typeface="Times New Roman" panose="02020603050405020304" pitchFamily="18" charset="0"/>
              </a:rPr>
              <a:t>final_probs</a:t>
            </a:r>
            <a:r>
              <a:rPr lang="en-US" sz="1800" dirty="0">
                <a:latin typeface="Times New Roman" panose="02020603050405020304" pitchFamily="18" charset="0"/>
                <a:cs typeface="Times New Roman" panose="02020603050405020304" pitchFamily="18" charset="0"/>
              </a:rPr>
              <a:t> &gt;= 0.5).</a:t>
            </a:r>
            <a:r>
              <a:rPr lang="en-US" sz="1800" dirty="0" err="1">
                <a:latin typeface="Times New Roman" panose="02020603050405020304" pitchFamily="18" charset="0"/>
                <a:cs typeface="Times New Roman" panose="02020603050405020304" pitchFamily="18" charset="0"/>
              </a:rPr>
              <a:t>astype</a:t>
            </a:r>
            <a:r>
              <a:rPr lang="en-US" sz="1800" dirty="0">
                <a:latin typeface="Times New Roman" panose="02020603050405020304" pitchFamily="18" charset="0"/>
                <a:cs typeface="Times New Roman" panose="02020603050405020304" pitchFamily="18" charset="0"/>
              </a:rPr>
              <a:t>(int)- You evaluate accuracy and </a:t>
            </a:r>
            <a:r>
              <a:rPr lang="en-US" sz="1800" dirty="0" err="1">
                <a:latin typeface="Times New Roman" panose="02020603050405020304" pitchFamily="18" charset="0"/>
                <a:cs typeface="Times New Roman" panose="02020603050405020304" pitchFamily="18" charset="0"/>
              </a:rPr>
              <a:t>classification_report</a:t>
            </a:r>
            <a:r>
              <a:rPr lang="en-US" sz="1800" dirty="0">
                <a:latin typeface="Times New Roman" panose="02020603050405020304" pitchFamily="18" charset="0"/>
                <a:cs typeface="Times New Roman" panose="02020603050405020304" pitchFamily="18" charset="0"/>
              </a:rPr>
              <a:t>.- Purpose: - Learns an optimal combination of model probabilities and calibrates final decisions through logistic regression.</a:t>
            </a:r>
          </a:p>
        </p:txBody>
      </p:sp>
      <p:sp>
        <p:nvSpPr>
          <p:cNvPr id="5" name="Date Placeholder 4">
            <a:extLst>
              <a:ext uri="{FF2B5EF4-FFF2-40B4-BE49-F238E27FC236}">
                <a16:creationId xmlns:a16="http://schemas.microsoft.com/office/drawing/2014/main" id="{8C55BE1F-200D-C758-B84F-BE23B031651A}"/>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2A5EDC83-7B96-B1F3-487D-8CC428197711}"/>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AA3BAA6E-C445-966C-7B10-AA653235DD79}"/>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30</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38765B-57C5-11DD-3F37-D4D4AF2ABB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2596" y="2720629"/>
            <a:ext cx="5166808" cy="2667231"/>
          </a:xfrm>
          <a:prstGeom prst="rect">
            <a:avLst/>
          </a:prstGeom>
        </p:spPr>
      </p:pic>
    </p:spTree>
    <p:extLst>
      <p:ext uri="{BB962C8B-B14F-4D97-AF65-F5344CB8AC3E}">
        <p14:creationId xmlns:p14="http://schemas.microsoft.com/office/powerpoint/2010/main" val="421350161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0D03A-512E-0B4A-0A53-0B7A3EB1DE4C}"/>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0C777E8-CE71-25BC-AF10-C6EB6FD7C978}"/>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D2FFEA8D-7018-F136-E9BA-FF4F35CC888F}"/>
              </a:ext>
            </a:extLst>
          </p:cNvPr>
          <p:cNvSpPr>
            <a:spLocks noGrp="1"/>
          </p:cNvSpPr>
          <p:nvPr>
            <p:ph idx="1"/>
          </p:nvPr>
        </p:nvSpPr>
        <p:spPr>
          <a:xfrm>
            <a:off x="502138" y="1264535"/>
            <a:ext cx="10515600" cy="5091816"/>
          </a:xfrm>
        </p:spPr>
        <p:txBody>
          <a:bodyPr>
            <a:normAutofit/>
          </a:bodyPr>
          <a:lstStyle/>
          <a:p>
            <a:pPr marL="0" indent="0">
              <a:buNone/>
            </a:pPr>
            <a:r>
              <a:rPr lang="en-US" sz="1800" b="1" dirty="0">
                <a:latin typeface="Times New Roman" panose="02020603050405020304" pitchFamily="18" charset="0"/>
                <a:cs typeface="Times New Roman" panose="02020603050405020304" pitchFamily="18" charset="0"/>
              </a:rPr>
              <a:t>19. Final Stacked Ensemble and Error-Boosting Layer: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step pushes the system toward its highest possible accuracy by stacking multiple model outputs and then cleaning up the toughest mistakes. First, the probability outputs from </a:t>
            </a:r>
            <a:r>
              <a:rPr lang="en-US" sz="1800" dirty="0" err="1">
                <a:latin typeface="Times New Roman" panose="02020603050405020304" pitchFamily="18" charset="0"/>
                <a:cs typeface="Times New Roman" panose="02020603050405020304" pitchFamily="18" charset="0"/>
              </a:rPr>
              <a:t>TabNet</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LightGBM</a:t>
            </a:r>
            <a:r>
              <a:rPr lang="en-US" sz="1800" dirty="0">
                <a:latin typeface="Times New Roman" panose="02020603050405020304" pitchFamily="18" charset="0"/>
                <a:cs typeface="Times New Roman" panose="02020603050405020304" pitchFamily="18" charset="0"/>
              </a:rPr>
              <a:t>, and Random Forest are combined into a single input matrix and fed into a logistic regression meta-model. That model learns how to weight each source and produces a new set of final probabilities, which are then converted into hard predictions and evaluated. Any samples that still get misclassified at this stage are isolated and passed into an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booster trained specifically on these remaining errors. </a:t>
            </a:r>
            <a:r>
              <a:rPr lang="en-US" sz="1800" dirty="0" err="1">
                <a:latin typeface="Times New Roman" panose="02020603050405020304" pitchFamily="18" charset="0"/>
                <a:cs typeface="Times New Roman" panose="02020603050405020304" pitchFamily="18" charset="0"/>
              </a:rPr>
              <a:t>XGBoost</a:t>
            </a:r>
            <a:r>
              <a:rPr lang="en-US" sz="1800" dirty="0">
                <a:latin typeface="Times New Roman" panose="02020603050405020304" pitchFamily="18" charset="0"/>
                <a:cs typeface="Times New Roman" panose="02020603050405020304" pitchFamily="18" charset="0"/>
              </a:rPr>
              <a:t> generates corrected labels for these edge cases, and those updates are merged back into the ensemble’s predictions to form the ultimate output. This layer acts as the last polishing pass, tightening accuracy and fixing residual errors that earlier models couldn’t resolve.</a:t>
            </a:r>
          </a:p>
        </p:txBody>
      </p:sp>
      <p:sp>
        <p:nvSpPr>
          <p:cNvPr id="5" name="Date Placeholder 4">
            <a:extLst>
              <a:ext uri="{FF2B5EF4-FFF2-40B4-BE49-F238E27FC236}">
                <a16:creationId xmlns:a16="http://schemas.microsoft.com/office/drawing/2014/main" id="{CC676EB1-98D4-AEDA-39DB-17C39A4E148E}"/>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9661BA9A-535F-AEB8-D437-6D870B4DC80C}"/>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1D4496E0-4C15-6DAC-ABF8-4802E1BAFA4B}"/>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31</a:t>
            </a:fld>
            <a:endParaRPr lang="en-US">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2D38D5EA-B359-2D3F-2553-BEF6D0A6FA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0334" y="3810443"/>
            <a:ext cx="5121084" cy="1920406"/>
          </a:xfrm>
          <a:prstGeom prst="rect">
            <a:avLst/>
          </a:prstGeom>
        </p:spPr>
      </p:pic>
      <p:pic>
        <p:nvPicPr>
          <p:cNvPr id="11" name="Picture 10">
            <a:extLst>
              <a:ext uri="{FF2B5EF4-FFF2-40B4-BE49-F238E27FC236}">
                <a16:creationId xmlns:a16="http://schemas.microsoft.com/office/drawing/2014/main" id="{B2B4A342-7287-4CA6-EC14-179447D30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7480" y="3648856"/>
            <a:ext cx="4289049" cy="2243580"/>
          </a:xfrm>
          <a:prstGeom prst="rect">
            <a:avLst/>
          </a:prstGeom>
        </p:spPr>
      </p:pic>
    </p:spTree>
    <p:extLst>
      <p:ext uri="{BB962C8B-B14F-4D97-AF65-F5344CB8AC3E}">
        <p14:creationId xmlns:p14="http://schemas.microsoft.com/office/powerpoint/2010/main" val="385614538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9C010-2FDE-2E9B-DB6C-3F8A84EB9EC2}"/>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FA45491-F131-A502-56C3-D4B0D222EF39}"/>
              </a:ext>
            </a:extLst>
          </p:cNvPr>
          <p:cNvSpPr>
            <a:spLocks noGrp="1"/>
          </p:cNvSpPr>
          <p:nvPr>
            <p:ph type="title"/>
          </p:nvPr>
        </p:nvSpPr>
        <p:spPr>
          <a:xfrm>
            <a:off x="673347" y="136525"/>
            <a:ext cx="10173182" cy="1128009"/>
          </a:xfrm>
        </p:spPr>
        <p:txBody>
          <a:bodyPr>
            <a:normAutofit/>
          </a:bodyPr>
          <a:lstStyle/>
          <a:p>
            <a:pPr algn="ctr"/>
            <a:r>
              <a:rPr lang="en-US" sz="4000" b="1" dirty="0">
                <a:latin typeface="Times New Roman" panose="02020603050405020304" pitchFamily="18" charset="0"/>
                <a:cs typeface="Times New Roman" panose="02020603050405020304" pitchFamily="18" charset="0"/>
              </a:rPr>
              <a:t>Implementation</a:t>
            </a:r>
          </a:p>
        </p:txBody>
      </p:sp>
      <p:sp>
        <p:nvSpPr>
          <p:cNvPr id="9" name="Content Placeholder 8">
            <a:extLst>
              <a:ext uri="{FF2B5EF4-FFF2-40B4-BE49-F238E27FC236}">
                <a16:creationId xmlns:a16="http://schemas.microsoft.com/office/drawing/2014/main" id="{312BFBBE-7ED7-0289-5A62-73C4F2F9BD17}"/>
              </a:ext>
            </a:extLst>
          </p:cNvPr>
          <p:cNvSpPr>
            <a:spLocks noGrp="1"/>
          </p:cNvSpPr>
          <p:nvPr>
            <p:ph idx="1"/>
          </p:nvPr>
        </p:nvSpPr>
        <p:spPr>
          <a:xfrm>
            <a:off x="502138" y="1264535"/>
            <a:ext cx="10515600" cy="5091816"/>
          </a:xfrm>
        </p:spPr>
        <p:txBody>
          <a:bodyPr>
            <a:normAutofit/>
          </a:bodyPr>
          <a:lstStyle/>
          <a:p>
            <a:pPr marL="0" indent="0" algn="ctr">
              <a:buNone/>
            </a:pPr>
            <a:r>
              <a:rPr lang="en-US" sz="1800" b="1" dirty="0">
                <a:latin typeface="Times New Roman" panose="02020603050405020304" pitchFamily="18" charset="0"/>
                <a:cs typeface="Times New Roman" panose="02020603050405020304" pitchFamily="18" charset="0"/>
              </a:rPr>
              <a:t>EVAULATION</a:t>
            </a:r>
          </a:p>
          <a:p>
            <a:pPr marL="0" indent="0" algn="ctr">
              <a:buNone/>
            </a:pPr>
            <a:endParaRPr lang="en-US" sz="1800" b="1"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31E67528-D441-FD50-1AD9-F29ACC303ABF}"/>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07C818E0-105E-07AC-8A54-CEEFCDAA2DA9}"/>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4EEF79A0-6937-8D76-1CAC-0A81080667F6}"/>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32</a:t>
            </a:fld>
            <a:endParaRPr lang="en-US">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B927D150-06D7-C3BB-2A86-A421F2749A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745" y="1717986"/>
            <a:ext cx="5508860" cy="4273240"/>
          </a:xfrm>
          <a:prstGeom prst="rect">
            <a:avLst/>
          </a:prstGeom>
        </p:spPr>
      </p:pic>
      <p:pic>
        <p:nvPicPr>
          <p:cNvPr id="12" name="Picture 11">
            <a:extLst>
              <a:ext uri="{FF2B5EF4-FFF2-40B4-BE49-F238E27FC236}">
                <a16:creationId xmlns:a16="http://schemas.microsoft.com/office/drawing/2014/main" id="{9B15EA21-DBCB-1E30-DD20-5A7141A548C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77397" y="1574828"/>
            <a:ext cx="5646982" cy="4559556"/>
          </a:xfrm>
          <a:prstGeom prst="rect">
            <a:avLst/>
          </a:prstGeom>
        </p:spPr>
      </p:pic>
    </p:spTree>
    <p:extLst>
      <p:ext uri="{BB962C8B-B14F-4D97-AF65-F5344CB8AC3E}">
        <p14:creationId xmlns:p14="http://schemas.microsoft.com/office/powerpoint/2010/main" val="13114357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D858B-0E39-BC58-9304-4A4262EE71B4}"/>
              </a:ext>
            </a:extLst>
          </p:cNvPr>
          <p:cNvSpPr>
            <a:spLocks noGrp="1"/>
          </p:cNvSpPr>
          <p:nvPr>
            <p:ph type="dt" sz="half" idx="10"/>
          </p:nvPr>
        </p:nvSpPr>
        <p:spPr/>
        <p:txBody>
          <a:bodyPr/>
          <a:lstStyle/>
          <a:p>
            <a:fld id="{76868DE5-7FCA-479D-AADB-C9BE2C5EAF1E}" type="datetime1">
              <a:rPr lang="en-IN" smtClean="0"/>
              <a:t>04-12-2025</a:t>
            </a:fld>
            <a:endParaRPr lang="en-IN" dirty="0"/>
          </a:p>
        </p:txBody>
      </p:sp>
      <p:sp>
        <p:nvSpPr>
          <p:cNvPr id="3" name="Footer Placeholder 2">
            <a:extLst>
              <a:ext uri="{FF2B5EF4-FFF2-40B4-BE49-F238E27FC236}">
                <a16:creationId xmlns:a16="http://schemas.microsoft.com/office/drawing/2014/main" id="{042FE6AF-8D4F-5B8D-3C19-742DD7B4D855}"/>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DC7F338E-16D4-613B-D5AD-560B5F42A5B8}"/>
              </a:ext>
            </a:extLst>
          </p:cNvPr>
          <p:cNvSpPr>
            <a:spLocks noGrp="1"/>
          </p:cNvSpPr>
          <p:nvPr>
            <p:ph type="sldNum" sz="quarter" idx="12"/>
          </p:nvPr>
        </p:nvSpPr>
        <p:spPr/>
        <p:txBody>
          <a:bodyPr/>
          <a:lstStyle/>
          <a:p>
            <a:fld id="{65DCBD69-296B-4D7C-AF62-9B588FC78772}" type="slidenum">
              <a:rPr lang="en-IN" smtClean="0"/>
              <a:t>33</a:t>
            </a:fld>
            <a:endParaRPr lang="en-IN"/>
          </a:p>
        </p:txBody>
      </p:sp>
      <p:pic>
        <p:nvPicPr>
          <p:cNvPr id="5" name="Picture 4">
            <a:extLst>
              <a:ext uri="{FF2B5EF4-FFF2-40B4-BE49-F238E27FC236}">
                <a16:creationId xmlns:a16="http://schemas.microsoft.com/office/drawing/2014/main" id="{6AF87535-4F61-8E34-DB8A-C11DA147918E}"/>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BF7B9F74-2244-AFAF-F85A-EC468B33AC68}"/>
              </a:ext>
            </a:extLst>
          </p:cNvPr>
          <p:cNvSpPr txBox="1"/>
          <p:nvPr/>
        </p:nvSpPr>
        <p:spPr>
          <a:xfrm>
            <a:off x="2680607" y="579027"/>
            <a:ext cx="6830785"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Prediction Page</a:t>
            </a:r>
            <a:endParaRPr lang="en-IN" sz="4000" dirty="0"/>
          </a:p>
        </p:txBody>
      </p:sp>
      <p:pic>
        <p:nvPicPr>
          <p:cNvPr id="8" name="Picture 7">
            <a:extLst>
              <a:ext uri="{FF2B5EF4-FFF2-40B4-BE49-F238E27FC236}">
                <a16:creationId xmlns:a16="http://schemas.microsoft.com/office/drawing/2014/main" id="{95916C1C-53EA-CC86-C4B6-1002F95D8D5D}"/>
              </a:ext>
            </a:extLst>
          </p:cNvPr>
          <p:cNvPicPr>
            <a:picLocks noChangeAspect="1"/>
          </p:cNvPicPr>
          <p:nvPr/>
        </p:nvPicPr>
        <p:blipFill>
          <a:blip r:embed="rId3">
            <a:extLst>
              <a:ext uri="{28A0092B-C50C-407E-A947-70E740481C1C}">
                <a14:useLocalDpi xmlns:a14="http://schemas.microsoft.com/office/drawing/2010/main" val="0"/>
              </a:ext>
            </a:extLst>
          </a:blip>
          <a:srcRect l="5412" t="14938" r="3970" b="5998"/>
          <a:stretch>
            <a:fillRect/>
          </a:stretch>
        </p:blipFill>
        <p:spPr>
          <a:xfrm>
            <a:off x="659876" y="1261172"/>
            <a:ext cx="11048215" cy="5120919"/>
          </a:xfrm>
          <a:prstGeom prst="rect">
            <a:avLst/>
          </a:prstGeom>
        </p:spPr>
      </p:pic>
    </p:spTree>
    <p:extLst>
      <p:ext uri="{BB962C8B-B14F-4D97-AF65-F5344CB8AC3E}">
        <p14:creationId xmlns:p14="http://schemas.microsoft.com/office/powerpoint/2010/main" val="6086912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73D858B-0E39-BC58-9304-4A4262EE71B4}"/>
              </a:ext>
            </a:extLst>
          </p:cNvPr>
          <p:cNvSpPr>
            <a:spLocks noGrp="1"/>
          </p:cNvSpPr>
          <p:nvPr>
            <p:ph type="dt" sz="half" idx="10"/>
          </p:nvPr>
        </p:nvSpPr>
        <p:spPr/>
        <p:txBody>
          <a:bodyPr/>
          <a:lstStyle/>
          <a:p>
            <a:fld id="{190A71E1-D1C0-44B9-AC08-32F46BE5D19F}" type="datetime1">
              <a:rPr lang="en-IN" smtClean="0"/>
              <a:t>04-12-2025</a:t>
            </a:fld>
            <a:endParaRPr lang="en-IN" dirty="0"/>
          </a:p>
        </p:txBody>
      </p:sp>
      <p:sp>
        <p:nvSpPr>
          <p:cNvPr id="3" name="Footer Placeholder 2">
            <a:extLst>
              <a:ext uri="{FF2B5EF4-FFF2-40B4-BE49-F238E27FC236}">
                <a16:creationId xmlns:a16="http://schemas.microsoft.com/office/drawing/2014/main" id="{042FE6AF-8D4F-5B8D-3C19-742DD7B4D855}"/>
              </a:ext>
            </a:extLst>
          </p:cNvPr>
          <p:cNvSpPr>
            <a:spLocks noGrp="1"/>
          </p:cNvSpPr>
          <p:nvPr>
            <p:ph type="ftr" sz="quarter" idx="11"/>
          </p:nvPr>
        </p:nvSpPr>
        <p:spPr/>
        <p:txBody>
          <a:bodyPr/>
          <a:lstStyle/>
          <a:p>
            <a:r>
              <a:rPr lang="en-US"/>
              <a:t>Review No. 01        Batch No. CB1           Department of CSE</a:t>
            </a:r>
            <a:endParaRPr lang="en-IN" dirty="0"/>
          </a:p>
        </p:txBody>
      </p:sp>
      <p:sp>
        <p:nvSpPr>
          <p:cNvPr id="4" name="Slide Number Placeholder 3">
            <a:extLst>
              <a:ext uri="{FF2B5EF4-FFF2-40B4-BE49-F238E27FC236}">
                <a16:creationId xmlns:a16="http://schemas.microsoft.com/office/drawing/2014/main" id="{DC7F338E-16D4-613B-D5AD-560B5F42A5B8}"/>
              </a:ext>
            </a:extLst>
          </p:cNvPr>
          <p:cNvSpPr>
            <a:spLocks noGrp="1"/>
          </p:cNvSpPr>
          <p:nvPr>
            <p:ph type="sldNum" sz="quarter" idx="12"/>
          </p:nvPr>
        </p:nvSpPr>
        <p:spPr/>
        <p:txBody>
          <a:bodyPr/>
          <a:lstStyle/>
          <a:p>
            <a:fld id="{65DCBD69-296B-4D7C-AF62-9B588FC78772}" type="slidenum">
              <a:rPr lang="en-IN" smtClean="0"/>
              <a:t>34</a:t>
            </a:fld>
            <a:endParaRPr lang="en-IN"/>
          </a:p>
        </p:txBody>
      </p:sp>
      <p:pic>
        <p:nvPicPr>
          <p:cNvPr id="5" name="Picture 4">
            <a:extLst>
              <a:ext uri="{FF2B5EF4-FFF2-40B4-BE49-F238E27FC236}">
                <a16:creationId xmlns:a16="http://schemas.microsoft.com/office/drawing/2014/main" id="{6AF87535-4F61-8E34-DB8A-C11DA147918E}"/>
              </a:ext>
            </a:extLst>
          </p:cNvPr>
          <p:cNvPicPr>
            <a:picLocks noChangeAspect="1"/>
          </p:cNvPicPr>
          <p:nvPr/>
        </p:nvPicPr>
        <p:blipFill>
          <a:blip r:embed="rId2"/>
          <a:stretch>
            <a:fillRect/>
          </a:stretch>
        </p:blipFill>
        <p:spPr>
          <a:xfrm>
            <a:off x="0" y="0"/>
            <a:ext cx="3762900" cy="579027"/>
          </a:xfrm>
          <a:prstGeom prst="rect">
            <a:avLst/>
          </a:prstGeom>
        </p:spPr>
      </p:pic>
      <p:sp>
        <p:nvSpPr>
          <p:cNvPr id="7" name="TextBox 6">
            <a:extLst>
              <a:ext uri="{FF2B5EF4-FFF2-40B4-BE49-F238E27FC236}">
                <a16:creationId xmlns:a16="http://schemas.microsoft.com/office/drawing/2014/main" id="{BF7B9F74-2244-AFAF-F85A-EC468B33AC68}"/>
              </a:ext>
            </a:extLst>
          </p:cNvPr>
          <p:cNvSpPr txBox="1"/>
          <p:nvPr/>
        </p:nvSpPr>
        <p:spPr>
          <a:xfrm>
            <a:off x="2680606" y="168797"/>
            <a:ext cx="6830785" cy="707886"/>
          </a:xfrm>
          <a:prstGeom prst="rect">
            <a:avLst/>
          </a:prstGeom>
          <a:noFill/>
        </p:spPr>
        <p:txBody>
          <a:bodyPr wrap="square">
            <a:spAutoFit/>
          </a:bodyPr>
          <a:lstStyle/>
          <a:p>
            <a:pPr algn="ctr"/>
            <a:r>
              <a:rPr lang="en-US" sz="4000" b="1" dirty="0">
                <a:latin typeface="Times New Roman" panose="02020603050405020304" pitchFamily="18" charset="0"/>
                <a:cs typeface="Times New Roman" panose="02020603050405020304" pitchFamily="18" charset="0"/>
              </a:rPr>
              <a:t>Prediction Results</a:t>
            </a:r>
            <a:endParaRPr lang="en-IN" sz="4000" dirty="0"/>
          </a:p>
        </p:txBody>
      </p:sp>
      <p:pic>
        <p:nvPicPr>
          <p:cNvPr id="8" name="Picture 7">
            <a:extLst>
              <a:ext uri="{FF2B5EF4-FFF2-40B4-BE49-F238E27FC236}">
                <a16:creationId xmlns:a16="http://schemas.microsoft.com/office/drawing/2014/main" id="{D40A7369-67CD-EAAC-0263-C02DA2033D2F}"/>
              </a:ext>
            </a:extLst>
          </p:cNvPr>
          <p:cNvPicPr>
            <a:picLocks noChangeAspect="1"/>
          </p:cNvPicPr>
          <p:nvPr/>
        </p:nvPicPr>
        <p:blipFill>
          <a:blip r:embed="rId3">
            <a:extLst>
              <a:ext uri="{28A0092B-C50C-407E-A947-70E740481C1C}">
                <a14:useLocalDpi xmlns:a14="http://schemas.microsoft.com/office/drawing/2010/main" val="0"/>
              </a:ext>
            </a:extLst>
          </a:blip>
          <a:srcRect l="1777" t="11904" r="1572"/>
          <a:stretch>
            <a:fillRect/>
          </a:stretch>
        </p:blipFill>
        <p:spPr>
          <a:xfrm>
            <a:off x="838199" y="876683"/>
            <a:ext cx="10515601" cy="5326154"/>
          </a:xfrm>
          <a:prstGeom prst="rect">
            <a:avLst/>
          </a:prstGeom>
        </p:spPr>
      </p:pic>
    </p:spTree>
    <p:extLst>
      <p:ext uri="{BB962C8B-B14F-4D97-AF65-F5344CB8AC3E}">
        <p14:creationId xmlns:p14="http://schemas.microsoft.com/office/powerpoint/2010/main" val="267196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RESULTS &amp; ANALYSIS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502138" y="1493134"/>
            <a:ext cx="10515600" cy="4351338"/>
          </a:xfrm>
        </p:spPr>
        <p:txBody>
          <a:bodyPr>
            <a:normAutofit fontScale="92500" lnSpcReduction="20000"/>
          </a:bodyPr>
          <a:lstStyle/>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Performance Metrics:</a:t>
            </a:r>
            <a:r>
              <a:rPr lang="en-US" dirty="0">
                <a:latin typeface="Times New Roman" panose="02020603050405020304" pitchFamily="18" charset="0"/>
                <a:cs typeface="Times New Roman" panose="02020603050405020304" pitchFamily="18" charset="0"/>
              </a:rPr>
              <a:t> The proposed </a:t>
            </a:r>
            <a:r>
              <a:rPr lang="en-US" dirty="0" err="1">
                <a:latin typeface="Times New Roman" panose="02020603050405020304" pitchFamily="18" charset="0"/>
                <a:cs typeface="Times New Roman" panose="02020603050405020304" pitchFamily="18" charset="0"/>
              </a:rPr>
              <a:t>FuzzTabIDS</a:t>
            </a:r>
            <a:r>
              <a:rPr lang="en-US" dirty="0">
                <a:latin typeface="Times New Roman" panose="02020603050405020304" pitchFamily="18" charset="0"/>
                <a:cs typeface="Times New Roman" panose="02020603050405020304" pitchFamily="18" charset="0"/>
              </a:rPr>
              <a:t> achieved 99.99%</a:t>
            </a:r>
            <a:r>
              <a:rPr lang="en-US" b="1" dirty="0">
                <a:latin typeface="Times New Roman" panose="02020603050405020304" pitchFamily="18" charset="0"/>
                <a:cs typeface="Times New Roman" panose="02020603050405020304" pitchFamily="18" charset="0"/>
              </a:rPr>
              <a:t> accuracy</a:t>
            </a:r>
            <a:r>
              <a:rPr lang="en-US" dirty="0">
                <a:latin typeface="Times New Roman" panose="02020603050405020304" pitchFamily="18" charset="0"/>
                <a:cs typeface="Times New Roman" panose="02020603050405020304" pitchFamily="18" charset="0"/>
              </a:rPr>
              <a:t> in binary and multi-class classification, with precision, recall, and F1-score all reaching 1.00, demonstrating perfect detection performance.</a:t>
            </a:r>
          </a:p>
          <a:p>
            <a:pPr algn="just"/>
            <a:r>
              <a:rPr lang="en-US" b="1" dirty="0">
                <a:latin typeface="Times New Roman" panose="02020603050405020304" pitchFamily="18" charset="0"/>
                <a:cs typeface="Times New Roman" panose="02020603050405020304" pitchFamily="18" charset="0"/>
              </a:rPr>
              <a:t>Comparative Analysis:</a:t>
            </a:r>
            <a:r>
              <a:rPr lang="en-US" dirty="0">
                <a:latin typeface="Times New Roman" panose="02020603050405020304" pitchFamily="18" charset="0"/>
                <a:cs typeface="Times New Roman" panose="02020603050405020304" pitchFamily="18" charset="0"/>
              </a:rPr>
              <a:t> The system outperformed all baseline models (SVM, CNN, LSTM, Random Forest, and standalone </a:t>
            </a:r>
            <a:r>
              <a:rPr lang="en-US" dirty="0" err="1">
                <a:latin typeface="Times New Roman" panose="02020603050405020304" pitchFamily="18" charset="0"/>
                <a:cs typeface="Times New Roman" panose="02020603050405020304" pitchFamily="18" charset="0"/>
              </a:rPr>
              <a:t>TabNet</a:t>
            </a:r>
            <a:r>
              <a:rPr lang="en-US" dirty="0">
                <a:latin typeface="Times New Roman" panose="02020603050405020304" pitchFamily="18" charset="0"/>
                <a:cs typeface="Times New Roman" panose="02020603050405020304" pitchFamily="18" charset="0"/>
              </a:rPr>
              <a:t>), showing higher accuracy, faster convergence, and stronger recall on minority attack classes.</a:t>
            </a:r>
          </a:p>
          <a:p>
            <a:pPr algn="just"/>
            <a:r>
              <a:rPr lang="en-US" b="1" dirty="0">
                <a:latin typeface="Times New Roman" panose="02020603050405020304" pitchFamily="18" charset="0"/>
                <a:cs typeface="Times New Roman" panose="02020603050405020304" pitchFamily="18" charset="0"/>
              </a:rPr>
              <a:t>Stage-wise Improvement:</a:t>
            </a:r>
            <a:r>
              <a:rPr lang="en-US" dirty="0">
                <a:latin typeface="Times New Roman" panose="02020603050405020304" pitchFamily="18" charset="0"/>
                <a:cs typeface="Times New Roman" panose="02020603050405020304" pitchFamily="18" charset="0"/>
              </a:rPr>
              <a:t> Each module — Fuzzy Logic, Micro-Correction, Ensemble, and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 progressively enhanced results, proving the effectiveness of the hybrid layered design.</a:t>
            </a:r>
          </a:p>
          <a:p>
            <a:pPr algn="just"/>
            <a:r>
              <a:rPr lang="en-US" b="1" dirty="0">
                <a:latin typeface="Times New Roman" panose="02020603050405020304" pitchFamily="18" charset="0"/>
                <a:cs typeface="Times New Roman" panose="02020603050405020304" pitchFamily="18" charset="0"/>
              </a:rPr>
              <a:t>Efficiency and Robustness:</a:t>
            </a:r>
            <a:r>
              <a:rPr lang="en-US" dirty="0">
                <a:latin typeface="Times New Roman" panose="02020603050405020304" pitchFamily="18" charset="0"/>
                <a:cs typeface="Times New Roman" panose="02020603050405020304" pitchFamily="18" charset="0"/>
              </a:rPr>
              <a:t> The combination of MRMR feature selection and adaptive correction layers improved model generalization while maintaining low false alarm rates and strong interpretability.</a:t>
            </a:r>
          </a:p>
          <a:p>
            <a:pPr marL="0" indent="0" algn="just">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894E2EFA-2EAD-45C8-A4D0-D627907CEC5B}"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35</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969085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89603A3-058E-0A59-DBEE-9E25BB326B92}"/>
              </a:ext>
            </a:extLst>
          </p:cNvPr>
          <p:cNvSpPr>
            <a:spLocks noGrp="1"/>
          </p:cNvSpPr>
          <p:nvPr>
            <p:ph type="dt" sz="half" idx="10"/>
          </p:nvPr>
        </p:nvSpPr>
        <p:spPr>
          <a:xfrm>
            <a:off x="838200" y="6356350"/>
            <a:ext cx="2743200" cy="365125"/>
          </a:xfrm>
        </p:spPr>
        <p:txBody>
          <a:bodyPr/>
          <a:lstStyle/>
          <a:p>
            <a:fld id="{6127DC00-D533-4F12-9FDF-1BA269CCC61D}" type="datetime1">
              <a:rPr lang="en-IN" smtClean="0"/>
              <a:t>04-12-2025</a:t>
            </a:fld>
            <a:endParaRPr lang="en-IN"/>
          </a:p>
        </p:txBody>
      </p:sp>
      <p:sp>
        <p:nvSpPr>
          <p:cNvPr id="5" name="Footer Placeholder 4">
            <a:extLst>
              <a:ext uri="{FF2B5EF4-FFF2-40B4-BE49-F238E27FC236}">
                <a16:creationId xmlns:a16="http://schemas.microsoft.com/office/drawing/2014/main" id="{46CEE361-3C13-AAEC-DABA-1F4853AD8308}"/>
              </a:ext>
            </a:extLst>
          </p:cNvPr>
          <p:cNvSpPr>
            <a:spLocks noGrp="1"/>
          </p:cNvSpPr>
          <p:nvPr>
            <p:ph type="ftr" sz="quarter" idx="11"/>
          </p:nvPr>
        </p:nvSpPr>
        <p:spPr>
          <a:xfrm>
            <a:off x="4038600" y="6356350"/>
            <a:ext cx="4114800" cy="365125"/>
          </a:xfrm>
        </p:spPr>
        <p:txBody>
          <a:bodyPr/>
          <a:lstStyle/>
          <a:p>
            <a:r>
              <a:rPr lang="en-US"/>
              <a:t>Review No. 01        Batch No. CB1           Department of CSE</a:t>
            </a:r>
            <a:endParaRPr lang="en-IN" dirty="0"/>
          </a:p>
        </p:txBody>
      </p:sp>
      <p:sp>
        <p:nvSpPr>
          <p:cNvPr id="6" name="Slide Number Placeholder 5">
            <a:extLst>
              <a:ext uri="{FF2B5EF4-FFF2-40B4-BE49-F238E27FC236}">
                <a16:creationId xmlns:a16="http://schemas.microsoft.com/office/drawing/2014/main" id="{D4C909CD-31C0-FB8A-E0E3-FEA53E1EBF43}"/>
              </a:ext>
            </a:extLst>
          </p:cNvPr>
          <p:cNvSpPr>
            <a:spLocks noGrp="1"/>
          </p:cNvSpPr>
          <p:nvPr>
            <p:ph type="sldNum" sz="quarter" idx="12"/>
          </p:nvPr>
        </p:nvSpPr>
        <p:spPr>
          <a:xfrm>
            <a:off x="8610600" y="6356350"/>
            <a:ext cx="2743200" cy="365125"/>
          </a:xfrm>
        </p:spPr>
        <p:txBody>
          <a:bodyPr/>
          <a:lstStyle/>
          <a:p>
            <a:fld id="{65DCBD69-296B-4D7C-AF62-9B588FC78772}" type="slidenum">
              <a:rPr lang="en-IN" smtClean="0"/>
              <a:pPr/>
              <a:t>36</a:t>
            </a:fld>
            <a:endParaRPr lang="en-IN"/>
          </a:p>
        </p:txBody>
      </p:sp>
      <p:sp>
        <p:nvSpPr>
          <p:cNvPr id="7" name="TextBox 6">
            <a:extLst>
              <a:ext uri="{FF2B5EF4-FFF2-40B4-BE49-F238E27FC236}">
                <a16:creationId xmlns:a16="http://schemas.microsoft.com/office/drawing/2014/main" id="{63CF88CA-6933-E511-0915-46799D4E4E5F}"/>
              </a:ext>
            </a:extLst>
          </p:cNvPr>
          <p:cNvSpPr txBox="1"/>
          <p:nvPr/>
        </p:nvSpPr>
        <p:spPr>
          <a:xfrm>
            <a:off x="892908" y="5482214"/>
            <a:ext cx="4233985" cy="646331"/>
          </a:xfrm>
          <a:prstGeom prst="rect">
            <a:avLst/>
          </a:prstGeom>
          <a:noFill/>
        </p:spPr>
        <p:txBody>
          <a:bodyPr wrap="square" rtlCol="0">
            <a:spAutoFit/>
          </a:bodyPr>
          <a:lstStyle/>
          <a:p>
            <a:pPr algn="just"/>
            <a:r>
              <a:rPr lang="en-IN" dirty="0">
                <a:solidFill>
                  <a:srgbClr val="FF0000"/>
                </a:solidFill>
                <a:latin typeface="Times New Roman" panose="02020603050405020304" pitchFamily="18" charset="0"/>
                <a:cs typeface="Times New Roman" panose="02020603050405020304" pitchFamily="18" charset="0"/>
              </a:rPr>
              <a:t>Table1. </a:t>
            </a:r>
            <a:r>
              <a:rPr lang="en-IN" dirty="0">
                <a:latin typeface="Times New Roman" panose="02020603050405020304" pitchFamily="18" charset="0"/>
                <a:cs typeface="Times New Roman" panose="02020603050405020304" pitchFamily="18" charset="0"/>
              </a:rPr>
              <a:t>Performance comparison of baseline models on CICIDS-2017 dataset</a:t>
            </a:r>
          </a:p>
        </p:txBody>
      </p:sp>
      <p:sp>
        <p:nvSpPr>
          <p:cNvPr id="9" name="TextBox 8">
            <a:extLst>
              <a:ext uri="{FF2B5EF4-FFF2-40B4-BE49-F238E27FC236}">
                <a16:creationId xmlns:a16="http://schemas.microsoft.com/office/drawing/2014/main" id="{039C9AA7-C801-4ABA-0E8A-48C59527B954}"/>
              </a:ext>
            </a:extLst>
          </p:cNvPr>
          <p:cNvSpPr txBox="1"/>
          <p:nvPr/>
        </p:nvSpPr>
        <p:spPr>
          <a:xfrm>
            <a:off x="6675553" y="4931508"/>
            <a:ext cx="4202249" cy="646331"/>
          </a:xfrm>
          <a:prstGeom prst="rect">
            <a:avLst/>
          </a:prstGeom>
          <a:noFill/>
        </p:spPr>
        <p:txBody>
          <a:bodyPr wrap="square" rtlCol="0">
            <a:spAutoFit/>
          </a:bodyPr>
          <a:lstStyle/>
          <a:p>
            <a:pPr algn="just"/>
            <a:r>
              <a:rPr lang="en-IN" dirty="0">
                <a:solidFill>
                  <a:srgbClr val="FF0000"/>
                </a:solidFill>
                <a:latin typeface="Times New Roman" panose="02020603050405020304" pitchFamily="18" charset="0"/>
                <a:cs typeface="Times New Roman" panose="02020603050405020304" pitchFamily="18" charset="0"/>
              </a:rPr>
              <a:t>Table2. </a:t>
            </a:r>
            <a:r>
              <a:rPr lang="en-IN" dirty="0">
                <a:latin typeface="Times New Roman" panose="02020603050405020304" pitchFamily="18" charset="0"/>
                <a:cs typeface="Times New Roman" panose="02020603050405020304" pitchFamily="18" charset="0"/>
              </a:rPr>
              <a:t>Evaluation metrics of </a:t>
            </a:r>
            <a:r>
              <a:rPr lang="en-IN" dirty="0" err="1">
                <a:latin typeface="Times New Roman" panose="02020603050405020304" pitchFamily="18" charset="0"/>
                <a:cs typeface="Times New Roman" panose="02020603050405020304" pitchFamily="18" charset="0"/>
              </a:rPr>
              <a:t>FuzzTabIDS</a:t>
            </a:r>
            <a:r>
              <a:rPr lang="en-IN" dirty="0">
                <a:latin typeface="Times New Roman" panose="02020603050405020304" pitchFamily="18" charset="0"/>
                <a:cs typeface="Times New Roman" panose="02020603050405020304" pitchFamily="18" charset="0"/>
              </a:rPr>
              <a:t> over the stages</a:t>
            </a:r>
          </a:p>
        </p:txBody>
      </p:sp>
      <p:pic>
        <p:nvPicPr>
          <p:cNvPr id="12" name="Picture 11">
            <a:extLst>
              <a:ext uri="{FF2B5EF4-FFF2-40B4-BE49-F238E27FC236}">
                <a16:creationId xmlns:a16="http://schemas.microsoft.com/office/drawing/2014/main" id="{6AA5417A-C842-E915-6598-A688B3DF2B2E}"/>
              </a:ext>
            </a:extLst>
          </p:cNvPr>
          <p:cNvPicPr>
            <a:picLocks noChangeAspect="1"/>
          </p:cNvPicPr>
          <p:nvPr/>
        </p:nvPicPr>
        <p:blipFill>
          <a:blip r:embed="rId2"/>
          <a:stretch>
            <a:fillRect/>
          </a:stretch>
        </p:blipFill>
        <p:spPr>
          <a:xfrm>
            <a:off x="527901" y="1034743"/>
            <a:ext cx="4988547" cy="4319682"/>
          </a:xfrm>
          <a:prstGeom prst="rect">
            <a:avLst/>
          </a:prstGeom>
        </p:spPr>
      </p:pic>
      <p:pic>
        <p:nvPicPr>
          <p:cNvPr id="14" name="Picture 13">
            <a:extLst>
              <a:ext uri="{FF2B5EF4-FFF2-40B4-BE49-F238E27FC236}">
                <a16:creationId xmlns:a16="http://schemas.microsoft.com/office/drawing/2014/main" id="{BE8AA953-7D85-7534-5F3F-678368E99D32}"/>
              </a:ext>
            </a:extLst>
          </p:cNvPr>
          <p:cNvPicPr>
            <a:picLocks noChangeAspect="1"/>
          </p:cNvPicPr>
          <p:nvPr/>
        </p:nvPicPr>
        <p:blipFill>
          <a:blip r:embed="rId3"/>
          <a:stretch>
            <a:fillRect/>
          </a:stretch>
        </p:blipFill>
        <p:spPr>
          <a:xfrm>
            <a:off x="6675554" y="1455214"/>
            <a:ext cx="4580050" cy="3362391"/>
          </a:xfrm>
          <a:prstGeom prst="rect">
            <a:avLst/>
          </a:prstGeom>
        </p:spPr>
      </p:pic>
    </p:spTree>
    <p:extLst>
      <p:ext uri="{BB962C8B-B14F-4D97-AF65-F5344CB8AC3E}">
        <p14:creationId xmlns:p14="http://schemas.microsoft.com/office/powerpoint/2010/main" val="413709173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CONCLUSION and FUTURE SCOPE</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554479"/>
            <a:ext cx="10515600" cy="4267201"/>
          </a:xfrm>
        </p:spPr>
        <p:txBody>
          <a:bodyPr>
            <a:normAutofit lnSpcReduction="10000"/>
          </a:bodyPr>
          <a:lstStyle/>
          <a:p>
            <a:pPr marL="0" indent="0">
              <a:buNone/>
            </a:pPr>
            <a:r>
              <a:rPr lang="en-US" b="1" dirty="0">
                <a:latin typeface="Times New Roman" panose="02020603050405020304" pitchFamily="18" charset="0"/>
                <a:cs typeface="Times New Roman" panose="02020603050405020304" pitchFamily="18" charset="0"/>
              </a:rPr>
              <a:t>Conclusion</a:t>
            </a:r>
          </a:p>
          <a:p>
            <a:r>
              <a:rPr lang="en-US" dirty="0" err="1">
                <a:latin typeface="Times New Roman" panose="02020603050405020304" pitchFamily="18" charset="0"/>
                <a:cs typeface="Times New Roman" panose="02020603050405020304" pitchFamily="18" charset="0"/>
              </a:rPr>
              <a:t>FuzzTabIDS</a:t>
            </a:r>
            <a:r>
              <a:rPr lang="en-US" dirty="0">
                <a:latin typeface="Times New Roman" panose="02020603050405020304" pitchFamily="18" charset="0"/>
                <a:cs typeface="Times New Roman" panose="02020603050405020304" pitchFamily="18" charset="0"/>
              </a:rPr>
              <a:t> achieved outstanding accuracy and reliability by combining MRMR feature selection, </a:t>
            </a:r>
            <a:r>
              <a:rPr lang="en-US" dirty="0" err="1">
                <a:latin typeface="Times New Roman" panose="02020603050405020304" pitchFamily="18" charset="0"/>
                <a:cs typeface="Times New Roman" panose="02020603050405020304" pitchFamily="18" charset="0"/>
              </a:rPr>
              <a:t>TabNet</a:t>
            </a:r>
            <a:r>
              <a:rPr lang="en-US" dirty="0">
                <a:latin typeface="Times New Roman" panose="02020603050405020304" pitchFamily="18" charset="0"/>
                <a:cs typeface="Times New Roman" panose="02020603050405020304" pitchFamily="18" charset="0"/>
              </a:rPr>
              <a:t>, fuzzy logic, and ensemble corrections. It effectively improves detection precision, recall, and interpretability for modern IDS applications.</a:t>
            </a:r>
          </a:p>
          <a:p>
            <a:pPr marL="0" indent="0">
              <a:buNone/>
            </a:pPr>
            <a:r>
              <a:rPr lang="en-US" b="1" dirty="0">
                <a:latin typeface="Times New Roman" panose="02020603050405020304" pitchFamily="18" charset="0"/>
                <a:cs typeface="Times New Roman" panose="02020603050405020304" pitchFamily="18" charset="0"/>
              </a:rPr>
              <a:t>Future Scope</a:t>
            </a:r>
          </a:p>
          <a:p>
            <a:pPr marL="0" indent="0">
              <a:buNone/>
            </a:pPr>
            <a:r>
              <a:rPr lang="en-US" dirty="0">
                <a:latin typeface="Times New Roman" panose="02020603050405020304" pitchFamily="18" charset="0"/>
                <a:cs typeface="Times New Roman" panose="02020603050405020304" pitchFamily="18" charset="0"/>
              </a:rPr>
              <a:t>• Test on more datasets like NSL-KDD and </a:t>
            </a:r>
            <a:r>
              <a:rPr lang="en-US" dirty="0" err="1">
                <a:latin typeface="Times New Roman" panose="02020603050405020304" pitchFamily="18" charset="0"/>
                <a:cs typeface="Times New Roman" panose="02020603050405020304" pitchFamily="18" charset="0"/>
              </a:rPr>
              <a:t>BoT</a:t>
            </a:r>
            <a:r>
              <a:rPr lang="en-US" dirty="0">
                <a:latin typeface="Times New Roman" panose="02020603050405020304" pitchFamily="18" charset="0"/>
                <a:cs typeface="Times New Roman" panose="02020603050405020304" pitchFamily="18" charset="0"/>
              </a:rPr>
              <a:t>-IoT.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Optimize for real-time intrusion detection.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Add online learning for adaptive updates.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Enhance model explainability and visualization.</a:t>
            </a:r>
          </a:p>
          <a:p>
            <a:pPr>
              <a:lnSpc>
                <a:spcPct val="100000"/>
              </a:lnSpc>
            </a:pPr>
            <a:endParaRPr lang="en-IN" sz="28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04D70D25-941D-4DA8-832D-A9BE16EE2193}"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37</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11103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45DB3B1-7702-A34D-B15A-E964B95D6FB5}"/>
              </a:ext>
            </a:extLst>
          </p:cNvPr>
          <p:cNvSpPr>
            <a:spLocks noGrp="1"/>
          </p:cNvSpPr>
          <p:nvPr>
            <p:ph type="title"/>
          </p:nvPr>
        </p:nvSpPr>
        <p:spPr>
          <a:xfrm>
            <a:off x="1180618" y="365125"/>
            <a:ext cx="10173182" cy="1128009"/>
          </a:xfrm>
        </p:spPr>
        <p:txBody>
          <a:bodyPr/>
          <a:lstStyle/>
          <a:p>
            <a:pPr algn="ctr"/>
            <a:r>
              <a:rPr lang="en-US" b="1" dirty="0">
                <a:latin typeface="Times New Roman" panose="02020603050405020304" pitchFamily="18" charset="0"/>
                <a:cs typeface="Times New Roman" panose="02020603050405020304" pitchFamily="18" charset="0"/>
              </a:rPr>
              <a:t>REFERENCES</a:t>
            </a:r>
          </a:p>
        </p:txBody>
      </p:sp>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1266890"/>
            <a:ext cx="10615367" cy="4683829"/>
          </a:xfrm>
        </p:spPr>
        <p:txBody>
          <a:bodyPr>
            <a:noAutofit/>
          </a:bodyPr>
          <a:lstStyle/>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M. A. Umar, Z. Chen, K. Shuaib, and Y. Liu, ”Effects of Feature Selection and Normalization on Network </a:t>
            </a:r>
            <a:r>
              <a:rPr lang="en-US" sz="2000" dirty="0" err="1">
                <a:latin typeface="Times New Roman" panose="02020603050405020304" pitchFamily="18" charset="0"/>
                <a:cs typeface="Times New Roman" panose="02020603050405020304" pitchFamily="18" charset="0"/>
              </a:rPr>
              <a:t>Intru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sion</a:t>
            </a:r>
            <a:r>
              <a:rPr lang="en-US" sz="2000" dirty="0">
                <a:latin typeface="Times New Roman" panose="02020603050405020304" pitchFamily="18" charset="0"/>
                <a:cs typeface="Times New Roman" panose="02020603050405020304" pitchFamily="18" charset="0"/>
              </a:rPr>
              <a:t> Detection,” Data Science and Management, vol. 8, no. 1, pp. 23–39, 2025.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10.1016/j.dsm.2024.08.001.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M. Aljanabi and M. A. Ismail, ”Improved Intrusion Detection Algorithm Based on TLBO and GA Algo </a:t>
            </a:r>
            <a:r>
              <a:rPr lang="en-US" sz="2000" dirty="0" err="1">
                <a:latin typeface="Times New Roman" panose="02020603050405020304" pitchFamily="18" charset="0"/>
                <a:cs typeface="Times New Roman" panose="02020603050405020304" pitchFamily="18" charset="0"/>
              </a:rPr>
              <a:t>rithms</a:t>
            </a:r>
            <a:r>
              <a:rPr lang="en-US" sz="2000" dirty="0">
                <a:latin typeface="Times New Roman" panose="02020603050405020304" pitchFamily="18" charset="0"/>
                <a:cs typeface="Times New Roman" panose="02020603050405020304" pitchFamily="18" charset="0"/>
              </a:rPr>
              <a:t>,” The International Arab Journal of Information Technology, vol. 18, no. 2, pp. 161–168, Mar. 2021.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10.34028/</a:t>
            </a:r>
            <a:r>
              <a:rPr lang="en-US" sz="2000" dirty="0" err="1">
                <a:latin typeface="Times New Roman" panose="02020603050405020304" pitchFamily="18" charset="0"/>
                <a:cs typeface="Times New Roman" panose="02020603050405020304" pitchFamily="18" charset="0"/>
              </a:rPr>
              <a:t>iajit</a:t>
            </a:r>
            <a:r>
              <a:rPr lang="en-US" sz="2000" dirty="0">
                <a:latin typeface="Times New Roman" panose="02020603050405020304" pitchFamily="18" charset="0"/>
                <a:cs typeface="Times New Roman" panose="02020603050405020304" pitchFamily="18" charset="0"/>
              </a:rPr>
              <a:t>/18/2/5.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B. Hui and K. L. Chiew, ”An Improved Network </a:t>
            </a:r>
            <a:r>
              <a:rPr lang="en-US" sz="2000" dirty="0" err="1">
                <a:latin typeface="Times New Roman" panose="02020603050405020304" pitchFamily="18" charset="0"/>
                <a:cs typeface="Times New Roman" panose="02020603050405020304" pitchFamily="18" charset="0"/>
              </a:rPr>
              <a:t>Intru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sion</a:t>
            </a:r>
            <a:r>
              <a:rPr lang="en-US" sz="2000" dirty="0">
                <a:latin typeface="Times New Roman" panose="02020603050405020304" pitchFamily="18" charset="0"/>
                <a:cs typeface="Times New Roman" panose="02020603050405020304" pitchFamily="18" charset="0"/>
              </a:rPr>
              <a:t> Detection Method Based on CNN-LSTM,” Journal of Advanced Research in Applied Sciences and Engi </a:t>
            </a:r>
            <a:r>
              <a:rPr lang="en-US" sz="2000" dirty="0" err="1">
                <a:latin typeface="Times New Roman" panose="02020603050405020304" pitchFamily="18" charset="0"/>
                <a:cs typeface="Times New Roman" panose="02020603050405020304" pitchFamily="18" charset="0"/>
              </a:rPr>
              <a:t>neering</a:t>
            </a:r>
            <a:r>
              <a:rPr lang="en-US" sz="2000" dirty="0">
                <a:latin typeface="Times New Roman" panose="02020603050405020304" pitchFamily="18" charset="0"/>
                <a:cs typeface="Times New Roman" panose="02020603050405020304" pitchFamily="18" charset="0"/>
              </a:rPr>
              <a:t> Technology, vol. 44, no.1, pp. 225–238, 2025. [Online].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V. </a:t>
            </a:r>
            <a:r>
              <a:rPr lang="en-US" sz="2000" dirty="0" err="1">
                <a:latin typeface="Times New Roman" panose="02020603050405020304" pitchFamily="18" charset="0"/>
                <a:cs typeface="Times New Roman" panose="02020603050405020304" pitchFamily="18" charset="0"/>
              </a:rPr>
              <a:t>Hnamte</a:t>
            </a:r>
            <a:r>
              <a:rPr lang="en-US" sz="2000" dirty="0">
                <a:latin typeface="Times New Roman" panose="02020603050405020304" pitchFamily="18" charset="0"/>
                <a:cs typeface="Times New Roman" panose="02020603050405020304" pitchFamily="18" charset="0"/>
              </a:rPr>
              <a:t>, H. Nhung-Nguyen, J. Hussain and Y. Hwa Kim, ”A Novel Two-Stage Deep Learning Model for Network Intrusion Detection: LSTM-AE,” in IEEE Ac </a:t>
            </a:r>
            <a:r>
              <a:rPr lang="en-US" sz="2000" dirty="0" err="1">
                <a:latin typeface="Times New Roman" panose="02020603050405020304" pitchFamily="18" charset="0"/>
                <a:cs typeface="Times New Roman" panose="02020603050405020304" pitchFamily="18" charset="0"/>
              </a:rPr>
              <a:t>cess</a:t>
            </a:r>
            <a:r>
              <a:rPr lang="en-US" sz="2000" dirty="0">
                <a:latin typeface="Times New Roman" panose="02020603050405020304" pitchFamily="18" charset="0"/>
                <a:cs typeface="Times New Roman" panose="02020603050405020304" pitchFamily="18" charset="0"/>
              </a:rPr>
              <a:t>, vol. 11, pp. 37131-37148, 2023,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10.1109/AC CESS.2023.3266979. </a:t>
            </a:r>
          </a:p>
          <a:p>
            <a:pPr marL="457200" indent="-457200" algn="just">
              <a:buFont typeface="+mj-lt"/>
              <a:buAutoNum type="arabicPeriod"/>
            </a:pPr>
            <a:r>
              <a:rPr lang="en-US" sz="2000" dirty="0">
                <a:latin typeface="Times New Roman" panose="02020603050405020304" pitchFamily="18" charset="0"/>
                <a:cs typeface="Times New Roman" panose="02020603050405020304" pitchFamily="18" charset="0"/>
              </a:rPr>
              <a:t>O. </a:t>
            </a:r>
            <a:r>
              <a:rPr lang="en-US" sz="2000" dirty="0" err="1">
                <a:latin typeface="Times New Roman" panose="02020603050405020304" pitchFamily="18" charset="0"/>
                <a:cs typeface="Times New Roman" panose="02020603050405020304" pitchFamily="18" charset="0"/>
              </a:rPr>
              <a:t>Arreche</a:t>
            </a:r>
            <a:r>
              <a:rPr lang="en-US" sz="2000" dirty="0">
                <a:latin typeface="Times New Roman" panose="02020603050405020304" pitchFamily="18" charset="0"/>
                <a:cs typeface="Times New Roman" panose="02020603050405020304" pitchFamily="18" charset="0"/>
              </a:rPr>
              <a:t>, I. </a:t>
            </a:r>
            <a:r>
              <a:rPr lang="en-US" sz="2000" dirty="0" err="1">
                <a:latin typeface="Times New Roman" panose="02020603050405020304" pitchFamily="18" charset="0"/>
                <a:cs typeface="Times New Roman" panose="02020603050405020304" pitchFamily="18" charset="0"/>
              </a:rPr>
              <a:t>Bibers</a:t>
            </a:r>
            <a:r>
              <a:rPr lang="en-US" sz="2000" dirty="0">
                <a:latin typeface="Times New Roman" panose="02020603050405020304" pitchFamily="18" charset="0"/>
                <a:cs typeface="Times New Roman" panose="02020603050405020304" pitchFamily="18" charset="0"/>
              </a:rPr>
              <a:t> and M. Abdallah, ”A Two Level Ensemble Learning Framework for Enhancing Network Intrusion Detection Systems,” in IEEE Ac </a:t>
            </a:r>
            <a:r>
              <a:rPr lang="en-US" sz="2000" dirty="0" err="1">
                <a:latin typeface="Times New Roman" panose="02020603050405020304" pitchFamily="18" charset="0"/>
                <a:cs typeface="Times New Roman" panose="02020603050405020304" pitchFamily="18" charset="0"/>
              </a:rPr>
              <a:t>cess</a:t>
            </a:r>
            <a:r>
              <a:rPr lang="en-US" sz="2000" dirty="0">
                <a:latin typeface="Times New Roman" panose="02020603050405020304" pitchFamily="18" charset="0"/>
                <a:cs typeface="Times New Roman" panose="02020603050405020304" pitchFamily="18" charset="0"/>
              </a:rPr>
              <a:t>, vol. 12, pp. 83830-83857, 2024,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10.1109/AC CESS.2024.3407029.</a:t>
            </a:r>
          </a:p>
        </p:txBody>
      </p:sp>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A5D80B4-EE78-403A-89D0-BA22CCCB247F}"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38</a:t>
            </a:fld>
            <a:endParaRPr lang="en-US">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34945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8CA6F2-46CF-8B3D-1474-FCF866850D08}"/>
              </a:ext>
            </a:extLst>
          </p:cNvPr>
          <p:cNvSpPr>
            <a:spLocks noGrp="1"/>
          </p:cNvSpPr>
          <p:nvPr>
            <p:ph idx="1"/>
          </p:nvPr>
        </p:nvSpPr>
        <p:spPr>
          <a:xfrm>
            <a:off x="838200" y="647272"/>
            <a:ext cx="10515600" cy="5589141"/>
          </a:xfrm>
        </p:spPr>
        <p:txBody>
          <a:bodyPr>
            <a:noAutofit/>
          </a:bodyPr>
          <a:lstStyle/>
          <a:p>
            <a:pPr marL="457200" indent="-457200" algn="just">
              <a:buFont typeface="+mj-lt"/>
              <a:buAutoNum type="arabicPeriod" startAt="6"/>
            </a:pPr>
            <a:r>
              <a:rPr lang="en-US" sz="2000" dirty="0">
                <a:latin typeface="Times New Roman" panose="02020603050405020304" pitchFamily="18" charset="0"/>
                <a:cs typeface="Times New Roman" panose="02020603050405020304" pitchFamily="18" charset="0"/>
              </a:rPr>
              <a:t>Babu, Kunda Suresh, </a:t>
            </a:r>
            <a:r>
              <a:rPr lang="en-US" sz="2000" dirty="0" err="1">
                <a:latin typeface="Times New Roman" panose="02020603050405020304" pitchFamily="18" charset="0"/>
                <a:cs typeface="Times New Roman" panose="02020603050405020304" pitchFamily="18" charset="0"/>
              </a:rPr>
              <a:t>Vallepu</a:t>
            </a:r>
            <a:r>
              <a:rPr lang="en-US" sz="2000" dirty="0">
                <a:latin typeface="Times New Roman" panose="02020603050405020304" pitchFamily="18" charset="0"/>
                <a:cs typeface="Times New Roman" panose="02020603050405020304" pitchFamily="18" charset="0"/>
              </a:rPr>
              <a:t> Srinivas, Yamani Chan dana, G. Satish, R. </a:t>
            </a:r>
            <a:r>
              <a:rPr lang="en-US" sz="2000" dirty="0" err="1">
                <a:latin typeface="Times New Roman" panose="02020603050405020304" pitchFamily="18" charset="0"/>
                <a:cs typeface="Times New Roman" panose="02020603050405020304" pitchFamily="18" charset="0"/>
              </a:rPr>
              <a:t>Dhandu</a:t>
            </a:r>
            <a:r>
              <a:rPr lang="en-US" sz="2000" dirty="0">
                <a:latin typeface="Times New Roman" panose="02020603050405020304" pitchFamily="18" charset="0"/>
                <a:cs typeface="Times New Roman" panose="02020603050405020304" pitchFamily="18" charset="0"/>
              </a:rPr>
              <a:t> Naik, and Dodda Venkata Reddy. ”Streamlined network intrusion detection: Fea </a:t>
            </a:r>
            <a:r>
              <a:rPr lang="en-US" sz="2000" dirty="0" err="1">
                <a:latin typeface="Times New Roman" panose="02020603050405020304" pitchFamily="18" charset="0"/>
                <a:cs typeface="Times New Roman" panose="02020603050405020304" pitchFamily="18" charset="0"/>
              </a:rPr>
              <a:t>ture</a:t>
            </a:r>
            <a:r>
              <a:rPr lang="en-US" sz="2000" dirty="0">
                <a:latin typeface="Times New Roman" panose="02020603050405020304" pitchFamily="18" charset="0"/>
                <a:cs typeface="Times New Roman" panose="02020603050405020304" pitchFamily="18" charset="0"/>
              </a:rPr>
              <a:t> selection optimization for higher accuracy and </a:t>
            </a:r>
            <a:r>
              <a:rPr lang="en-US" sz="2000" dirty="0" err="1">
                <a:latin typeface="Times New Roman" panose="02020603050405020304" pitchFamily="18" charset="0"/>
                <a:cs typeface="Times New Roman" panose="02020603050405020304" pitchFamily="18" charset="0"/>
              </a:rPr>
              <a:t>effi</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ciency</a:t>
            </a:r>
            <a:r>
              <a:rPr lang="en-US" sz="2000" dirty="0">
                <a:latin typeface="Times New Roman" panose="02020603050405020304" pitchFamily="18" charset="0"/>
                <a:cs typeface="Times New Roman" panose="02020603050405020304" pitchFamily="18" charset="0"/>
              </a:rPr>
              <a:t>.” In Advances in Electrical and Computer Tech </a:t>
            </a:r>
            <a:r>
              <a:rPr lang="en-US" sz="2000" dirty="0" err="1">
                <a:latin typeface="Times New Roman" panose="02020603050405020304" pitchFamily="18" charset="0"/>
                <a:cs typeface="Times New Roman" panose="02020603050405020304" pitchFamily="18" charset="0"/>
              </a:rPr>
              <a:t>nologies</a:t>
            </a:r>
            <a:r>
              <a:rPr lang="en-US" sz="2000" dirty="0">
                <a:latin typeface="Times New Roman" panose="02020603050405020304" pitchFamily="18" charset="0"/>
                <a:cs typeface="Times New Roman" panose="02020603050405020304" pitchFamily="18" charset="0"/>
              </a:rPr>
              <a:t>, pp. 114-124. CRC Press, 2025. </a:t>
            </a:r>
          </a:p>
          <a:p>
            <a:pPr marL="457200" indent="-457200" algn="just">
              <a:buFont typeface="+mj-lt"/>
              <a:buAutoNum type="arabicPeriod" startAt="6"/>
            </a:pPr>
            <a:r>
              <a:rPr lang="en-US" sz="2000" dirty="0">
                <a:latin typeface="Times New Roman" panose="02020603050405020304" pitchFamily="18" charset="0"/>
                <a:cs typeface="Times New Roman" panose="02020603050405020304" pitchFamily="18" charset="0"/>
              </a:rPr>
              <a:t>G. Tripathi, V. K. Singh, V. Sharma and M. V. </a:t>
            </a:r>
            <a:r>
              <a:rPr lang="en-US" sz="2000" dirty="0" err="1">
                <a:latin typeface="Times New Roman" panose="02020603050405020304" pitchFamily="18" charset="0"/>
                <a:cs typeface="Times New Roman" panose="02020603050405020304" pitchFamily="18" charset="0"/>
              </a:rPr>
              <a:t>Vinodb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hai</a:t>
            </a:r>
            <a:r>
              <a:rPr lang="en-US" sz="2000" dirty="0">
                <a:latin typeface="Times New Roman" panose="02020603050405020304" pitchFamily="18" charset="0"/>
                <a:cs typeface="Times New Roman" panose="02020603050405020304" pitchFamily="18" charset="0"/>
              </a:rPr>
              <a:t>, ”Weighted Feature Selection for Machine Learning Based Accurate Intrusion Detection in Communication Networks,” in IEEE Access, vol. 12, pp. 20973-20982, 2024,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10.1109/ACCESS.2024.3362794. </a:t>
            </a:r>
          </a:p>
          <a:p>
            <a:pPr marL="457200" indent="-457200" algn="just">
              <a:buFont typeface="+mj-lt"/>
              <a:buAutoNum type="arabicPeriod" startAt="6"/>
            </a:pPr>
            <a:r>
              <a:rPr lang="en-US" sz="2000" dirty="0">
                <a:latin typeface="Times New Roman" panose="02020603050405020304" pitchFamily="18" charset="0"/>
                <a:cs typeface="Times New Roman" panose="02020603050405020304" pitchFamily="18" charset="0"/>
              </a:rPr>
              <a:t>Rao, Y.N.; Suresh Babu, K. An Imbalanced Generative Adversarial Network-Based Approach for Network </a:t>
            </a:r>
            <a:r>
              <a:rPr lang="en-US" sz="2000" dirty="0" err="1">
                <a:latin typeface="Times New Roman" panose="02020603050405020304" pitchFamily="18" charset="0"/>
                <a:cs typeface="Times New Roman" panose="02020603050405020304" pitchFamily="18" charset="0"/>
              </a:rPr>
              <a:t>Intru</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sion</a:t>
            </a:r>
            <a:r>
              <a:rPr lang="en-US" sz="2000" dirty="0">
                <a:latin typeface="Times New Roman" panose="02020603050405020304" pitchFamily="18" charset="0"/>
                <a:cs typeface="Times New Roman" panose="02020603050405020304" pitchFamily="18" charset="0"/>
              </a:rPr>
              <a:t> Detection in an Imbalanced Dataset. Sensors 2023, 23, 550. https://doi.org/10.3390/s23010550 </a:t>
            </a:r>
          </a:p>
          <a:p>
            <a:pPr marL="457200" indent="-457200" algn="just">
              <a:buFont typeface="+mj-lt"/>
              <a:buAutoNum type="arabicPeriod" startAt="6"/>
            </a:pPr>
            <a:r>
              <a:rPr lang="en-US" sz="2000" dirty="0">
                <a:latin typeface="Times New Roman" panose="02020603050405020304" pitchFamily="18" charset="0"/>
                <a:cs typeface="Times New Roman" panose="02020603050405020304" pitchFamily="18" charset="0"/>
              </a:rPr>
              <a:t>K. Peng, V. C. M. Leung, L. Zheng, S. Wang, C. Huang, and T. Lin, ”Intrusion Detection System Based on Decision Tree over Big Data in Fog Environment,” Wire less Communications and Mobile Computing, vol. 2018, Article ID 4680867, 2018.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10.1155/2018/4680867. </a:t>
            </a:r>
          </a:p>
          <a:p>
            <a:pPr marL="457200" indent="-457200" algn="just">
              <a:buFont typeface="+mj-lt"/>
              <a:buAutoNum type="arabicPeriod" startAt="6"/>
            </a:pPr>
            <a:r>
              <a:rPr lang="en-US" sz="2000" dirty="0">
                <a:latin typeface="Times New Roman" panose="02020603050405020304" pitchFamily="18" charset="0"/>
                <a:cs typeface="Times New Roman" panose="02020603050405020304" pitchFamily="18" charset="0"/>
              </a:rPr>
              <a:t>Dash, N., Chakravarty, S., Rath, A. K., Giri, N. C., </a:t>
            </a:r>
            <a:r>
              <a:rPr lang="en-US" sz="2000" dirty="0" err="1">
                <a:latin typeface="Times New Roman" panose="02020603050405020304" pitchFamily="18" charset="0"/>
                <a:cs typeface="Times New Roman" panose="02020603050405020304" pitchFamily="18" charset="0"/>
              </a:rPr>
              <a:t>AboRas</a:t>
            </a:r>
            <a:r>
              <a:rPr lang="en-US" sz="2000" dirty="0">
                <a:latin typeface="Times New Roman" panose="02020603050405020304" pitchFamily="18" charset="0"/>
                <a:cs typeface="Times New Roman" panose="02020603050405020304" pitchFamily="18" charset="0"/>
              </a:rPr>
              <a:t>, K. M., &amp; Gowtham, N., “An optimized LSTM based deep learning model for anomaly network intrusion detection,” Scientific Reports, vol. 14, no. 1, p. 4286, 2025, </a:t>
            </a:r>
            <a:r>
              <a:rPr lang="en-US" sz="2000" dirty="0" err="1">
                <a:latin typeface="Times New Roman" panose="02020603050405020304" pitchFamily="18" charset="0"/>
                <a:cs typeface="Times New Roman" panose="02020603050405020304" pitchFamily="18" charset="0"/>
              </a:rPr>
              <a:t>doi</a:t>
            </a:r>
            <a:r>
              <a:rPr lang="en-US" sz="2000" dirty="0">
                <a:latin typeface="Times New Roman" panose="02020603050405020304" pitchFamily="18" charset="0"/>
                <a:cs typeface="Times New Roman" panose="02020603050405020304" pitchFamily="18" charset="0"/>
              </a:rPr>
              <a:t>: 10.1038/s41598-025-85248-z.</a:t>
            </a:r>
            <a:endParaRPr lang="en-IN" sz="20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lgn="just">
              <a:buFont typeface="+mj-lt"/>
              <a:buAutoNum type="arabicPeriod" startAt="6"/>
            </a:pPr>
            <a:endParaRPr lang="en-IN" sz="18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lgn="just">
              <a:buFont typeface="+mj-lt"/>
              <a:buAutoNum type="arabicPeriod" startAt="6"/>
            </a:pPr>
            <a:endParaRPr lang="en-IN"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F672DEC9-4107-FBD8-6A00-40028DCA4180}"/>
              </a:ext>
            </a:extLst>
          </p:cNvPr>
          <p:cNvSpPr>
            <a:spLocks noGrp="1"/>
          </p:cNvSpPr>
          <p:nvPr>
            <p:ph type="dt" sz="half" idx="10"/>
          </p:nvPr>
        </p:nvSpPr>
        <p:spPr/>
        <p:txBody>
          <a:bodyPr/>
          <a:lstStyle/>
          <a:p>
            <a:fld id="{2B46E280-1A98-4BFE-8E82-2D0713017205}" type="datetime1">
              <a:rPr lang="en-IN" smtClean="0"/>
              <a:t>04-12-2025</a:t>
            </a:fld>
            <a:endParaRPr lang="en-IN"/>
          </a:p>
        </p:txBody>
      </p:sp>
      <p:sp>
        <p:nvSpPr>
          <p:cNvPr id="5" name="Footer Placeholder 4">
            <a:extLst>
              <a:ext uri="{FF2B5EF4-FFF2-40B4-BE49-F238E27FC236}">
                <a16:creationId xmlns:a16="http://schemas.microsoft.com/office/drawing/2014/main" id="{252EAEE7-C887-BE80-DE6D-2413F7F50D91}"/>
              </a:ext>
            </a:extLst>
          </p:cNvPr>
          <p:cNvSpPr>
            <a:spLocks noGrp="1"/>
          </p:cNvSpPr>
          <p:nvPr>
            <p:ph type="ftr" sz="quarter" idx="11"/>
          </p:nvPr>
        </p:nvSpPr>
        <p:spPr/>
        <p:txBody>
          <a:bodyPr/>
          <a:lstStyle/>
          <a:p>
            <a:r>
              <a:rPr lang="en-US"/>
              <a:t>Review No. 01        Batch No. CB1           Department of CSE</a:t>
            </a:r>
            <a:endParaRPr lang="en-IN" dirty="0"/>
          </a:p>
        </p:txBody>
      </p:sp>
      <p:sp>
        <p:nvSpPr>
          <p:cNvPr id="6" name="Slide Number Placeholder 5">
            <a:extLst>
              <a:ext uri="{FF2B5EF4-FFF2-40B4-BE49-F238E27FC236}">
                <a16:creationId xmlns:a16="http://schemas.microsoft.com/office/drawing/2014/main" id="{DEA736B9-D9FA-5BB4-6F3D-DD2C228CC936}"/>
              </a:ext>
            </a:extLst>
          </p:cNvPr>
          <p:cNvSpPr>
            <a:spLocks noGrp="1"/>
          </p:cNvSpPr>
          <p:nvPr>
            <p:ph type="sldNum" sz="quarter" idx="12"/>
          </p:nvPr>
        </p:nvSpPr>
        <p:spPr/>
        <p:txBody>
          <a:bodyPr/>
          <a:lstStyle/>
          <a:p>
            <a:fld id="{65DCBD69-296B-4D7C-AF62-9B588FC78772}" type="slidenum">
              <a:rPr lang="en-IN" smtClean="0"/>
              <a:t>39</a:t>
            </a:fld>
            <a:endParaRPr lang="en-IN"/>
          </a:p>
        </p:txBody>
      </p:sp>
    </p:spTree>
    <p:extLst>
      <p:ext uri="{BB962C8B-B14F-4D97-AF65-F5344CB8AC3E}">
        <p14:creationId xmlns:p14="http://schemas.microsoft.com/office/powerpoint/2010/main" val="4384932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ACKNOWLEDGEMENT</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62536" y="1424016"/>
            <a:ext cx="11079568" cy="4932334"/>
          </a:xfrm>
        </p:spPr>
        <p:txBody>
          <a:bodyPr>
            <a:noAutofit/>
          </a:bodyPr>
          <a:lstStyle/>
          <a:p>
            <a:pPr algn="just"/>
            <a:r>
              <a:rPr lang="en-US" sz="2300" dirty="0">
                <a:latin typeface="Times New Roman" panose="02020603050405020304" pitchFamily="18" charset="0"/>
                <a:cs typeface="Times New Roman" panose="02020603050405020304" pitchFamily="18" charset="0"/>
              </a:rPr>
              <a:t>We would like to express our sincere gratitude to the faculty and staff of </a:t>
            </a:r>
            <a:r>
              <a:rPr lang="en-US" sz="2300" dirty="0" err="1">
                <a:latin typeface="Times New Roman" panose="02020603050405020304" pitchFamily="18" charset="0"/>
                <a:cs typeface="Times New Roman" panose="02020603050405020304" pitchFamily="18" charset="0"/>
              </a:rPr>
              <a:t>Narasaraopeta</a:t>
            </a:r>
            <a:r>
              <a:rPr lang="en-US" sz="2300" dirty="0">
                <a:latin typeface="Times New Roman" panose="02020603050405020304" pitchFamily="18" charset="0"/>
                <a:cs typeface="Times New Roman" panose="02020603050405020304" pitchFamily="18" charset="0"/>
              </a:rPr>
              <a:t> Engineering College for their guidance and encouragement throughout the development of this project. Their insights and expertise have been invaluable.</a:t>
            </a:r>
          </a:p>
          <a:p>
            <a:pPr algn="just"/>
            <a:r>
              <a:rPr lang="en-US" sz="2300" dirty="0">
                <a:latin typeface="Times New Roman" panose="02020603050405020304" pitchFamily="18" charset="0"/>
                <a:cs typeface="Times New Roman" panose="02020603050405020304" pitchFamily="18" charset="0"/>
              </a:rPr>
              <a:t>We also extend our thanks to the administration for providing the necessary resources and a platform to showcase our work. This opportunity has been instrumental in enhancing our learning and growth.</a:t>
            </a:r>
          </a:p>
          <a:p>
            <a:pPr marL="0" indent="0" algn="just">
              <a:buNone/>
            </a:pPr>
            <a:r>
              <a:rPr lang="en-US" sz="2300" dirty="0">
                <a:latin typeface="Times New Roman" panose="02020603050405020304" pitchFamily="18" charset="0"/>
                <a:cs typeface="Times New Roman" panose="02020603050405020304" pitchFamily="18" charset="0"/>
              </a:rPr>
              <a:t>For any questions or further discussions, feel free to reach out:-</a:t>
            </a:r>
          </a:p>
          <a:p>
            <a:pPr marL="0" indent="0" algn="just">
              <a:buNone/>
            </a:pPr>
            <a:r>
              <a:rPr lang="en-US" sz="2300" dirty="0">
                <a:latin typeface="Times New Roman" panose="02020603050405020304" pitchFamily="18" charset="0"/>
                <a:cs typeface="Times New Roman" panose="02020603050405020304" pitchFamily="18" charset="0"/>
              </a:rPr>
              <a:t>Email: </a:t>
            </a:r>
            <a:r>
              <a:rPr lang="en-US" sz="2300" dirty="0">
                <a:latin typeface="Times New Roman" panose="02020603050405020304" pitchFamily="18" charset="0"/>
                <a:cs typeface="Times New Roman" panose="02020603050405020304" pitchFamily="18" charset="0"/>
                <a:hlinkClick r:id="rId2"/>
              </a:rPr>
              <a:t>pkveeragautham10@gmail.com</a:t>
            </a:r>
            <a:r>
              <a:rPr lang="en-US" sz="2300" dirty="0">
                <a:latin typeface="Times New Roman" panose="02020603050405020304" pitchFamily="18" charset="0"/>
                <a:cs typeface="Times New Roman" panose="02020603050405020304" pitchFamily="18" charset="0"/>
              </a:rPr>
              <a:t>                        Email:  </a:t>
            </a:r>
            <a:r>
              <a:rPr lang="en-US" sz="2400" dirty="0" err="1">
                <a:hlinkClick r:id="rId3"/>
              </a:rPr>
              <a:t>sseggemsrinivas</a:t>
            </a:r>
            <a:r>
              <a:rPr lang="en-IN" sz="2300" dirty="0">
                <a:latin typeface="Times New Roman" panose="02020603050405020304" pitchFamily="18" charset="0"/>
                <a:cs typeface="Times New Roman" panose="02020603050405020304" pitchFamily="18" charset="0"/>
                <a:hlinkClick r:id="rId3"/>
              </a:rPr>
              <a:t>@gmail.com</a:t>
            </a:r>
            <a:r>
              <a:rPr lang="en-IN" sz="2300" dirty="0">
                <a:latin typeface="Times New Roman" panose="02020603050405020304" pitchFamily="18" charset="0"/>
                <a:cs typeface="Times New Roman" panose="02020603050405020304" pitchFamily="18" charset="0"/>
              </a:rPr>
              <a:t> </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          Phone: +91 9063620258                                               Phone: +91 8106408872</a:t>
            </a:r>
            <a:br>
              <a:rPr lang="en-US" sz="2300" dirty="0">
                <a:latin typeface="Times New Roman" panose="02020603050405020304" pitchFamily="18" charset="0"/>
                <a:cs typeface="Times New Roman" panose="02020603050405020304" pitchFamily="18" charset="0"/>
              </a:rPr>
            </a:br>
            <a:endParaRPr lang="en-US" sz="2300" dirty="0">
              <a:latin typeface="Times New Roman" panose="02020603050405020304" pitchFamily="18" charset="0"/>
              <a:cs typeface="Times New Roman" panose="02020603050405020304" pitchFamily="18" charset="0"/>
            </a:endParaRPr>
          </a:p>
          <a:p>
            <a:pPr marL="0" indent="0" algn="just">
              <a:buNone/>
            </a:pPr>
            <a:r>
              <a:rPr lang="en-US" sz="2300" dirty="0">
                <a:latin typeface="Times New Roman" panose="02020603050405020304" pitchFamily="18" charset="0"/>
                <a:cs typeface="Times New Roman" panose="02020603050405020304" pitchFamily="18" charset="0"/>
              </a:rPr>
              <a:t>Email: </a:t>
            </a:r>
            <a:r>
              <a:rPr lang="en-US" sz="2300" dirty="0">
                <a:latin typeface="Times New Roman" panose="02020603050405020304" pitchFamily="18" charset="0"/>
                <a:cs typeface="Times New Roman" panose="02020603050405020304" pitchFamily="18" charset="0"/>
                <a:hlinkClick r:id="rId4"/>
              </a:rPr>
              <a:t>shaikmsaidavali@gmail.com</a:t>
            </a:r>
            <a:r>
              <a:rPr lang="en-US" sz="2300" dirty="0">
                <a:latin typeface="Times New Roman" panose="02020603050405020304" pitchFamily="18" charset="0"/>
                <a:cs typeface="Times New Roman" panose="02020603050405020304" pitchFamily="18" charset="0"/>
              </a:rPr>
              <a:t>                            Email: </a:t>
            </a:r>
            <a:r>
              <a:rPr lang="en-US" sz="2400" dirty="0" err="1">
                <a:hlinkClick r:id="rId5"/>
              </a:rPr>
              <a:t>thannarushiva</a:t>
            </a:r>
            <a:r>
              <a:rPr lang="en-IN" sz="2300" dirty="0">
                <a:latin typeface="Times New Roman" panose="02020603050405020304" pitchFamily="18" charset="0"/>
                <a:cs typeface="Times New Roman" panose="02020603050405020304" pitchFamily="18" charset="0"/>
                <a:hlinkClick r:id="rId5"/>
              </a:rPr>
              <a:t>@gmail.com</a:t>
            </a:r>
            <a:r>
              <a:rPr lang="en-IN" sz="2300" dirty="0">
                <a:latin typeface="Times New Roman" panose="02020603050405020304" pitchFamily="18" charset="0"/>
                <a:cs typeface="Times New Roman" panose="02020603050405020304" pitchFamily="18" charset="0"/>
              </a:rPr>
              <a:t> </a:t>
            </a:r>
            <a:br>
              <a:rPr lang="en-US" sz="2300" dirty="0">
                <a:latin typeface="Times New Roman" panose="02020603050405020304" pitchFamily="18" charset="0"/>
                <a:cs typeface="Times New Roman" panose="02020603050405020304" pitchFamily="18" charset="0"/>
              </a:rPr>
            </a:br>
            <a:r>
              <a:rPr lang="en-US" sz="2300" dirty="0">
                <a:latin typeface="Times New Roman" panose="02020603050405020304" pitchFamily="18" charset="0"/>
                <a:cs typeface="Times New Roman" panose="02020603050405020304" pitchFamily="18" charset="0"/>
              </a:rPr>
              <a:t>          Phone: +91 9347204459                                              Phone: +91 7842131364</a:t>
            </a:r>
            <a:br>
              <a:rPr lang="en-US" sz="2300" dirty="0">
                <a:latin typeface="Times New Roman" panose="02020603050405020304" pitchFamily="18" charset="0"/>
                <a:cs typeface="Times New Roman" panose="02020603050405020304" pitchFamily="18" charset="0"/>
              </a:rPr>
            </a:br>
            <a:endParaRPr lang="en-US" sz="2300" dirty="0">
              <a:latin typeface="Times New Roman" panose="02020603050405020304" pitchFamily="18" charset="0"/>
              <a:cs typeface="Times New Roman" panose="02020603050405020304" pitchFamily="18" charset="0"/>
            </a:endParaRPr>
          </a:p>
          <a:p>
            <a:pPr marL="0" indent="0" algn="just">
              <a:buNone/>
            </a:pPr>
            <a:endParaRPr lang="en-US" sz="2300" dirty="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fld id="{88F7EED7-FDBA-4707-BB84-5C91B5AAC68B}" type="datetime1">
              <a:rPr lang="en-IN" smtClean="0"/>
              <a:t>04-12-2025</a:t>
            </a:fld>
            <a:endParaRPr lang="en-IN" dirty="0"/>
          </a:p>
        </p:txBody>
      </p:sp>
      <p:sp>
        <p:nvSpPr>
          <p:cNvPr id="5" name="Footer Placeholder 4"/>
          <p:cNvSpPr>
            <a:spLocks noGrp="1"/>
          </p:cNvSpPr>
          <p:nvPr>
            <p:ph type="ftr" sz="quarter" idx="11"/>
          </p:nvPr>
        </p:nvSpPr>
        <p:spPr/>
        <p:txBody>
          <a:bodyPr/>
          <a:lstStyle/>
          <a:p>
            <a:r>
              <a:rPr lang="en-US"/>
              <a:t>Review No. 01        Batch No. CB1           Department of CSE</a:t>
            </a:r>
            <a:endParaRPr lang="en-IN" dirty="0"/>
          </a:p>
        </p:txBody>
      </p:sp>
      <p:sp>
        <p:nvSpPr>
          <p:cNvPr id="6" name="Slide Number Placeholder 5"/>
          <p:cNvSpPr>
            <a:spLocks noGrp="1"/>
          </p:cNvSpPr>
          <p:nvPr>
            <p:ph type="sldNum" sz="quarter" idx="12"/>
          </p:nvPr>
        </p:nvSpPr>
        <p:spPr/>
        <p:txBody>
          <a:bodyPr/>
          <a:lstStyle/>
          <a:p>
            <a:fld id="{65DCBD69-296B-4D7C-AF62-9B588FC78772}" type="slidenum">
              <a:rPr lang="en-IN" smtClean="0"/>
              <a:t>40</a:t>
            </a:fld>
            <a:endParaRPr lang="en-IN"/>
          </a:p>
        </p:txBody>
      </p:sp>
    </p:spTree>
    <p:extLst>
      <p:ext uri="{BB962C8B-B14F-4D97-AF65-F5344CB8AC3E}">
        <p14:creationId xmlns:p14="http://schemas.microsoft.com/office/powerpoint/2010/main" val="346059988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BD5C2420-26C9-65B4-41BA-D5CA69721C05}"/>
              </a:ext>
            </a:extLst>
          </p:cNvPr>
          <p:cNvSpPr>
            <a:spLocks noGrp="1"/>
          </p:cNvSpPr>
          <p:nvPr>
            <p:ph type="dt" sz="half" idx="10"/>
          </p:nvPr>
        </p:nvSpPr>
        <p:spPr/>
        <p:txBody>
          <a:bodyPr/>
          <a:lstStyle/>
          <a:p>
            <a:fld id="{76E31683-9550-4BCC-9BA7-31F4EED50FFA}" type="datetime1">
              <a:rPr lang="en-IN" smtClean="0">
                <a:latin typeface="Times New Roman" panose="02020603050405020304" pitchFamily="18" charset="0"/>
                <a:cs typeface="Times New Roman" panose="02020603050405020304" pitchFamily="18" charset="0"/>
              </a:rPr>
              <a:t>04-12-2025</a:t>
            </a:fld>
            <a:endParaRPr lang="en-US">
              <a:latin typeface="Times New Roman" panose="02020603050405020304" pitchFamily="18" charset="0"/>
              <a:cs typeface="Times New Roman" panose="02020603050405020304" pitchFamily="18" charset="0"/>
            </a:endParaRPr>
          </a:p>
        </p:txBody>
      </p:sp>
      <p:sp>
        <p:nvSpPr>
          <p:cNvPr id="6" name="Footer Placeholder 5">
            <a:extLst>
              <a:ext uri="{FF2B5EF4-FFF2-40B4-BE49-F238E27FC236}">
                <a16:creationId xmlns:a16="http://schemas.microsoft.com/office/drawing/2014/main" id="{AE9B4454-96E6-70D8-1440-2142487397DF}"/>
              </a:ext>
            </a:extLst>
          </p:cNvPr>
          <p:cNvSpPr>
            <a:spLocks noGrp="1"/>
          </p:cNvSpPr>
          <p:nvPr>
            <p:ph type="ftr" sz="quarter" idx="11"/>
          </p:nvPr>
        </p:nvSpPr>
        <p:spPr/>
        <p:txBody>
          <a:bodyPr/>
          <a:lstStyle/>
          <a:p>
            <a:r>
              <a:rPr lang="en-US">
                <a:latin typeface="Times New Roman" panose="02020603050405020304" pitchFamily="18" charset="0"/>
                <a:cs typeface="Times New Roman" panose="02020603050405020304" pitchFamily="18" charset="0"/>
              </a:rPr>
              <a:t>Review No. 01        Batch No. CB1           Department of CSE</a:t>
            </a:r>
            <a:endParaRPr lang="en-US"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latin typeface="Times New Roman" panose="02020603050405020304" pitchFamily="18" charset="0"/>
                <a:cs typeface="Times New Roman" panose="02020603050405020304" pitchFamily="18" charset="0"/>
              </a:rPr>
              <a:t>41</a:t>
            </a:fld>
            <a:endParaRPr lang="en-US">
              <a:latin typeface="Times New Roman" panose="02020603050405020304" pitchFamily="18" charset="0"/>
              <a:cs typeface="Times New Roman" panose="02020603050405020304" pitchFamily="18" charset="0"/>
            </a:endParaRPr>
          </a:p>
        </p:txBody>
      </p:sp>
      <p:pic>
        <p:nvPicPr>
          <p:cNvPr id="14" name="Content Placeholder 13">
            <a:extLst>
              <a:ext uri="{FF2B5EF4-FFF2-40B4-BE49-F238E27FC236}">
                <a16:creationId xmlns:a16="http://schemas.microsoft.com/office/drawing/2014/main" id="{B3B728E9-6EC4-56D6-7126-768F1504E90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202015" y="704682"/>
            <a:ext cx="5787969" cy="3405406"/>
          </a:xfrm>
        </p:spPr>
      </p:pic>
      <p:sp>
        <p:nvSpPr>
          <p:cNvPr id="2" name="TextBox 1">
            <a:extLst>
              <a:ext uri="{FF2B5EF4-FFF2-40B4-BE49-F238E27FC236}">
                <a16:creationId xmlns:a16="http://schemas.microsoft.com/office/drawing/2014/main" id="{0EC7430A-33CA-2565-819E-28B11E34152A}"/>
              </a:ext>
            </a:extLst>
          </p:cNvPr>
          <p:cNvSpPr txBox="1"/>
          <p:nvPr/>
        </p:nvSpPr>
        <p:spPr>
          <a:xfrm>
            <a:off x="2907465" y="4524866"/>
            <a:ext cx="6377067" cy="984885"/>
          </a:xfrm>
          <a:prstGeom prst="rect">
            <a:avLst/>
          </a:prstGeom>
          <a:noFill/>
        </p:spPr>
        <p:txBody>
          <a:bodyPr wrap="none" rtlCol="0">
            <a:spAutoFit/>
          </a:bodyPr>
          <a:lstStyle/>
          <a:p>
            <a:r>
              <a:rPr lang="en-US" sz="5800" dirty="0">
                <a:latin typeface="Arial Black" panose="020B0A04020102020204" pitchFamily="34" charset="0"/>
              </a:rPr>
              <a:t>Any questions?</a:t>
            </a:r>
          </a:p>
        </p:txBody>
      </p:sp>
    </p:spTree>
    <p:extLst>
      <p:ext uri="{BB962C8B-B14F-4D97-AF65-F5344CB8AC3E}">
        <p14:creationId xmlns:p14="http://schemas.microsoft.com/office/powerpoint/2010/main" val="9323525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2349</TotalTime>
  <Words>5848</Words>
  <Application>Microsoft Office PowerPoint</Application>
  <PresentationFormat>Widescreen</PresentationFormat>
  <Paragraphs>454</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Arial Black</vt:lpstr>
      <vt:lpstr>Calibri</vt:lpstr>
      <vt:lpstr>Calibri Light</vt:lpstr>
      <vt:lpstr>Times New Roman</vt:lpstr>
      <vt:lpstr>Wingdings</vt:lpstr>
      <vt:lpstr>Office Theme</vt:lpstr>
      <vt:lpstr>PowerPoint Presentation</vt:lpstr>
      <vt:lpstr>OUTLINE</vt:lpstr>
      <vt:lpstr>ABSTRACT</vt:lpstr>
      <vt:lpstr>LITERATURE SURVEY</vt:lpstr>
      <vt:lpstr>PowerPoint Presentation</vt:lpstr>
      <vt:lpstr>PowerPoint Presentation</vt:lpstr>
      <vt:lpstr>PowerPoint Presentation</vt:lpstr>
      <vt:lpstr>PowerPoint Presentation</vt:lpstr>
      <vt:lpstr>RESEARCH GAPS</vt:lpstr>
      <vt:lpstr>OBJECTIVES</vt:lpstr>
      <vt:lpstr>FLOW DIAGRAM</vt:lpstr>
      <vt:lpstr>METHODOLOGY</vt:lpstr>
      <vt:lpstr>METHODOLOGY</vt:lpstr>
      <vt:lpstr>METHODOLOGY</vt:lpstr>
      <vt:lpstr>PowerPoint Presentation</vt:lpstr>
      <vt:lpstr>PowerPoint Presentation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Implementation</vt:lpstr>
      <vt:lpstr>PowerPoint Presentation</vt:lpstr>
      <vt:lpstr>PowerPoint Presentation</vt:lpstr>
      <vt:lpstr>RESULTS &amp; ANALYSIS</vt:lpstr>
      <vt:lpstr>PowerPoint Presentation</vt:lpstr>
      <vt:lpstr>CONCLUSION and FUTURE SCOPE</vt:lpstr>
      <vt:lpstr>REFERENCES</vt:lpstr>
      <vt:lpstr>PowerPoint Presentation</vt:lpstr>
      <vt:lpstr>ACKNOWLEDGEMENT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INSTRUCTIONS</dc:title>
  <dc:creator>admin</dc:creator>
  <cp:lastModifiedBy>VEERA .</cp:lastModifiedBy>
  <cp:revision>42</cp:revision>
  <dcterms:created xsi:type="dcterms:W3CDTF">2023-12-22T11:34:02Z</dcterms:created>
  <dcterms:modified xsi:type="dcterms:W3CDTF">2025-12-04T17:21:06Z</dcterms:modified>
</cp:coreProperties>
</file>