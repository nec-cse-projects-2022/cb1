
<file path=[Content_Types].xml><?xml version="1.0" encoding="utf-8"?>
<Types xmlns="http://schemas.openxmlformats.org/package/2006/content-types">
  <Default Extension="jpg" ContentType="image/jpeg"/>
  <Default Extension="rels" ContentType="application/vnd.openxmlformats-package.relationships+xml"/>
  <Default Extension="tmp" ContentType="image/png"/>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15"/>
  </p:notesMasterIdLst>
  <p:sldIdLst>
    <p:sldId id="256" r:id="rId3"/>
    <p:sldId id="258" r:id="rId4"/>
    <p:sldId id="257" r:id="rId5"/>
    <p:sldId id="259" r:id="rId6"/>
    <p:sldId id="260" r:id="rId7"/>
    <p:sldId id="261" r:id="rId8"/>
    <p:sldId id="262" r:id="rId9"/>
    <p:sldId id="264" r:id="rId10"/>
    <p:sldId id="263" r:id="rId11"/>
    <p:sldId id="265" r:id="rId12"/>
    <p:sldId id="266" r:id="rId13"/>
    <p:sldId id="267" r:id="rId14"/>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2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cMr+sUzRKoApbML0BS4yz/WMu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38C9F2-F6C0-49DF-A3E0-D3A70B348328}">
  <a:tblStyle styleId="{2938C9F2-F6C0-49DF-A3E0-D3A70B3483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guide orient="horz" pos="432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26" Type="http://customschemas.google.com/relationships/presentationmetadata" Target="metadata"/><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986523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 name="Google Shape;9;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3595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052916DC-2A62-0168-971D-FAF1BB874787}"/>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706F90CA-95E1-889A-F376-F9025E3B13F3}"/>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F02E9BC8-52F0-A28D-B3CD-7C8EB96907C6}"/>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9501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27420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C9AF48C3-505F-E390-901F-97A95AF0135B}"/>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1671E0FF-CD79-941F-F655-595EBDCDBAA8}"/>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91634B74-056C-EC18-1356-2734989E0C71}"/>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83915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231EE62C-2391-E683-2CED-C706BC146B05}"/>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4F3E66D1-9EB2-874A-A3CB-05A66938D3D5}"/>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B5E1C02B-675C-3D55-6E53-BC2886734932}"/>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446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1DAD4C01-14EB-6C64-CB68-DDCB07D15D30}"/>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E9F4F7EE-19A5-BCD8-C368-563B6B27D64C}"/>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A5941B78-C328-C0E9-1F9D-AA6E64B864F0}"/>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12342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AC77800E-9AD2-EB5C-50A3-041E3DFC4132}"/>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D1BD39A1-DE44-1CAA-7575-CFEF19EF25B5}"/>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666AC99E-177A-2196-C5E6-7B05F3D030E9}"/>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45593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A6768AD0-191F-5195-A93D-8E8682E9E5E0}"/>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3F180D33-9DD9-6F0D-E0D5-C6F1698A875C}"/>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C8EEBFCA-CE06-D311-4A0C-8AC852A687C4}"/>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17616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817A9699-CDD5-C82F-8E0E-D0CBDC853DD6}"/>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9ECC2A74-EAD1-45F9-C6DB-DA5035CB4A2D}"/>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 name="Google Shape;19;p2:notes">
            <a:extLst>
              <a:ext uri="{FF2B5EF4-FFF2-40B4-BE49-F238E27FC236}">
                <a16:creationId xmlns:a16="http://schemas.microsoft.com/office/drawing/2014/main" id="{89C4F42E-227F-0941-64A4-04D8C9617A49}"/>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80131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6A15CC78-5ADB-EB4D-6A04-19E50637AA06}"/>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BAD5A61A-0916-B783-0C37-71549A8CB095}"/>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E091E01C-5B52-F064-FEA6-C9E9FEEB9733}"/>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00018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B469D416-A5D4-FF8F-0061-8E201601BFBF}"/>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D2463DF4-C17C-E3D6-4C93-3F4FD495E7F3}"/>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A849639C-41FC-91D3-6850-78A38A2A991A}"/>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63482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85A6154D-B09F-9708-065E-06E7030D97D7}"/>
            </a:ext>
          </a:extLst>
        </p:cNvPr>
        <p:cNvGrpSpPr/>
        <p:nvPr/>
      </p:nvGrpSpPr>
      <p:grpSpPr>
        <a:xfrm>
          <a:off x="0" y="0"/>
          <a:ext cx="0" cy="0"/>
          <a:chOff x="0" y="0"/>
          <a:chExt cx="0" cy="0"/>
        </a:xfrm>
      </p:grpSpPr>
      <p:sp>
        <p:nvSpPr>
          <p:cNvPr id="18" name="Google Shape;18;p2:notes">
            <a:extLst>
              <a:ext uri="{FF2B5EF4-FFF2-40B4-BE49-F238E27FC236}">
                <a16:creationId xmlns:a16="http://schemas.microsoft.com/office/drawing/2014/main" id="{98E96AC2-7630-3C2C-ACAD-B3C0A0BF0B06}"/>
              </a:ext>
            </a:extLst>
          </p:cNvPr>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 name="Google Shape;19;p2:notes">
            <a:extLst>
              <a:ext uri="{FF2B5EF4-FFF2-40B4-BE49-F238E27FC236}">
                <a16:creationId xmlns:a16="http://schemas.microsoft.com/office/drawing/2014/main" id="{328AEFC6-1C85-D4EA-BBF6-7F99AA05AEFB}"/>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0452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
        <p:cNvGrpSpPr/>
        <p:nvPr/>
      </p:nvGrpSpPr>
      <p:grpSpPr>
        <a:xfrm>
          <a:off x="0" y="0"/>
          <a:ext cx="0" cy="0"/>
          <a:chOff x="0" y="0"/>
          <a:chExt cx="0" cy="0"/>
        </a:xfrm>
      </p:grpSpPr>
      <p:sp>
        <p:nvSpPr>
          <p:cNvPr id="2" name="Google Shape;11;p1">
            <a:extLst>
              <a:ext uri="{FF2B5EF4-FFF2-40B4-BE49-F238E27FC236}">
                <a16:creationId xmlns:a16="http://schemas.microsoft.com/office/drawing/2014/main" id="{E9F18C48-03A5-6063-4DBF-C8DE3B20C5CE}"/>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D35AA6C1-B263-E391-2A85-0930BED59CFC}"/>
              </a:ext>
            </a:extLst>
          </p:cNvPr>
          <p:cNvPicPr>
            <a:picLocks noChangeAspect="1"/>
          </p:cNvPicPr>
          <p:nvPr userDrawn="1"/>
        </p:nvPicPr>
        <p:blipFill>
          <a:blip r:embed="rId2"/>
          <a:stretch>
            <a:fillRect/>
          </a:stretch>
        </p:blipFill>
        <p:spPr>
          <a:xfrm>
            <a:off x="10453279" y="5631543"/>
            <a:ext cx="1738948" cy="953513"/>
          </a:xfrm>
          <a:prstGeom prst="rect">
            <a:avLst/>
          </a:prstGeom>
        </p:spPr>
      </p:pic>
      <p:sp>
        <p:nvSpPr>
          <p:cNvPr id="7" name="Google Shape;11;p1">
            <a:extLst>
              <a:ext uri="{FF2B5EF4-FFF2-40B4-BE49-F238E27FC236}">
                <a16:creationId xmlns:a16="http://schemas.microsoft.com/office/drawing/2014/main" id="{ACB14F53-D9E1-4D15-A06E-1F08B6B2C368}"/>
              </a:ext>
            </a:extLst>
          </p:cNvPr>
          <p:cNvSpPr/>
          <p:nvPr userDrawn="1"/>
        </p:nvSpPr>
        <p:spPr>
          <a:xfrm>
            <a:off x="-29688" y="6571400"/>
            <a:ext cx="12221688" cy="382464"/>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99C3-3074-A8BD-6301-CFF0C1D40A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DCD6C9-3125-79BA-6A68-FA78888AC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1DB887-56B9-BF2E-99DF-113ECE0E417D}"/>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5" name="Footer Placeholder 4">
            <a:extLst>
              <a:ext uri="{FF2B5EF4-FFF2-40B4-BE49-F238E27FC236}">
                <a16:creationId xmlns:a16="http://schemas.microsoft.com/office/drawing/2014/main" id="{9F59847D-B56B-896C-0D9B-87933B695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4FDE46-9279-1F99-8F98-1DCC9D40B529}"/>
              </a:ext>
            </a:extLst>
          </p:cNvPr>
          <p:cNvSpPr>
            <a:spLocks noGrp="1"/>
          </p:cNvSpPr>
          <p:nvPr>
            <p:ph type="sldNum" sz="quarter" idx="12"/>
          </p:nvPr>
        </p:nvSpPr>
        <p:spPr/>
        <p:txBody>
          <a:bodyPr/>
          <a:lstStyle/>
          <a:p>
            <a:fld id="{0A96E364-F2F0-4E85-BE0A-F5D9CA33C15E}" type="slidenum">
              <a:rPr lang="en-US" smtClean="0"/>
              <a:t>‹#›</a:t>
            </a:fld>
            <a:endParaRPr lang="en-US"/>
          </a:p>
        </p:txBody>
      </p:sp>
      <p:sp>
        <p:nvSpPr>
          <p:cNvPr id="7" name="Google Shape;11;p1">
            <a:extLst>
              <a:ext uri="{FF2B5EF4-FFF2-40B4-BE49-F238E27FC236}">
                <a16:creationId xmlns:a16="http://schemas.microsoft.com/office/drawing/2014/main" id="{7FA79B97-A625-B723-41D5-229D72065BAB}"/>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cxnSp>
        <p:nvCxnSpPr>
          <p:cNvPr id="8" name="Straight Connector 7">
            <a:extLst>
              <a:ext uri="{FF2B5EF4-FFF2-40B4-BE49-F238E27FC236}">
                <a16:creationId xmlns:a16="http://schemas.microsoft.com/office/drawing/2014/main" id="{FC9C5F21-E880-6CF5-53E6-E1C463D7E19C}"/>
              </a:ext>
            </a:extLst>
          </p:cNvPr>
          <p:cNvCxnSpPr/>
          <p:nvPr userDrawn="1"/>
        </p:nvCxnSpPr>
        <p:spPr>
          <a:xfrm>
            <a:off x="584613" y="2000822"/>
            <a:ext cx="107929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 name="Picture 8" descr="A logo with a red blue and orange swirls">
            <a:extLst>
              <a:ext uri="{FF2B5EF4-FFF2-40B4-BE49-F238E27FC236}">
                <a16:creationId xmlns:a16="http://schemas.microsoft.com/office/drawing/2014/main" id="{E3F3E623-3A56-5D30-9CA0-0E259D02A45B}"/>
              </a:ext>
            </a:extLst>
          </p:cNvPr>
          <p:cNvPicPr>
            <a:picLocks noChangeAspect="1"/>
          </p:cNvPicPr>
          <p:nvPr userDrawn="1"/>
        </p:nvPicPr>
        <p:blipFill>
          <a:blip r:embed="rId2"/>
          <a:stretch>
            <a:fillRect/>
          </a:stretch>
        </p:blipFill>
        <p:spPr>
          <a:xfrm>
            <a:off x="4128650" y="113134"/>
            <a:ext cx="3423032" cy="2576817"/>
          </a:xfrm>
          <a:prstGeom prst="rect">
            <a:avLst/>
          </a:prstGeom>
        </p:spPr>
      </p:pic>
      <p:pic>
        <p:nvPicPr>
          <p:cNvPr id="10" name="Picture 9" descr="A blue and white logo&#10;&#10;AI-generated content may be incorrect.">
            <a:extLst>
              <a:ext uri="{FF2B5EF4-FFF2-40B4-BE49-F238E27FC236}">
                <a16:creationId xmlns:a16="http://schemas.microsoft.com/office/drawing/2014/main" id="{FF9AF644-B524-5779-6E03-62950DA37635}"/>
              </a:ext>
            </a:extLst>
          </p:cNvPr>
          <p:cNvPicPr>
            <a:picLocks noChangeAspect="1"/>
          </p:cNvPicPr>
          <p:nvPr userDrawn="1"/>
        </p:nvPicPr>
        <p:blipFill>
          <a:blip r:embed="rId3"/>
          <a:stretch>
            <a:fillRect/>
          </a:stretch>
        </p:blipFill>
        <p:spPr>
          <a:xfrm>
            <a:off x="10176450" y="5700307"/>
            <a:ext cx="1963785" cy="884749"/>
          </a:xfrm>
          <a:prstGeom prst="rect">
            <a:avLst/>
          </a:prstGeom>
        </p:spPr>
      </p:pic>
    </p:spTree>
    <p:extLst>
      <p:ext uri="{BB962C8B-B14F-4D97-AF65-F5344CB8AC3E}">
        <p14:creationId xmlns:p14="http://schemas.microsoft.com/office/powerpoint/2010/main" val="352728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44883-ED90-D2D0-2547-A379B1CD26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1075D-2754-79A1-DEBA-F057E36661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4DD1C3-547A-FC0A-DC84-28F8E50A284E}"/>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6" name="Slide Number Placeholder 5">
            <a:extLst>
              <a:ext uri="{FF2B5EF4-FFF2-40B4-BE49-F238E27FC236}">
                <a16:creationId xmlns:a16="http://schemas.microsoft.com/office/drawing/2014/main" id="{04022C3C-64E1-731F-A6C0-E1C939671A1A}"/>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10" name="Picture 9">
            <a:extLst>
              <a:ext uri="{FF2B5EF4-FFF2-40B4-BE49-F238E27FC236}">
                <a16:creationId xmlns:a16="http://schemas.microsoft.com/office/drawing/2014/main" id="{E6B7CA77-EA03-5B87-0ED3-5987BE534F02}"/>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11" name="Google Shape;11;p1">
            <a:extLst>
              <a:ext uri="{FF2B5EF4-FFF2-40B4-BE49-F238E27FC236}">
                <a16:creationId xmlns:a16="http://schemas.microsoft.com/office/drawing/2014/main" id="{3E20D5F7-0E69-EB52-8F9E-8FC8870CD2FC}"/>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9576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9EB0-8E58-3C94-4566-CEA9130425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E680C8-F9EC-AFA5-FF88-0848AA1BD7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B23206-FAB1-50CA-FF03-87FA703CD7FC}"/>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6" name="Slide Number Placeholder 5">
            <a:extLst>
              <a:ext uri="{FF2B5EF4-FFF2-40B4-BE49-F238E27FC236}">
                <a16:creationId xmlns:a16="http://schemas.microsoft.com/office/drawing/2014/main" id="{14E1618F-26B6-737F-CE6A-BEEF1CB03181}"/>
              </a:ext>
            </a:extLst>
          </p:cNvPr>
          <p:cNvSpPr>
            <a:spLocks noGrp="1"/>
          </p:cNvSpPr>
          <p:nvPr>
            <p:ph type="sldNum" sz="quarter" idx="12"/>
          </p:nvPr>
        </p:nvSpPr>
        <p:spPr/>
        <p:txBody>
          <a:bodyPr/>
          <a:lstStyle/>
          <a:p>
            <a:fld id="{0A96E364-F2F0-4E85-BE0A-F5D9CA33C15E}" type="slidenum">
              <a:rPr lang="en-US" smtClean="0"/>
              <a:t>‹#›</a:t>
            </a:fld>
            <a:endParaRPr lang="en-US"/>
          </a:p>
        </p:txBody>
      </p:sp>
    </p:spTree>
    <p:extLst>
      <p:ext uri="{BB962C8B-B14F-4D97-AF65-F5344CB8AC3E}">
        <p14:creationId xmlns:p14="http://schemas.microsoft.com/office/powerpoint/2010/main" val="1998159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766BC-355F-66D3-0C44-1CF6B1A870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981F90-330B-23A9-5D57-3E11207E6F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96CAE-0909-C848-0F2D-03EFD0513D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B5AF0D-0700-470A-8DAF-E0FC580A679A}"/>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6" name="Footer Placeholder 5">
            <a:extLst>
              <a:ext uri="{FF2B5EF4-FFF2-40B4-BE49-F238E27FC236}">
                <a16:creationId xmlns:a16="http://schemas.microsoft.com/office/drawing/2014/main" id="{DB844CB3-6973-626C-CB09-E919434119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D75E3A-B517-1E88-6165-DFB5EF06EF36}"/>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8" name="Picture 7">
            <a:extLst>
              <a:ext uri="{FF2B5EF4-FFF2-40B4-BE49-F238E27FC236}">
                <a16:creationId xmlns:a16="http://schemas.microsoft.com/office/drawing/2014/main" id="{64A1A145-71AE-A119-A661-29DFD8B82A70}"/>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9" name="Google Shape;11;p1">
            <a:extLst>
              <a:ext uri="{FF2B5EF4-FFF2-40B4-BE49-F238E27FC236}">
                <a16:creationId xmlns:a16="http://schemas.microsoft.com/office/drawing/2014/main" id="{C953631B-0ED2-B9C7-978B-13D5FEE61F18}"/>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3352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8F6D9-F844-4D38-2F80-D0E56EB981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A20449-1842-F2E7-75ED-27E44A60C8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1640F2-1309-0981-588B-C7ADE2E016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CC1089-1760-8AC5-E44F-CD19D135BB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4D75E2-A897-755A-1178-7FDF27BAF4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C422D9-E5E6-90CF-5ED2-081C576FD09B}"/>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8" name="Footer Placeholder 7">
            <a:extLst>
              <a:ext uri="{FF2B5EF4-FFF2-40B4-BE49-F238E27FC236}">
                <a16:creationId xmlns:a16="http://schemas.microsoft.com/office/drawing/2014/main" id="{38633C2E-1717-0D3F-2209-E71D780975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1ADB7C-192E-3518-A07A-21102DDC04F5}"/>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10" name="Picture 9">
            <a:extLst>
              <a:ext uri="{FF2B5EF4-FFF2-40B4-BE49-F238E27FC236}">
                <a16:creationId xmlns:a16="http://schemas.microsoft.com/office/drawing/2014/main" id="{5F62C6DF-2065-25F3-8D61-715BAFBB14CD}"/>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11" name="Google Shape;11;p1">
            <a:extLst>
              <a:ext uri="{FF2B5EF4-FFF2-40B4-BE49-F238E27FC236}">
                <a16:creationId xmlns:a16="http://schemas.microsoft.com/office/drawing/2014/main" id="{AAEC9DBE-7FA5-6878-5B0C-96DF1DDB7084}"/>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3634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3B3B-A006-138F-1C86-63419CEBE2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6F6AB1-C58A-2781-FD5A-007122ADA30E}"/>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4" name="Footer Placeholder 3">
            <a:extLst>
              <a:ext uri="{FF2B5EF4-FFF2-40B4-BE49-F238E27FC236}">
                <a16:creationId xmlns:a16="http://schemas.microsoft.com/office/drawing/2014/main" id="{F7923AE9-309F-F0F6-63AE-3B17AD303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528B90-CB53-FB3F-512B-755D0CCC6FA5}"/>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6" name="Picture 5">
            <a:extLst>
              <a:ext uri="{FF2B5EF4-FFF2-40B4-BE49-F238E27FC236}">
                <a16:creationId xmlns:a16="http://schemas.microsoft.com/office/drawing/2014/main" id="{FC575064-4788-2645-E304-AD0BA14E3972}"/>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7" name="Google Shape;11;p1">
            <a:extLst>
              <a:ext uri="{FF2B5EF4-FFF2-40B4-BE49-F238E27FC236}">
                <a16:creationId xmlns:a16="http://schemas.microsoft.com/office/drawing/2014/main" id="{3C4F2394-1019-1ABA-0F5B-8C81DF75BFC9}"/>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2001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480192-D1D1-C50F-BB53-417C83CC4D1C}"/>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3" name="Footer Placeholder 2">
            <a:extLst>
              <a:ext uri="{FF2B5EF4-FFF2-40B4-BE49-F238E27FC236}">
                <a16:creationId xmlns:a16="http://schemas.microsoft.com/office/drawing/2014/main" id="{D5A61341-EEA2-02CB-1B98-BBED76AE2C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7E8E42-AAF7-8E70-8C82-D4E3B78EB702}"/>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5" name="Picture 4">
            <a:extLst>
              <a:ext uri="{FF2B5EF4-FFF2-40B4-BE49-F238E27FC236}">
                <a16:creationId xmlns:a16="http://schemas.microsoft.com/office/drawing/2014/main" id="{EEBE22E5-2647-0223-CDF2-24678775BF19}"/>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6" name="Google Shape;11;p1">
            <a:extLst>
              <a:ext uri="{FF2B5EF4-FFF2-40B4-BE49-F238E27FC236}">
                <a16:creationId xmlns:a16="http://schemas.microsoft.com/office/drawing/2014/main" id="{B660A9E9-FCC8-0993-F186-443F087597C9}"/>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3995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6F04-8802-420F-81E5-2BD9FF0B3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CA2E99-108A-79A5-C9FA-64781080F0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8819B1-4B5D-7831-7A36-8C41EE9C6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60062-ED20-C4F3-CFF3-3B6D65AE86DD}"/>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6" name="Footer Placeholder 5">
            <a:extLst>
              <a:ext uri="{FF2B5EF4-FFF2-40B4-BE49-F238E27FC236}">
                <a16:creationId xmlns:a16="http://schemas.microsoft.com/office/drawing/2014/main" id="{55FC3892-106E-5A5C-1362-1BFA205A5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1E338-83C4-179B-B907-673D2823232C}"/>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8" name="Picture 7">
            <a:extLst>
              <a:ext uri="{FF2B5EF4-FFF2-40B4-BE49-F238E27FC236}">
                <a16:creationId xmlns:a16="http://schemas.microsoft.com/office/drawing/2014/main" id="{ED5DB78F-3382-F2C3-21D4-1BBC00DE81DB}"/>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9" name="Google Shape;11;p1">
            <a:extLst>
              <a:ext uri="{FF2B5EF4-FFF2-40B4-BE49-F238E27FC236}">
                <a16:creationId xmlns:a16="http://schemas.microsoft.com/office/drawing/2014/main" id="{A67110E9-52FE-1F32-24BF-8FE1DC0178DA}"/>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059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8877-C260-1B46-5871-3D5173EB92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B0972F-76E0-A2F9-8445-D141DE6B72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7E0171-F9AB-15B6-2119-FC874FBCA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9AD916-529D-447A-D00F-C90FED846326}"/>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6" name="Footer Placeholder 5">
            <a:extLst>
              <a:ext uri="{FF2B5EF4-FFF2-40B4-BE49-F238E27FC236}">
                <a16:creationId xmlns:a16="http://schemas.microsoft.com/office/drawing/2014/main" id="{434C1577-0EF0-8BB6-B995-EE1FD7BFBA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3C7D12-3DE5-624D-98AD-56500243D75A}"/>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8" name="Picture 7">
            <a:extLst>
              <a:ext uri="{FF2B5EF4-FFF2-40B4-BE49-F238E27FC236}">
                <a16:creationId xmlns:a16="http://schemas.microsoft.com/office/drawing/2014/main" id="{D0B09884-F680-0379-7E7D-B5A929EBE679}"/>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9" name="Google Shape;11;p1">
            <a:extLst>
              <a:ext uri="{FF2B5EF4-FFF2-40B4-BE49-F238E27FC236}">
                <a16:creationId xmlns:a16="http://schemas.microsoft.com/office/drawing/2014/main" id="{77998D06-5880-5DA8-E3C8-CAD9D2DA3EB1}"/>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5959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8AAAE-79F7-07E3-FC6B-FFC211EDCA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5BC9A2-C6B7-73C8-51C1-AA2DC41CCF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8B02BC-9515-6200-55E9-5A32D5E49C2D}"/>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5" name="Footer Placeholder 4">
            <a:extLst>
              <a:ext uri="{FF2B5EF4-FFF2-40B4-BE49-F238E27FC236}">
                <a16:creationId xmlns:a16="http://schemas.microsoft.com/office/drawing/2014/main" id="{3E8DBA2D-4AF4-44A2-3A42-EDF2C3F53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9D68A-0136-D943-F7EB-C0B837A95279}"/>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7" name="Picture 6">
            <a:extLst>
              <a:ext uri="{FF2B5EF4-FFF2-40B4-BE49-F238E27FC236}">
                <a16:creationId xmlns:a16="http://schemas.microsoft.com/office/drawing/2014/main" id="{F89ADF00-6A7F-FEAC-A62A-4035A18E8095}"/>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8" name="Google Shape;11;p1">
            <a:extLst>
              <a:ext uri="{FF2B5EF4-FFF2-40B4-BE49-F238E27FC236}">
                <a16:creationId xmlns:a16="http://schemas.microsoft.com/office/drawing/2014/main" id="{E453705E-B2E1-3889-675E-F3E52EDC456A}"/>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3013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4F43DA-08C5-F54E-15FB-6DD17BFE9D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BC42E2-39E4-3E54-A0BA-C4823A484A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6B53AD-4643-4473-7184-C8D199A8E9F8}"/>
              </a:ext>
            </a:extLst>
          </p:cNvPr>
          <p:cNvSpPr>
            <a:spLocks noGrp="1"/>
          </p:cNvSpPr>
          <p:nvPr>
            <p:ph type="dt" sz="half" idx="10"/>
          </p:nvPr>
        </p:nvSpPr>
        <p:spPr/>
        <p:txBody>
          <a:bodyPr/>
          <a:lstStyle/>
          <a:p>
            <a:fld id="{23C9693C-5D8F-460A-B1A1-112DD1E9E921}" type="datetimeFigureOut">
              <a:rPr lang="en-US" smtClean="0"/>
              <a:t>15-Dec-25</a:t>
            </a:fld>
            <a:endParaRPr lang="en-US"/>
          </a:p>
        </p:txBody>
      </p:sp>
      <p:sp>
        <p:nvSpPr>
          <p:cNvPr id="5" name="Footer Placeholder 4">
            <a:extLst>
              <a:ext uri="{FF2B5EF4-FFF2-40B4-BE49-F238E27FC236}">
                <a16:creationId xmlns:a16="http://schemas.microsoft.com/office/drawing/2014/main" id="{01540BDA-2CF0-5F27-62BC-600882131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274F9-3969-72F0-50CA-6F2A0557C4A4}"/>
              </a:ext>
            </a:extLst>
          </p:cNvPr>
          <p:cNvSpPr>
            <a:spLocks noGrp="1"/>
          </p:cNvSpPr>
          <p:nvPr>
            <p:ph type="sldNum" sz="quarter" idx="12"/>
          </p:nvPr>
        </p:nvSpPr>
        <p:spPr/>
        <p:txBody>
          <a:bodyPr/>
          <a:lstStyle/>
          <a:p>
            <a:fld id="{0A96E364-F2F0-4E85-BE0A-F5D9CA33C15E}" type="slidenum">
              <a:rPr lang="en-US" smtClean="0"/>
              <a:t>‹#›</a:t>
            </a:fld>
            <a:endParaRPr lang="en-US"/>
          </a:p>
        </p:txBody>
      </p:sp>
      <p:pic>
        <p:nvPicPr>
          <p:cNvPr id="7" name="Picture 6">
            <a:extLst>
              <a:ext uri="{FF2B5EF4-FFF2-40B4-BE49-F238E27FC236}">
                <a16:creationId xmlns:a16="http://schemas.microsoft.com/office/drawing/2014/main" id="{4525B262-06E3-768D-C93A-C02A03A7655A}"/>
              </a:ext>
            </a:extLst>
          </p:cNvPr>
          <p:cNvPicPr>
            <a:picLocks noChangeAspect="1"/>
          </p:cNvPicPr>
          <p:nvPr userDrawn="1"/>
        </p:nvPicPr>
        <p:blipFill>
          <a:blip r:embed="rId2"/>
          <a:stretch>
            <a:fillRect/>
          </a:stretch>
        </p:blipFill>
        <p:spPr>
          <a:xfrm>
            <a:off x="10515373" y="5665591"/>
            <a:ext cx="1676854" cy="919465"/>
          </a:xfrm>
          <a:prstGeom prst="rect">
            <a:avLst/>
          </a:prstGeom>
        </p:spPr>
      </p:pic>
      <p:sp>
        <p:nvSpPr>
          <p:cNvPr id="8" name="Google Shape;11;p1">
            <a:extLst>
              <a:ext uri="{FF2B5EF4-FFF2-40B4-BE49-F238E27FC236}">
                <a16:creationId xmlns:a16="http://schemas.microsoft.com/office/drawing/2014/main" id="{ADEF2672-36B4-F9BD-C4A8-CDA41E5B62CC}"/>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9084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Google Shape;11;p1">
            <a:extLst>
              <a:ext uri="{FF2B5EF4-FFF2-40B4-BE49-F238E27FC236}">
                <a16:creationId xmlns:a16="http://schemas.microsoft.com/office/drawing/2014/main" id="{94A5987E-3BD5-ACA2-63AE-1AA6AEC0ED5B}"/>
              </a:ext>
            </a:extLst>
          </p:cNvPr>
          <p:cNvSpPr/>
          <p:nvPr userDrawn="1"/>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30B90C01-2F50-091E-8823-50EEA7030377}"/>
              </a:ext>
            </a:extLst>
          </p:cNvPr>
          <p:cNvPicPr>
            <a:picLocks noChangeAspect="1"/>
          </p:cNvPicPr>
          <p:nvPr userDrawn="1"/>
        </p:nvPicPr>
        <p:blipFill>
          <a:blip r:embed="rId3"/>
          <a:stretch>
            <a:fillRect/>
          </a:stretch>
        </p:blipFill>
        <p:spPr>
          <a:xfrm>
            <a:off x="10493810" y="5665591"/>
            <a:ext cx="1676854" cy="919465"/>
          </a:xfrm>
          <a:prstGeom prst="rect">
            <a:avLst/>
          </a:prstGeom>
        </p:spPr>
      </p:pic>
      <p:sp>
        <p:nvSpPr>
          <p:cNvPr id="8" name="Google Shape;11;p1">
            <a:extLst>
              <a:ext uri="{FF2B5EF4-FFF2-40B4-BE49-F238E27FC236}">
                <a16:creationId xmlns:a16="http://schemas.microsoft.com/office/drawing/2014/main" id="{2EBB3A15-3B4E-060D-F35A-95AEBC3A451D}"/>
              </a:ext>
            </a:extLst>
          </p:cNvPr>
          <p:cNvSpPr/>
          <p:nvPr userDrawn="1"/>
        </p:nvSpPr>
        <p:spPr>
          <a:xfrm>
            <a:off x="-227"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2D1686-3E9C-9386-A288-3BE143E0DC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014F0B-7493-5036-F5C9-12AED15E3A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1C346-A160-B0D6-C6F1-031F66D2A0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C9693C-5D8F-460A-B1A1-112DD1E9E921}" type="datetimeFigureOut">
              <a:rPr lang="en-US" smtClean="0"/>
              <a:t>15-Dec-25</a:t>
            </a:fld>
            <a:endParaRPr lang="en-US"/>
          </a:p>
        </p:txBody>
      </p:sp>
      <p:sp>
        <p:nvSpPr>
          <p:cNvPr id="5" name="Footer Placeholder 4">
            <a:extLst>
              <a:ext uri="{FF2B5EF4-FFF2-40B4-BE49-F238E27FC236}">
                <a16:creationId xmlns:a16="http://schemas.microsoft.com/office/drawing/2014/main" id="{81626FBF-8E1E-47FD-3555-0AFF603DB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0DBA3A-4ED9-9DD4-FA8F-BB443A9FA4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96E364-F2F0-4E85-BE0A-F5D9CA33C15E}" type="slidenum">
              <a:rPr lang="en-US" smtClean="0"/>
              <a:t>‹#›</a:t>
            </a:fld>
            <a:endParaRPr lang="en-US"/>
          </a:p>
        </p:txBody>
      </p:sp>
      <p:sp>
        <p:nvSpPr>
          <p:cNvPr id="7" name="Footer Placeholder 4">
            <a:extLst>
              <a:ext uri="{FF2B5EF4-FFF2-40B4-BE49-F238E27FC236}">
                <a16:creationId xmlns:a16="http://schemas.microsoft.com/office/drawing/2014/main" id="{EC031362-4363-2AA5-1C9B-8B437C491C85}"/>
              </a:ext>
            </a:extLst>
          </p:cNvPr>
          <p:cNvSpPr txBox="1">
            <a:spLocks/>
          </p:cNvSpPr>
          <p:nvPr userDrawn="1"/>
        </p:nvSpPr>
        <p:spPr>
          <a:xfrm>
            <a:off x="4038600" y="6225723"/>
            <a:ext cx="4114800" cy="365125"/>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b="1" dirty="0"/>
              <a:t>Paper Id: </a:t>
            </a:r>
            <a:endParaRPr lang="en-US" b="1" dirty="0"/>
          </a:p>
        </p:txBody>
      </p:sp>
    </p:spTree>
    <p:extLst>
      <p:ext uri="{BB962C8B-B14F-4D97-AF65-F5344CB8AC3E}">
        <p14:creationId xmlns:p14="http://schemas.microsoft.com/office/powerpoint/2010/main" val="813172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webp"/><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
        <p:cNvGrpSpPr/>
        <p:nvPr/>
      </p:nvGrpSpPr>
      <p:grpSpPr>
        <a:xfrm>
          <a:off x="0" y="0"/>
          <a:ext cx="0" cy="0"/>
          <a:chOff x="0" y="0"/>
          <a:chExt cx="0" cy="0"/>
        </a:xfrm>
      </p:grpSpPr>
      <p:sp>
        <p:nvSpPr>
          <p:cNvPr id="11" name="Google Shape;11;p1"/>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12" name="Google Shape;12;p1"/>
          <p:cNvSpPr txBox="1"/>
          <p:nvPr/>
        </p:nvSpPr>
        <p:spPr>
          <a:xfrm>
            <a:off x="4511078" y="2065847"/>
            <a:ext cx="3311100" cy="532800"/>
          </a:xfrm>
          <a:prstGeom prst="rect">
            <a:avLst/>
          </a:prstGeom>
          <a:noFill/>
          <a:ln>
            <a:noFill/>
          </a:ln>
        </p:spPr>
        <p:txBody>
          <a:bodyPr spcFirstLastPara="1" wrap="square" lIns="0" tIns="26000" rIns="0" bIns="0" anchor="t" anchorCtr="0">
            <a:noAutofit/>
          </a:bodyPr>
          <a:lstStyle/>
          <a:p>
            <a:pPr marL="12700" marR="0" lvl="0" indent="0" algn="l" rtl="0">
              <a:lnSpc>
                <a:spcPct val="102375"/>
              </a:lnSpc>
              <a:spcBef>
                <a:spcPts val="0"/>
              </a:spcBef>
              <a:spcAft>
                <a:spcPts val="0"/>
              </a:spcAft>
              <a:buNone/>
            </a:pPr>
            <a:r>
              <a:rPr lang="en-US" sz="4000" b="0" i="0" u="none" strike="noStrike" cap="none" dirty="0">
                <a:solidFill>
                  <a:schemeClr val="dk1"/>
                </a:solidFill>
                <a:latin typeface="Calibri"/>
                <a:ea typeface="Calibri"/>
                <a:cs typeface="Calibri"/>
                <a:sym typeface="Calibri"/>
              </a:rPr>
              <a:t>Paper ID 0</a:t>
            </a:r>
            <a:r>
              <a:rPr lang="en-US" sz="4000" dirty="0">
                <a:solidFill>
                  <a:schemeClr val="dk1"/>
                </a:solidFill>
                <a:latin typeface="Calibri"/>
                <a:ea typeface="Calibri"/>
                <a:cs typeface="Calibri"/>
                <a:sym typeface="Calibri"/>
              </a:rPr>
              <a:t>1</a:t>
            </a:r>
            <a:endParaRPr sz="4000" b="0" i="0" u="none" strike="noStrike" cap="none" dirty="0">
              <a:solidFill>
                <a:schemeClr val="dk1"/>
              </a:solidFill>
              <a:latin typeface="Calibri"/>
              <a:ea typeface="Calibri"/>
              <a:cs typeface="Calibri"/>
              <a:sym typeface="Calibri"/>
            </a:endParaRPr>
          </a:p>
        </p:txBody>
      </p:sp>
      <p:sp>
        <p:nvSpPr>
          <p:cNvPr id="13" name="Google Shape;13;p1"/>
          <p:cNvSpPr txBox="1"/>
          <p:nvPr/>
        </p:nvSpPr>
        <p:spPr>
          <a:xfrm>
            <a:off x="584613" y="2651794"/>
            <a:ext cx="10987500" cy="1179900"/>
          </a:xfrm>
          <a:prstGeom prst="rect">
            <a:avLst/>
          </a:prstGeom>
          <a:noFill/>
          <a:ln>
            <a:noFill/>
          </a:ln>
        </p:spPr>
        <p:txBody>
          <a:bodyPr spcFirstLastPara="1" wrap="square" lIns="0" tIns="38725" rIns="0" bIns="0" anchor="t" anchorCtr="0">
            <a:noAutofit/>
          </a:bodyPr>
          <a:lstStyle/>
          <a:p>
            <a:pPr marL="12700" lvl="0" algn="ctr">
              <a:lnSpc>
                <a:spcPct val="102000"/>
              </a:lnSpc>
              <a:buClr>
                <a:schemeClr val="dk1"/>
              </a:buClr>
              <a:buSzPts val="1100"/>
            </a:pPr>
            <a:r>
              <a:rPr lang="en-US" sz="3600" b="1" dirty="0"/>
              <a:t>Neuro-Fuzzy IDS with MRMR Feature Selection and Adaptive Ensemble Correction</a:t>
            </a:r>
            <a:endParaRPr sz="3600" b="1" dirty="0">
              <a:solidFill>
                <a:schemeClr val="dk1"/>
              </a:solidFill>
            </a:endParaRPr>
          </a:p>
          <a:p>
            <a:pPr marL="12700" lvl="0" indent="0" algn="ctr" rtl="0">
              <a:lnSpc>
                <a:spcPct val="102000"/>
              </a:lnSpc>
              <a:spcBef>
                <a:spcPts val="0"/>
              </a:spcBef>
              <a:spcAft>
                <a:spcPts val="0"/>
              </a:spcAft>
              <a:buClr>
                <a:schemeClr val="dk1"/>
              </a:buClr>
              <a:buSzPts val="1100"/>
              <a:buFont typeface="Arial"/>
              <a:buNone/>
            </a:pPr>
            <a:endParaRPr sz="3600" b="1" dirty="0">
              <a:solidFill>
                <a:schemeClr val="dk1"/>
              </a:solidFill>
            </a:endParaRPr>
          </a:p>
          <a:p>
            <a:pPr marL="12700" marR="0" lvl="0" indent="0" algn="l" rtl="0">
              <a:lnSpc>
                <a:spcPct val="101666"/>
              </a:lnSpc>
              <a:spcBef>
                <a:spcPts val="0"/>
              </a:spcBef>
              <a:spcAft>
                <a:spcPts val="0"/>
              </a:spcAft>
              <a:buNone/>
            </a:pPr>
            <a:endParaRPr sz="3700" dirty="0">
              <a:solidFill>
                <a:schemeClr val="dk1"/>
              </a:solidFill>
              <a:latin typeface="Calibri"/>
              <a:ea typeface="Calibri"/>
              <a:cs typeface="Calibri"/>
              <a:sym typeface="Calibri"/>
            </a:endParaRPr>
          </a:p>
          <a:p>
            <a:pPr marL="12700" marR="0" lvl="0" indent="0" algn="l" rtl="0">
              <a:lnSpc>
                <a:spcPct val="101666"/>
              </a:lnSpc>
              <a:spcBef>
                <a:spcPts val="0"/>
              </a:spcBef>
              <a:spcAft>
                <a:spcPts val="0"/>
              </a:spcAft>
              <a:buNone/>
            </a:pPr>
            <a:endParaRPr sz="3700" dirty="0">
              <a:solidFill>
                <a:schemeClr val="dk1"/>
              </a:solidFill>
              <a:latin typeface="Calibri"/>
              <a:ea typeface="Calibri"/>
              <a:cs typeface="Calibri"/>
              <a:sym typeface="Calibri"/>
            </a:endParaRPr>
          </a:p>
          <a:p>
            <a:pPr marL="12700" marR="0" lvl="0" indent="0" algn="l" rtl="0">
              <a:lnSpc>
                <a:spcPct val="101666"/>
              </a:lnSpc>
              <a:spcBef>
                <a:spcPts val="0"/>
              </a:spcBef>
              <a:spcAft>
                <a:spcPts val="0"/>
              </a:spcAft>
              <a:buNone/>
            </a:pPr>
            <a:endParaRPr sz="3700" dirty="0">
              <a:solidFill>
                <a:schemeClr val="dk1"/>
              </a:solidFill>
              <a:latin typeface="Calibri"/>
              <a:ea typeface="Calibri"/>
              <a:cs typeface="Calibri"/>
              <a:sym typeface="Calibri"/>
            </a:endParaRPr>
          </a:p>
        </p:txBody>
      </p:sp>
      <p:sp>
        <p:nvSpPr>
          <p:cNvPr id="14" name="Google Shape;14;p1"/>
          <p:cNvSpPr txBox="1"/>
          <p:nvPr/>
        </p:nvSpPr>
        <p:spPr>
          <a:xfrm>
            <a:off x="584613" y="3663105"/>
            <a:ext cx="10792917" cy="2580515"/>
          </a:xfrm>
          <a:prstGeom prst="rect">
            <a:avLst/>
          </a:prstGeom>
          <a:noFill/>
          <a:ln>
            <a:noFill/>
          </a:ln>
        </p:spPr>
        <p:txBody>
          <a:bodyPr spcFirstLastPara="1" wrap="square" lIns="0" tIns="15875" rIns="0" bIns="0" anchor="t" anchorCtr="0">
            <a:spAutoFit/>
          </a:bodyPr>
          <a:lstStyle/>
          <a:p>
            <a:pPr algn="ctr">
              <a:lnSpc>
                <a:spcPct val="150000"/>
              </a:lnSpc>
              <a:buClr>
                <a:schemeClr val="dk1"/>
              </a:buClr>
              <a:buSzPts val="1100"/>
            </a:pPr>
            <a:r>
              <a:rPr lang="en-US" sz="2000" b="1" dirty="0">
                <a:solidFill>
                  <a:schemeClr val="dk1"/>
                </a:solidFill>
              </a:rPr>
              <a:t>Paper Id : 776</a:t>
            </a:r>
          </a:p>
          <a:p>
            <a:pPr marL="0" lvl="0" indent="0" algn="ctr" rtl="0">
              <a:lnSpc>
                <a:spcPct val="150000"/>
              </a:lnSpc>
              <a:spcBef>
                <a:spcPts val="0"/>
              </a:spcBef>
              <a:spcAft>
                <a:spcPts val="0"/>
              </a:spcAft>
              <a:buClr>
                <a:schemeClr val="dk1"/>
              </a:buClr>
              <a:buSzPts val="1100"/>
              <a:buFont typeface="Arial"/>
              <a:buNone/>
            </a:pPr>
            <a:r>
              <a:rPr lang="en-US" sz="2000" b="1" dirty="0">
                <a:solidFill>
                  <a:schemeClr val="dk1"/>
                </a:solidFill>
              </a:rPr>
              <a:t>Authors Names </a:t>
            </a:r>
          </a:p>
          <a:p>
            <a:pPr lvl="0" algn="ctr">
              <a:lnSpc>
                <a:spcPct val="150000"/>
              </a:lnSpc>
              <a:buClr>
                <a:schemeClr val="dk1"/>
              </a:buClr>
              <a:buSzPts val="1100"/>
            </a:pPr>
            <a:r>
              <a:rPr lang="en-US" sz="1600" dirty="0"/>
              <a:t>Kunda Suresh Babu, Pekala Veera Dhanush Kumar, Seggem Srinivas, Sk. Mynampati Saida Vali, Thannaru Venkata Siva, Yerrarapu Sravani Devi, Dodda Venkata Reddy</a:t>
            </a:r>
            <a:endParaRPr sz="2000" dirty="0">
              <a:solidFill>
                <a:schemeClr val="dk1"/>
              </a:solidFill>
            </a:endParaRPr>
          </a:p>
          <a:p>
            <a:pPr marL="0" lvl="0" indent="0" algn="ctr" rtl="0">
              <a:lnSpc>
                <a:spcPct val="150000"/>
              </a:lnSpc>
              <a:spcBef>
                <a:spcPts val="0"/>
              </a:spcBef>
              <a:spcAft>
                <a:spcPts val="0"/>
              </a:spcAft>
              <a:buClr>
                <a:schemeClr val="dk1"/>
              </a:buClr>
              <a:buSzPts val="1100"/>
              <a:buFont typeface="Arial"/>
              <a:buNone/>
            </a:pPr>
            <a:r>
              <a:rPr lang="en-US" sz="2000" dirty="0">
                <a:solidFill>
                  <a:schemeClr val="dk1"/>
                </a:solidFill>
              </a:rPr>
              <a:t>Name of the Department : CSE</a:t>
            </a:r>
            <a:endParaRPr sz="2000" dirty="0">
              <a:solidFill>
                <a:schemeClr val="dk1"/>
              </a:solidFill>
            </a:endParaRPr>
          </a:p>
          <a:p>
            <a:pPr marL="396217" marR="417112" lvl="0" indent="0" algn="ctr" rtl="0">
              <a:lnSpc>
                <a:spcPct val="101725"/>
              </a:lnSpc>
              <a:spcBef>
                <a:spcPts val="545"/>
              </a:spcBef>
              <a:spcAft>
                <a:spcPts val="0"/>
              </a:spcAft>
              <a:buNone/>
            </a:pPr>
            <a:r>
              <a:rPr lang="en-US" sz="2400" dirty="0">
                <a:solidFill>
                  <a:schemeClr val="dk1"/>
                </a:solidFill>
                <a:latin typeface="Calibri"/>
                <a:ea typeface="Calibri"/>
                <a:cs typeface="Calibri"/>
                <a:sym typeface="Calibri"/>
              </a:rPr>
              <a:t>Narasaraopeta Engineering College, Palnadu, Andhra Pradesh</a:t>
            </a:r>
            <a:endParaRPr sz="2400" b="0" i="0" u="none" strike="noStrike" cap="none" dirty="0">
              <a:solidFill>
                <a:schemeClr val="dk1"/>
              </a:solidFill>
              <a:latin typeface="Calibri"/>
              <a:ea typeface="Calibri"/>
              <a:cs typeface="Calibri"/>
              <a:sym typeface="Calibri"/>
            </a:endParaRPr>
          </a:p>
        </p:txBody>
      </p:sp>
      <p:cxnSp>
        <p:nvCxnSpPr>
          <p:cNvPr id="7" name="Straight Connector 6"/>
          <p:cNvCxnSpPr/>
          <p:nvPr/>
        </p:nvCxnSpPr>
        <p:spPr>
          <a:xfrm>
            <a:off x="584613" y="2000822"/>
            <a:ext cx="107929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8" name="Picture 7" descr="A blue and white logo&#10;&#10;AI-generated content may be incorrect.">
            <a:extLst>
              <a:ext uri="{FF2B5EF4-FFF2-40B4-BE49-F238E27FC236}">
                <a16:creationId xmlns:a16="http://schemas.microsoft.com/office/drawing/2014/main" id="{C48BBAFA-3E27-28F4-E0C6-9ACE6F64E04D}"/>
              </a:ext>
            </a:extLst>
          </p:cNvPr>
          <p:cNvPicPr>
            <a:picLocks noChangeAspect="1"/>
          </p:cNvPicPr>
          <p:nvPr/>
        </p:nvPicPr>
        <p:blipFill>
          <a:blip r:embed="rId3"/>
          <a:stretch>
            <a:fillRect/>
          </a:stretch>
        </p:blipFill>
        <p:spPr>
          <a:xfrm>
            <a:off x="10228215" y="5610855"/>
            <a:ext cx="1963785" cy="974201"/>
          </a:xfrm>
          <a:prstGeom prst="rect">
            <a:avLst/>
          </a:prstGeom>
        </p:spPr>
      </p:pic>
      <p:pic>
        <p:nvPicPr>
          <p:cNvPr id="10" name="Picture 9" descr="A logo with a red blue and orange swirls">
            <a:extLst>
              <a:ext uri="{FF2B5EF4-FFF2-40B4-BE49-F238E27FC236}">
                <a16:creationId xmlns:a16="http://schemas.microsoft.com/office/drawing/2014/main" id="{E2E25BDF-00E9-72CA-6DC7-DCCC172C4ABB}"/>
              </a:ext>
            </a:extLst>
          </p:cNvPr>
          <p:cNvPicPr>
            <a:picLocks noChangeAspect="1"/>
          </p:cNvPicPr>
          <p:nvPr/>
        </p:nvPicPr>
        <p:blipFill>
          <a:blip r:embed="rId4"/>
          <a:stretch>
            <a:fillRect/>
          </a:stretch>
        </p:blipFill>
        <p:spPr>
          <a:xfrm>
            <a:off x="4128650" y="113134"/>
            <a:ext cx="3423032" cy="2576817"/>
          </a:xfrm>
          <a:prstGeom prst="rect">
            <a:avLst/>
          </a:prstGeom>
        </p:spPr>
      </p:pic>
      <p:pic>
        <p:nvPicPr>
          <p:cNvPr id="3" name="Picture 2">
            <a:extLst>
              <a:ext uri="{FF2B5EF4-FFF2-40B4-BE49-F238E27FC236}">
                <a16:creationId xmlns:a16="http://schemas.microsoft.com/office/drawing/2014/main" id="{126DAB26-CE9C-BEE5-9E51-C35E6A117876}"/>
              </a:ext>
            </a:extLst>
          </p:cNvPr>
          <p:cNvPicPr>
            <a:picLocks noChangeAspect="1"/>
          </p:cNvPicPr>
          <p:nvPr/>
        </p:nvPicPr>
        <p:blipFill>
          <a:blip r:embed="rId5"/>
          <a:stretch>
            <a:fillRect/>
          </a:stretch>
        </p:blipFill>
        <p:spPr>
          <a:xfrm>
            <a:off x="9712024" y="253498"/>
            <a:ext cx="1560870" cy="14251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408D5D3E-2638-0511-4F1A-5E5A69D71250}"/>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2EBE3D3B-44E9-6759-05D1-542927B7F132}"/>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D64FAFC5-C74F-D677-46DA-D1A406BD563F}"/>
              </a:ext>
            </a:extLst>
          </p:cNvPr>
          <p:cNvSpPr txBox="1"/>
          <p:nvPr/>
        </p:nvSpPr>
        <p:spPr>
          <a:xfrm>
            <a:off x="916956" y="749575"/>
            <a:ext cx="4667400" cy="585000"/>
          </a:xfrm>
          <a:prstGeom prst="rect">
            <a:avLst/>
          </a:prstGeom>
          <a:noFill/>
          <a:ln>
            <a:noFill/>
          </a:ln>
        </p:spPr>
        <p:txBody>
          <a:bodyPr spcFirstLastPara="1" wrap="square" lIns="0" tIns="28600" rIns="0" bIns="0" anchor="t" anchorCtr="0">
            <a:noAutofit/>
          </a:bodyPr>
          <a:lstStyle/>
          <a:p>
            <a:pPr marL="12700" marR="0" lvl="0" indent="0" algn="l" rtl="0">
              <a:lnSpc>
                <a:spcPct val="102386"/>
              </a:lnSpc>
              <a:spcBef>
                <a:spcPts val="0"/>
              </a:spcBef>
              <a:spcAft>
                <a:spcPts val="0"/>
              </a:spcAft>
              <a:buNone/>
            </a:pPr>
            <a:r>
              <a:rPr lang="en-US" sz="4400">
                <a:solidFill>
                  <a:srgbClr val="C00000"/>
                </a:solidFill>
                <a:latin typeface="Calibri"/>
                <a:ea typeface="Calibri"/>
                <a:cs typeface="Calibri"/>
                <a:sym typeface="Calibri"/>
              </a:rPr>
              <a:t>Presentation</a:t>
            </a:r>
            <a:endParaRPr sz="4400">
              <a:solidFill>
                <a:schemeClr val="dk1"/>
              </a:solidFill>
              <a:latin typeface="Calibri"/>
              <a:ea typeface="Calibri"/>
              <a:cs typeface="Calibri"/>
              <a:sym typeface="Calibri"/>
            </a:endParaRPr>
          </a:p>
        </p:txBody>
      </p:sp>
      <p:sp>
        <p:nvSpPr>
          <p:cNvPr id="23" name="Google Shape;23;p2">
            <a:extLst>
              <a:ext uri="{FF2B5EF4-FFF2-40B4-BE49-F238E27FC236}">
                <a16:creationId xmlns:a16="http://schemas.microsoft.com/office/drawing/2014/main" id="{C67FD42B-9894-4802-36FC-E8197013A969}"/>
              </a:ext>
            </a:extLst>
          </p:cNvPr>
          <p:cNvSpPr txBox="1"/>
          <p:nvPr/>
        </p:nvSpPr>
        <p:spPr>
          <a:xfrm>
            <a:off x="3885685" y="749579"/>
            <a:ext cx="1764407" cy="585012"/>
          </a:xfrm>
          <a:prstGeom prst="rect">
            <a:avLst/>
          </a:prstGeom>
          <a:noFill/>
          <a:ln>
            <a:noFill/>
          </a:ln>
        </p:spPr>
        <p:txBody>
          <a:bodyPr spcFirstLastPara="1" wrap="square" lIns="0" tIns="28600" rIns="0" bIns="0" anchor="t" anchorCtr="0">
            <a:noAutofit/>
          </a:bodyPr>
          <a:lstStyle/>
          <a:p>
            <a:pPr marL="12700" marR="0" lvl="0" indent="0" algn="l" rtl="0">
              <a:lnSpc>
                <a:spcPct val="102386"/>
              </a:lnSpc>
              <a:spcBef>
                <a:spcPts val="0"/>
              </a:spcBef>
              <a:spcAft>
                <a:spcPts val="0"/>
              </a:spcAft>
              <a:buNone/>
            </a:pPr>
            <a:r>
              <a:rPr lang="en-US" sz="4400" dirty="0">
                <a:solidFill>
                  <a:srgbClr val="C00000"/>
                </a:solidFill>
                <a:latin typeface="Calibri"/>
                <a:ea typeface="Calibri"/>
                <a:cs typeface="Calibri"/>
                <a:sym typeface="Calibri"/>
              </a:rPr>
              <a:t>Outline</a:t>
            </a:r>
            <a:endParaRPr sz="4400" dirty="0">
              <a:solidFill>
                <a:schemeClr val="dk1"/>
              </a:solidFill>
              <a:latin typeface="Calibri"/>
              <a:ea typeface="Calibri"/>
              <a:cs typeface="Calibri"/>
              <a:sym typeface="Calibri"/>
            </a:endParaRPr>
          </a:p>
        </p:txBody>
      </p:sp>
      <p:sp>
        <p:nvSpPr>
          <p:cNvPr id="24" name="Google Shape;24;p2">
            <a:extLst>
              <a:ext uri="{FF2B5EF4-FFF2-40B4-BE49-F238E27FC236}">
                <a16:creationId xmlns:a16="http://schemas.microsoft.com/office/drawing/2014/main" id="{206BDD46-96AD-98A0-4F13-94390A28C095}"/>
              </a:ext>
            </a:extLst>
          </p:cNvPr>
          <p:cNvSpPr txBox="1"/>
          <p:nvPr/>
        </p:nvSpPr>
        <p:spPr>
          <a:xfrm>
            <a:off x="1274480" y="1658100"/>
            <a:ext cx="8831217" cy="3962700"/>
          </a:xfrm>
          <a:prstGeom prst="rect">
            <a:avLst/>
          </a:prstGeom>
          <a:noFill/>
          <a:ln>
            <a:noFill/>
          </a:ln>
        </p:spPr>
        <p:txBody>
          <a:bodyPr spcFirstLastPara="1" wrap="square" lIns="0" tIns="20275" rIns="0" bIns="0" anchor="t" anchorCtr="0">
            <a:noAutofit/>
          </a:bodyPr>
          <a:lstStyle/>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Introduction/ Background </a:t>
            </a:r>
            <a:endParaRPr sz="3100" dirty="0">
              <a:solidFill>
                <a:schemeClr val="dk1"/>
              </a:solidFill>
              <a:latin typeface="Calibri"/>
              <a:ea typeface="Calibri"/>
              <a:cs typeface="Calibri"/>
              <a:sym typeface="Calibri"/>
            </a:endParaRPr>
          </a:p>
          <a:p>
            <a:pPr marL="457200" marR="59387" lvl="0" indent="-425450" algn="l" rtl="0">
              <a:lnSpc>
                <a:spcPct val="103064"/>
              </a:lnSpc>
              <a:spcBef>
                <a:spcPts val="0"/>
              </a:spcBef>
              <a:spcAft>
                <a:spcPts val="0"/>
              </a:spcAft>
              <a:buClr>
                <a:schemeClr val="dk1"/>
              </a:buClr>
              <a:buSzPts val="3100"/>
              <a:buFont typeface="Calibri"/>
              <a:buChar char="●"/>
            </a:pPr>
            <a:r>
              <a:rPr lang="en-GB" sz="3100" dirty="0">
                <a:solidFill>
                  <a:schemeClr val="dk1"/>
                </a:solidFill>
                <a:latin typeface="Calibri"/>
                <a:ea typeface="Calibri"/>
                <a:cs typeface="Calibri"/>
                <a:sym typeface="Calibri"/>
              </a:rPr>
              <a:t>Problem Statement, Dataset Description</a:t>
            </a:r>
            <a:endParaRPr sz="3100" dirty="0">
              <a:solidFill>
                <a:schemeClr val="dk1"/>
              </a:solidFill>
              <a:latin typeface="Calibri"/>
              <a:ea typeface="Calibri"/>
              <a:cs typeface="Calibri"/>
              <a:sym typeface="Calibri"/>
            </a:endParaRPr>
          </a:p>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Objectives </a:t>
            </a:r>
          </a:p>
          <a:p>
            <a:pPr marL="457200" marR="59387" lvl="0" indent="-425450" algn="l" rtl="0">
              <a:lnSpc>
                <a:spcPct val="103064"/>
              </a:lnSpc>
              <a:spcBef>
                <a:spcPts val="0"/>
              </a:spcBef>
              <a:spcAft>
                <a:spcPts val="0"/>
              </a:spcAft>
              <a:buClr>
                <a:schemeClr val="dk1"/>
              </a:buClr>
              <a:buSzPts val="3100"/>
              <a:buFont typeface="Calibri"/>
              <a:buChar char="●"/>
            </a:pPr>
            <a:r>
              <a:rPr lang="en-GB" sz="3100" dirty="0">
                <a:solidFill>
                  <a:schemeClr val="dk1"/>
                </a:solidFill>
                <a:latin typeface="Calibri"/>
                <a:ea typeface="Calibri"/>
                <a:cs typeface="Calibri"/>
                <a:sym typeface="Calibri"/>
              </a:rPr>
              <a:t>Methodology/ Architectures</a:t>
            </a:r>
            <a:endParaRPr sz="3100" dirty="0">
              <a:solidFill>
                <a:schemeClr val="dk1"/>
              </a:solidFill>
              <a:latin typeface="Calibri"/>
              <a:ea typeface="Calibri"/>
              <a:cs typeface="Calibri"/>
              <a:sym typeface="Calibri"/>
            </a:endParaRPr>
          </a:p>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Performance Measures </a:t>
            </a:r>
            <a:endParaRPr sz="3100" dirty="0">
              <a:solidFill>
                <a:schemeClr val="dk1"/>
              </a:solidFill>
              <a:latin typeface="Calibri"/>
              <a:ea typeface="Calibri"/>
              <a:cs typeface="Calibri"/>
              <a:sym typeface="Calibri"/>
            </a:endParaRPr>
          </a:p>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Results and Analysis </a:t>
            </a:r>
            <a:endParaRPr sz="3100" dirty="0">
              <a:solidFill>
                <a:schemeClr val="dk1"/>
              </a:solidFill>
              <a:latin typeface="Calibri"/>
              <a:ea typeface="Calibri"/>
              <a:cs typeface="Calibri"/>
              <a:sym typeface="Calibri"/>
            </a:endParaRPr>
          </a:p>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Conclusion and Future Scope </a:t>
            </a:r>
          </a:p>
          <a:p>
            <a:pPr marL="457200" marR="59387" lvl="0" indent="-425450" algn="l" rtl="0">
              <a:lnSpc>
                <a:spcPct val="103064"/>
              </a:lnSpc>
              <a:spcBef>
                <a:spcPts val="0"/>
              </a:spcBef>
              <a:spcAft>
                <a:spcPts val="0"/>
              </a:spcAft>
              <a:buClr>
                <a:schemeClr val="dk1"/>
              </a:buClr>
              <a:buSzPts val="3100"/>
              <a:buFont typeface="Calibri"/>
              <a:buChar char="●"/>
            </a:pPr>
            <a:r>
              <a:rPr lang="en-US" sz="3100" dirty="0">
                <a:solidFill>
                  <a:schemeClr val="dk1"/>
                </a:solidFill>
                <a:latin typeface="Calibri"/>
                <a:ea typeface="Calibri"/>
                <a:cs typeface="Calibri"/>
                <a:sym typeface="Calibri"/>
              </a:rPr>
              <a:t>References </a:t>
            </a:r>
          </a:p>
        </p:txBody>
      </p:sp>
      <p:sp>
        <p:nvSpPr>
          <p:cNvPr id="2" name="Google Shape;11;p1">
            <a:extLst>
              <a:ext uri="{FF2B5EF4-FFF2-40B4-BE49-F238E27FC236}">
                <a16:creationId xmlns:a16="http://schemas.microsoft.com/office/drawing/2014/main" id="{684DABC7-D35B-5D6A-DFC2-9E8D49FC247B}"/>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201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sp>
        <p:nvSpPr>
          <p:cNvPr id="21" name="Google Shape;21;p2"/>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p:cNvSpPr txBox="1"/>
          <p:nvPr/>
        </p:nvSpPr>
        <p:spPr>
          <a:xfrm>
            <a:off x="3762300" y="0"/>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4400" b="1" dirty="0">
                <a:solidFill>
                  <a:schemeClr val="dk1"/>
                </a:solidFill>
                <a:latin typeface="Calibri"/>
                <a:ea typeface="Calibri"/>
                <a:cs typeface="Calibri"/>
                <a:sym typeface="Calibri"/>
              </a:rPr>
              <a:t>INTRODUCTION</a:t>
            </a:r>
          </a:p>
        </p:txBody>
      </p:sp>
      <p:sp>
        <p:nvSpPr>
          <p:cNvPr id="2" name="Google Shape;11;p1">
            <a:extLst>
              <a:ext uri="{FF2B5EF4-FFF2-40B4-BE49-F238E27FC236}">
                <a16:creationId xmlns:a16="http://schemas.microsoft.com/office/drawing/2014/main" id="{10AFFE40-C34E-48B2-FAB8-5E44A76D2E35}"/>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C9CCBDE2-6D5D-C8A0-8530-EB15CF5D17D0}"/>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D4C405D8-BF73-0660-9F4C-6F2DE008EC8B}"/>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EC22C765-5C7F-E7D0-101A-3996319B57FF}"/>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1" name="Rectangle 5">
            <a:extLst>
              <a:ext uri="{FF2B5EF4-FFF2-40B4-BE49-F238E27FC236}">
                <a16:creationId xmlns:a16="http://schemas.microsoft.com/office/drawing/2014/main" id="{E8407451-3A91-AE4B-658E-B8CE9D0D3B18}"/>
              </a:ext>
            </a:extLst>
          </p:cNvPr>
          <p:cNvSpPr>
            <a:spLocks noChangeArrowheads="1"/>
          </p:cNvSpPr>
          <p:nvPr/>
        </p:nvSpPr>
        <p:spPr bwMode="auto">
          <a:xfrm>
            <a:off x="21336" y="680865"/>
            <a:ext cx="12192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Intrusion Detection Systems (IDS) are a core component of modern network security, responsible for monitoring traffic and identifying malicious activities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rapid growth of cloud computing, IoT devices, and distributed systems has led </a:t>
            </a:r>
            <a:r>
              <a:rPr kumimoji="0" lang="en-US" altLang="en-US" sz="2000" i="0" u="none" strike="noStrike" cap="none" normalizeH="0" baseline="0" dirty="0">
                <a:ln>
                  <a:noFill/>
                </a:ln>
                <a:solidFill>
                  <a:schemeClr val="tx1"/>
                </a:solidFill>
                <a:effectLst/>
                <a:latin typeface="Arial" panose="020B0604020202020204" pitchFamily="34" charset="0"/>
              </a:rPr>
              <a:t>to high-volume, high-dimensional, and heterogeneous network traffic, </a:t>
            </a:r>
            <a:r>
              <a:rPr kumimoji="0" lang="en-US" altLang="en-US" sz="2000" b="0" i="0" u="none" strike="noStrike" cap="none" normalizeH="0" baseline="0" dirty="0">
                <a:ln>
                  <a:noFill/>
                </a:ln>
                <a:solidFill>
                  <a:schemeClr val="tx1"/>
                </a:solidFill>
                <a:effectLst/>
                <a:latin typeface="Arial" panose="020B0604020202020204" pitchFamily="34" charset="0"/>
              </a:rPr>
              <a:t>making intrusion detection more complex.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Traditional IDS approaches struggle due </a:t>
            </a:r>
            <a:r>
              <a:rPr kumimoji="0" lang="en-US" altLang="en-US" sz="2000" i="0" u="none" strike="noStrike" cap="none" normalizeH="0" baseline="0" dirty="0">
                <a:ln>
                  <a:noFill/>
                </a:ln>
                <a:solidFill>
                  <a:schemeClr val="tx1"/>
                </a:solidFill>
                <a:effectLst/>
                <a:latin typeface="Arial" panose="020B0604020202020204" pitchFamily="34" charset="0"/>
              </a:rPr>
              <a:t>to noisy data, redundant features, and class imbalance</a:t>
            </a:r>
            <a:r>
              <a:rPr kumimoji="0" lang="en-US" altLang="en-US" sz="2000" b="0" i="0" u="none" strike="noStrike" cap="none" normalizeH="0" baseline="0" dirty="0">
                <a:ln>
                  <a:noFill/>
                </a:ln>
                <a:solidFill>
                  <a:schemeClr val="tx1"/>
                </a:solidFill>
                <a:effectLst/>
                <a:latin typeface="Arial" panose="020B0604020202020204" pitchFamily="34" charset="0"/>
              </a:rPr>
              <a:t>, often resulting in false alarms or missed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Machine Learning and Deep Learning based IDS models have improved detection accuracy, but they suffer from:</a:t>
            </a:r>
          </a:p>
          <a:p>
            <a:pPr marL="342900" lvl="6" indent="-342900" eaLnBrk="0" fontAlgn="base" hangingPunct="0">
              <a:spcBef>
                <a:spcPct val="0"/>
              </a:spcBef>
              <a:spcAft>
                <a:spcPct val="0"/>
              </a:spcAft>
              <a:buClr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Arial" panose="020B0604020202020204" pitchFamily="34" charset="0"/>
              </a:rPr>
              <a:t>Fixed decision thresholds that fail on uncertain predictions</a:t>
            </a:r>
          </a:p>
          <a:p>
            <a:pPr marL="342900" lvl="6" indent="-342900" eaLnBrk="0" fontAlgn="base" hangingPunct="0">
              <a:spcBef>
                <a:spcPct val="0"/>
              </a:spcBef>
              <a:spcAft>
                <a:spcPct val="0"/>
              </a:spcAft>
              <a:buClr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Arial" panose="020B0604020202020204" pitchFamily="34" charset="0"/>
              </a:rPr>
              <a:t>Poor recall for minority and stealth attacks</a:t>
            </a:r>
          </a:p>
          <a:p>
            <a:pPr marL="342900" lvl="6" indent="-342900" eaLnBrk="0" fontAlgn="base" hangingPunct="0">
              <a:spcBef>
                <a:spcPct val="0"/>
              </a:spcBef>
              <a:spcAft>
                <a:spcPct val="0"/>
              </a:spcAft>
              <a:buClr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Arial" panose="020B0604020202020204" pitchFamily="34" charset="0"/>
              </a:rPr>
              <a:t>High computational cost and limited interpretability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Most existing IDS solutions operate as </a:t>
            </a:r>
            <a:r>
              <a:rPr kumimoji="0" lang="en-US" altLang="en-US" sz="2000" i="0" u="none" strike="noStrike" cap="none" normalizeH="0" baseline="0" dirty="0">
                <a:ln>
                  <a:noFill/>
                </a:ln>
                <a:solidFill>
                  <a:schemeClr val="tx1"/>
                </a:solidFill>
                <a:effectLst/>
                <a:latin typeface="Arial" panose="020B0604020202020204" pitchFamily="34" charset="0"/>
              </a:rPr>
              <a:t>black-box models</a:t>
            </a:r>
            <a:r>
              <a:rPr kumimoji="0" lang="en-US" altLang="en-US" sz="2000" b="0" i="0" u="none" strike="noStrike" cap="none" normalizeH="0" baseline="0" dirty="0">
                <a:ln>
                  <a:noFill/>
                </a:ln>
                <a:solidFill>
                  <a:schemeClr val="tx1"/>
                </a:solidFill>
                <a:effectLst/>
                <a:latin typeface="Arial" panose="020B0604020202020204" pitchFamily="34" charset="0"/>
              </a:rPr>
              <a:t>, which reduces trust and limits their use in real-world security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Handling </a:t>
            </a:r>
            <a:r>
              <a:rPr kumimoji="0" lang="en-US" altLang="en-US" sz="2000" i="0" u="none" strike="noStrike" cap="none" normalizeH="0" baseline="0" dirty="0">
                <a:ln>
                  <a:noFill/>
                </a:ln>
                <a:solidFill>
                  <a:schemeClr val="tx1"/>
                </a:solidFill>
                <a:effectLst/>
                <a:latin typeface="Arial" panose="020B0604020202020204" pitchFamily="34" charset="0"/>
              </a:rPr>
              <a:t>uncertain or boundary predictions </a:t>
            </a:r>
            <a:r>
              <a:rPr kumimoji="0" lang="en-US" altLang="en-US" sz="2000" b="0" i="0" u="none" strike="noStrike" cap="none" normalizeH="0" baseline="0" dirty="0">
                <a:ln>
                  <a:noFill/>
                </a:ln>
                <a:solidFill>
                  <a:schemeClr val="tx1"/>
                </a:solidFill>
                <a:effectLst/>
                <a:latin typeface="Arial" panose="020B0604020202020204" pitchFamily="34" charset="0"/>
              </a:rPr>
              <a:t>remains a major open challenge in IDS research.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This work addresses these issues by proposing “</a:t>
            </a:r>
            <a:r>
              <a:rPr kumimoji="0" lang="en-US" altLang="en-US" sz="2000" b="1" i="0" u="none" strike="noStrike" cap="none" normalizeH="0" baseline="0" dirty="0" err="1">
                <a:ln>
                  <a:noFill/>
                </a:ln>
                <a:solidFill>
                  <a:schemeClr val="tx1"/>
                </a:solidFill>
                <a:effectLst/>
                <a:latin typeface="Arial" panose="020B0604020202020204" pitchFamily="34" charset="0"/>
              </a:rPr>
              <a:t>FuzzTabIDS</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a hybrid intrusion detection framework that integrates feature selection, interpretable deep learning, fuzzy logic, and ensemble-based correction.</a:t>
            </a:r>
          </a:p>
        </p:txBody>
      </p:sp>
      <p:sp>
        <p:nvSpPr>
          <p:cNvPr id="12" name="TextBox 11">
            <a:extLst>
              <a:ext uri="{FF2B5EF4-FFF2-40B4-BE49-F238E27FC236}">
                <a16:creationId xmlns:a16="http://schemas.microsoft.com/office/drawing/2014/main" id="{9A7C3555-5AFF-5121-039C-3D043495ED50}"/>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02668F5E-E0F7-24FD-6B9F-6D11CF133E09}"/>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B32B4B6E-DA22-9276-53D0-95E34E1185F5}"/>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6491F4FA-6393-D493-1B7C-5F501886A4D0}"/>
              </a:ext>
            </a:extLst>
          </p:cNvPr>
          <p:cNvSpPr txBox="1"/>
          <p:nvPr/>
        </p:nvSpPr>
        <p:spPr>
          <a:xfrm>
            <a:off x="764800" y="0"/>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Problem statement</a:t>
            </a:r>
          </a:p>
        </p:txBody>
      </p:sp>
      <p:sp>
        <p:nvSpPr>
          <p:cNvPr id="2" name="Google Shape;11;p1">
            <a:extLst>
              <a:ext uri="{FF2B5EF4-FFF2-40B4-BE49-F238E27FC236}">
                <a16:creationId xmlns:a16="http://schemas.microsoft.com/office/drawing/2014/main" id="{D4BA7A95-5F25-C9A5-B6FD-A16E5CE317A1}"/>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9C979391-57C0-1ACC-605E-B049CCAEC5C4}"/>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B855DFFD-4CFE-BBEC-D67F-0F4D3AB10A46}"/>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793828F-923F-40FE-D702-6BD27DB8AFF5}"/>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3AE36FD1-912C-BFC7-45FB-EF74A72C1071}"/>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3" name="Rectangle 1">
            <a:extLst>
              <a:ext uri="{FF2B5EF4-FFF2-40B4-BE49-F238E27FC236}">
                <a16:creationId xmlns:a16="http://schemas.microsoft.com/office/drawing/2014/main" id="{E25BD57E-1759-B2C4-5155-ACFBD53C1CC2}"/>
              </a:ext>
            </a:extLst>
          </p:cNvPr>
          <p:cNvSpPr>
            <a:spLocks noChangeArrowheads="1"/>
          </p:cNvSpPr>
          <p:nvPr/>
        </p:nvSpPr>
        <p:spPr bwMode="auto">
          <a:xfrm>
            <a:off x="101000" y="593503"/>
            <a:ext cx="5995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Modern IDS must analyze high-speed, high-dimensional network traffic, often containing more than 80 features per flow.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Many features are redundant, irrelevant, or highly correlated, leading to:</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Increased training time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Overfitting</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Reduced interpretability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Deep learning models output probabilistic predictions, but: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Predictions near decision boundaries (e.g., 0.49–0.51) are ambiguous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Fixed thresholds (e.g., 0.5) cause false alarms and missed detections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IDS models perform poorly on minority and stealth attack classes due to severe class imbalance.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Reliance on a single model architecture limits generalization across different attack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Most IDS models lack explainability and post-prediction refinement, reducing trust and operational usability.</a:t>
            </a:r>
          </a:p>
        </p:txBody>
      </p:sp>
      <p:sp>
        <p:nvSpPr>
          <p:cNvPr id="7" name="Rectangle 3">
            <a:extLst>
              <a:ext uri="{FF2B5EF4-FFF2-40B4-BE49-F238E27FC236}">
                <a16:creationId xmlns:a16="http://schemas.microsoft.com/office/drawing/2014/main" id="{3441A60E-03AA-2359-82CC-E27BDCA2847E}"/>
              </a:ext>
            </a:extLst>
          </p:cNvPr>
          <p:cNvSpPr>
            <a:spLocks noChangeArrowheads="1"/>
          </p:cNvSpPr>
          <p:nvPr/>
        </p:nvSpPr>
        <p:spPr bwMode="auto">
          <a:xfrm>
            <a:off x="6096000" y="718380"/>
            <a:ext cx="56602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Dataset used: CICIDS-2017</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Developed by: Canadian Institute for Cybersecurity (CIC)</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Total records: 2,827,876 network flow samples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collection period: July 3–7, 2017 (9 AM – 5 PM)</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Supports: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Binary classification (Benign vs Attack)</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Multi-class classification (15 attack types)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Each record contains over 80 features, including:</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Flow identifiers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Time-based metrics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Statistical attributes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Behavioral features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Highly imbalanced dataset:</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Benign traffic: 2,271,320 samples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Attack traffic: 556,556 samples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Contains both common and rare attacks such as:</a:t>
            </a: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DoS, DDoS, </a:t>
            </a:r>
            <a:r>
              <a:rPr kumimoji="0" lang="en-US" altLang="en-US" sz="1800" i="0" u="none" strike="noStrike" cap="none" normalizeH="0" baseline="0" dirty="0" err="1">
                <a:ln>
                  <a:noFill/>
                </a:ln>
                <a:solidFill>
                  <a:schemeClr val="tx1"/>
                </a:solidFill>
                <a:effectLst/>
                <a:latin typeface="Arial" panose="020B0604020202020204" pitchFamily="34" charset="0"/>
              </a:rPr>
              <a:t>PortScan</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Infiltration, SQL Injection, Heartbleed</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10" name="Google Shape;22;p2">
            <a:extLst>
              <a:ext uri="{FF2B5EF4-FFF2-40B4-BE49-F238E27FC236}">
                <a16:creationId xmlns:a16="http://schemas.microsoft.com/office/drawing/2014/main" id="{D6C79A16-7DE9-997D-C2DE-8ACF084AA257}"/>
              </a:ext>
            </a:extLst>
          </p:cNvPr>
          <p:cNvSpPr txBox="1"/>
          <p:nvPr/>
        </p:nvSpPr>
        <p:spPr>
          <a:xfrm>
            <a:off x="6592443" y="-5119"/>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Dataset Description</a:t>
            </a:r>
          </a:p>
        </p:txBody>
      </p:sp>
      <p:cxnSp>
        <p:nvCxnSpPr>
          <p:cNvPr id="14" name="Straight Connector 13">
            <a:extLst>
              <a:ext uri="{FF2B5EF4-FFF2-40B4-BE49-F238E27FC236}">
                <a16:creationId xmlns:a16="http://schemas.microsoft.com/office/drawing/2014/main" id="{45451E37-B1F9-348F-48C9-8CD5C48D48D4}"/>
              </a:ext>
            </a:extLst>
          </p:cNvPr>
          <p:cNvCxnSpPr>
            <a:cxnSpLocks/>
          </p:cNvCxnSpPr>
          <p:nvPr/>
        </p:nvCxnSpPr>
        <p:spPr>
          <a:xfrm>
            <a:off x="6023113" y="287381"/>
            <a:ext cx="0" cy="595205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992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53821A04-A3D7-3A64-8AF0-5D3FA38E99D3}"/>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967496EB-2E00-1D01-7567-04FAA9244D4E}"/>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C648CA83-9C57-71D0-ED1B-87FEDB828ADA}"/>
              </a:ext>
            </a:extLst>
          </p:cNvPr>
          <p:cNvSpPr txBox="1"/>
          <p:nvPr/>
        </p:nvSpPr>
        <p:spPr>
          <a:xfrm>
            <a:off x="3762300" y="0"/>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4400" b="1" dirty="0">
                <a:solidFill>
                  <a:schemeClr val="dk1"/>
                </a:solidFill>
                <a:latin typeface="Calibri"/>
                <a:ea typeface="Calibri"/>
                <a:cs typeface="Calibri"/>
                <a:sym typeface="Calibri"/>
              </a:rPr>
              <a:t>OBJECTIVES</a:t>
            </a:r>
          </a:p>
        </p:txBody>
      </p:sp>
      <p:sp>
        <p:nvSpPr>
          <p:cNvPr id="2" name="Google Shape;11;p1">
            <a:extLst>
              <a:ext uri="{FF2B5EF4-FFF2-40B4-BE49-F238E27FC236}">
                <a16:creationId xmlns:a16="http://schemas.microsoft.com/office/drawing/2014/main" id="{FFE2CBFB-43EB-46E4-C077-E01C412ECBC5}"/>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7F249255-321D-A53B-A6D1-53E419E2DB14}"/>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6C0C74AC-98D5-412E-0E7A-4819552647AF}"/>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267B9A92-7C4F-63C2-60F3-5BCF5868E9CB}"/>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B1CEA3EF-9DB8-FF2F-FAE9-1C402E964F84}"/>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3" name="Rectangle 1">
            <a:extLst>
              <a:ext uri="{FF2B5EF4-FFF2-40B4-BE49-F238E27FC236}">
                <a16:creationId xmlns:a16="http://schemas.microsoft.com/office/drawing/2014/main" id="{8139180C-5291-B5D5-721F-2D47560C921F}"/>
              </a:ext>
            </a:extLst>
          </p:cNvPr>
          <p:cNvSpPr>
            <a:spLocks noChangeArrowheads="1"/>
          </p:cNvSpPr>
          <p:nvPr/>
        </p:nvSpPr>
        <p:spPr bwMode="auto">
          <a:xfrm>
            <a:off x="21336" y="853400"/>
            <a:ext cx="12192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apply </a:t>
            </a:r>
            <a:r>
              <a:rPr kumimoji="0" lang="en-US" altLang="en-US" sz="2000" b="1" i="0" u="none" strike="noStrike" cap="none" normalizeH="0" baseline="0" dirty="0">
                <a:ln>
                  <a:noFill/>
                </a:ln>
                <a:solidFill>
                  <a:schemeClr val="tx1"/>
                </a:solidFill>
                <a:effectLst/>
                <a:latin typeface="Arial" panose="020B0604020202020204" pitchFamily="34" charset="0"/>
              </a:rPr>
              <a:t>Minimum Redundancy Maximum Relevance (MRMR)</a:t>
            </a:r>
            <a:r>
              <a:rPr kumimoji="0" lang="en-US" altLang="en-US" sz="2000" b="0" i="0" u="none" strike="noStrike" cap="none" normalizeH="0" baseline="0" dirty="0">
                <a:ln>
                  <a:noFill/>
                </a:ln>
                <a:solidFill>
                  <a:schemeClr val="tx1"/>
                </a:solidFill>
                <a:effectLst/>
                <a:latin typeface="Arial" panose="020B0604020202020204" pitchFamily="34" charset="0"/>
              </a:rPr>
              <a:t> feature selection to identify the most relevant features while reducing dimensionality without sacrificing detection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train a </a:t>
            </a:r>
            <a:r>
              <a:rPr kumimoji="0" lang="en-US" altLang="en-US" sz="2000" b="1" i="0" u="none" strike="noStrike" cap="none" normalizeH="0" baseline="0" dirty="0" err="1">
                <a:ln>
                  <a:noFill/>
                </a:ln>
                <a:solidFill>
                  <a:schemeClr val="tx1"/>
                </a:solidFill>
                <a:effectLst/>
                <a:latin typeface="Arial" panose="020B0604020202020204" pitchFamily="34" charset="0"/>
              </a:rPr>
              <a:t>TabNet</a:t>
            </a:r>
            <a:r>
              <a:rPr kumimoji="0" lang="en-US" altLang="en-US" sz="2000" b="1" i="0" u="none" strike="noStrike" cap="none" normalizeH="0" baseline="0" dirty="0">
                <a:ln>
                  <a:noFill/>
                </a:ln>
                <a:solidFill>
                  <a:schemeClr val="tx1"/>
                </a:solidFill>
                <a:effectLst/>
                <a:latin typeface="Arial" panose="020B0604020202020204" pitchFamily="34" charset="0"/>
              </a:rPr>
              <a:t>-based deep learning model</a:t>
            </a:r>
            <a:r>
              <a:rPr kumimoji="0" lang="en-US" altLang="en-US" sz="2000" b="0" i="0" u="none" strike="noStrike" cap="none" normalizeH="0" baseline="0" dirty="0">
                <a:ln>
                  <a:noFill/>
                </a:ln>
                <a:solidFill>
                  <a:schemeClr val="tx1"/>
                </a:solidFill>
                <a:effectLst/>
                <a:latin typeface="Arial" panose="020B0604020202020204" pitchFamily="34" charset="0"/>
              </a:rPr>
              <a:t> on the selected features, leveraging its strength on structured data and its inherent interpretability.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incorporate a </a:t>
            </a:r>
            <a:r>
              <a:rPr kumimoji="0" lang="en-US" altLang="en-US" sz="2000" b="1" i="0" u="none" strike="noStrike" cap="none" normalizeH="0" baseline="0" dirty="0">
                <a:ln>
                  <a:noFill/>
                </a:ln>
                <a:solidFill>
                  <a:schemeClr val="tx1"/>
                </a:solidFill>
                <a:effectLst/>
                <a:latin typeface="Arial" panose="020B0604020202020204" pitchFamily="34" charset="0"/>
              </a:rPr>
              <a:t>fuzzy logic-based decision layer</a:t>
            </a:r>
            <a:r>
              <a:rPr kumimoji="0" lang="en-US" altLang="en-US" sz="2000" b="0" i="0" u="none" strike="noStrike" cap="none" normalizeH="0" baseline="0" dirty="0">
                <a:ln>
                  <a:noFill/>
                </a:ln>
                <a:solidFill>
                  <a:schemeClr val="tx1"/>
                </a:solidFill>
                <a:effectLst/>
                <a:latin typeface="Arial" panose="020B0604020202020204" pitchFamily="34" charset="0"/>
              </a:rPr>
              <a:t> that dynamically adjusts decision thresholds based on prediction confidence to reduce errors caused by hard thresholding.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introduce </a:t>
            </a:r>
            <a:r>
              <a:rPr kumimoji="0" lang="en-US" altLang="en-US" sz="2000" b="1" i="0" u="none" strike="noStrike" cap="none" normalizeH="0" baseline="0" dirty="0">
                <a:ln>
                  <a:noFill/>
                </a:ln>
                <a:solidFill>
                  <a:schemeClr val="tx1"/>
                </a:solidFill>
                <a:effectLst/>
                <a:latin typeface="Arial" panose="020B0604020202020204" pitchFamily="34" charset="0"/>
              </a:rPr>
              <a:t>micro-correction modules</a:t>
            </a:r>
            <a:r>
              <a:rPr kumimoji="0" lang="en-US" altLang="en-US" sz="2000" b="0" i="0" u="none" strike="noStrike" cap="none" normalizeH="0" baseline="0" dirty="0">
                <a:ln>
                  <a:noFill/>
                </a:ln>
                <a:solidFill>
                  <a:schemeClr val="tx1"/>
                </a:solidFill>
                <a:effectLst/>
                <a:latin typeface="Arial" panose="020B0604020202020204" pitchFamily="34" charset="0"/>
              </a:rPr>
              <a:t>, including Decision Trees, Random Forests, and </a:t>
            </a:r>
            <a:r>
              <a:rPr kumimoji="0" lang="en-US" altLang="en-US" sz="2000" b="0" i="0" u="none" strike="noStrike" cap="none" normalizeH="0" baseline="0" dirty="0" err="1">
                <a:ln>
                  <a:noFill/>
                </a:ln>
                <a:solidFill>
                  <a:schemeClr val="tx1"/>
                </a:solidFill>
                <a:effectLst/>
                <a:latin typeface="Arial" panose="020B0604020202020204" pitchFamily="34" charset="0"/>
              </a:rPr>
              <a:t>XGBoost</a:t>
            </a:r>
            <a:r>
              <a:rPr kumimoji="0" lang="en-US" altLang="en-US" sz="2000" b="0" i="0" u="none" strike="noStrike" cap="none" normalizeH="0" baseline="0" dirty="0">
                <a:ln>
                  <a:noFill/>
                </a:ln>
                <a:solidFill>
                  <a:schemeClr val="tx1"/>
                </a:solidFill>
                <a:effectLst/>
                <a:latin typeface="Arial" panose="020B0604020202020204" pitchFamily="34" charset="0"/>
              </a:rPr>
              <a:t>, to re-evaluate uncertain predictions and correct edge-case misclassifications.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design a </a:t>
            </a:r>
            <a:r>
              <a:rPr kumimoji="0" lang="en-US" altLang="en-US" sz="2000" b="1" i="0" u="none" strike="noStrike" cap="none" normalizeH="0" baseline="0" dirty="0">
                <a:ln>
                  <a:noFill/>
                </a:ln>
                <a:solidFill>
                  <a:schemeClr val="tx1"/>
                </a:solidFill>
                <a:effectLst/>
                <a:latin typeface="Arial" panose="020B0604020202020204" pitchFamily="34" charset="0"/>
              </a:rPr>
              <a:t>stacked ensemble framework</a:t>
            </a:r>
            <a:r>
              <a:rPr kumimoji="0" lang="en-US" altLang="en-US" sz="2000" b="0" i="0" u="none" strike="noStrike" cap="none" normalizeH="0" baseline="0" dirty="0">
                <a:ln>
                  <a:noFill/>
                </a:ln>
                <a:solidFill>
                  <a:schemeClr val="tx1"/>
                </a:solidFill>
                <a:effectLst/>
                <a:latin typeface="Arial" panose="020B0604020202020204" pitchFamily="34" charset="0"/>
              </a:rPr>
              <a:t> using weighted voting and logistic regression to improve overall detection accuracy and robustness across binary and multi-class intrusion detection tasks.</a:t>
            </a:r>
          </a:p>
        </p:txBody>
      </p:sp>
    </p:spTree>
    <p:extLst>
      <p:ext uri="{BB962C8B-B14F-4D97-AF65-F5344CB8AC3E}">
        <p14:creationId xmlns:p14="http://schemas.microsoft.com/office/powerpoint/2010/main" val="3975561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BDDBCFD0-7791-3193-EBB8-74C8FA30AAD2}"/>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2163B028-5540-E320-103D-5075435D50E1}"/>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E9A83C38-7777-8EE9-6E3C-5BFBBBA710FB}"/>
              </a:ext>
            </a:extLst>
          </p:cNvPr>
          <p:cNvSpPr txBox="1"/>
          <p:nvPr/>
        </p:nvSpPr>
        <p:spPr>
          <a:xfrm>
            <a:off x="3689413" y="0"/>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METHODOLOGY</a:t>
            </a:r>
          </a:p>
        </p:txBody>
      </p:sp>
      <p:sp>
        <p:nvSpPr>
          <p:cNvPr id="2" name="Google Shape;11;p1">
            <a:extLst>
              <a:ext uri="{FF2B5EF4-FFF2-40B4-BE49-F238E27FC236}">
                <a16:creationId xmlns:a16="http://schemas.microsoft.com/office/drawing/2014/main" id="{6B2EB6BF-06CA-6F89-BB9B-5AAD58B4EFC9}"/>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633C4F9D-BE32-7C92-6D1A-FE79B3813A4E}"/>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448C8F5D-6F93-B635-BA52-9C1EABD2C33E}"/>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1F1A9D3-446C-EC1C-6385-4DD9E671A913}"/>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B3542320-34BB-2EFD-7D59-E57AD5881DA4}"/>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3" name="Rectangle 1">
            <a:extLst>
              <a:ext uri="{FF2B5EF4-FFF2-40B4-BE49-F238E27FC236}">
                <a16:creationId xmlns:a16="http://schemas.microsoft.com/office/drawing/2014/main" id="{FBA5D196-1F9F-8ABA-8EE0-1D7537A3457F}"/>
              </a:ext>
            </a:extLst>
          </p:cNvPr>
          <p:cNvSpPr>
            <a:spLocks noChangeArrowheads="1"/>
          </p:cNvSpPr>
          <p:nvPr/>
        </p:nvSpPr>
        <p:spPr bwMode="auto">
          <a:xfrm>
            <a:off x="264816" y="1842559"/>
            <a:ext cx="5995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Overall Pipeline (</a:t>
            </a:r>
            <a:r>
              <a:rPr lang="en-US" sz="1800" b="1" dirty="0" err="1"/>
              <a:t>FuzzTabIDS</a:t>
            </a:r>
            <a:r>
              <a:rPr lang="en-US" sz="1800" b="1" dirty="0"/>
              <a:t>)</a:t>
            </a:r>
          </a:p>
          <a:p>
            <a:pPr marL="285750" indent="-285750">
              <a:buFont typeface="Arial" panose="020B0604020202020204" pitchFamily="34" charset="0"/>
              <a:buChar char="•"/>
            </a:pPr>
            <a:r>
              <a:rPr lang="en-US" sz="1800" dirty="0"/>
              <a:t>Data preprocessing</a:t>
            </a:r>
          </a:p>
          <a:p>
            <a:pPr marL="285750" indent="-285750">
              <a:buFont typeface="Arial" panose="020B0604020202020204" pitchFamily="34" charset="0"/>
              <a:buChar char="•"/>
            </a:pPr>
            <a:r>
              <a:rPr lang="en-US" sz="1800" dirty="0"/>
              <a:t>Feature selection using MRMR</a:t>
            </a:r>
          </a:p>
          <a:p>
            <a:pPr marL="285750" indent="-285750">
              <a:buFont typeface="Arial" panose="020B0604020202020204" pitchFamily="34" charset="0"/>
              <a:buChar char="•"/>
            </a:pPr>
            <a:r>
              <a:rPr lang="en-US" sz="1800" dirty="0"/>
              <a:t>Test – Train split</a:t>
            </a:r>
          </a:p>
          <a:p>
            <a:pPr marL="285750" indent="-285750">
              <a:buFont typeface="Arial" panose="020B0604020202020204" pitchFamily="34" charset="0"/>
              <a:buChar char="•"/>
            </a:pPr>
            <a:r>
              <a:rPr lang="en-US" sz="1800" dirty="0"/>
              <a:t>Baseline classification using </a:t>
            </a:r>
            <a:r>
              <a:rPr lang="en-US" sz="1800" dirty="0" err="1"/>
              <a:t>TabNet</a:t>
            </a:r>
            <a:endParaRPr lang="en-US" sz="1800" dirty="0"/>
          </a:p>
          <a:p>
            <a:pPr marL="285750" indent="-285750">
              <a:buFont typeface="Arial" panose="020B0604020202020204" pitchFamily="34" charset="0"/>
              <a:buChar char="•"/>
            </a:pPr>
            <a:r>
              <a:rPr lang="en-US" sz="1800" dirty="0"/>
              <a:t>Fuzzy logic–based threshold adjustment</a:t>
            </a:r>
          </a:p>
          <a:p>
            <a:pPr marL="285750" indent="-285750">
              <a:buFont typeface="Arial" panose="020B0604020202020204" pitchFamily="34" charset="0"/>
              <a:buChar char="•"/>
            </a:pPr>
            <a:r>
              <a:rPr lang="en-US" sz="1800" dirty="0"/>
              <a:t>Micro-correction using Decision Tree and Random Forest</a:t>
            </a:r>
          </a:p>
          <a:p>
            <a:pPr marL="285750" indent="-285750">
              <a:buFont typeface="Arial" panose="020B0604020202020204" pitchFamily="34" charset="0"/>
              <a:buChar char="•"/>
            </a:pPr>
            <a:r>
              <a:rPr lang="en-US" sz="1800" dirty="0"/>
              <a:t>Ensemble learning (weighted voting + stacking)</a:t>
            </a:r>
          </a:p>
          <a:p>
            <a:pPr marL="285750" indent="-285750">
              <a:buFont typeface="Arial" panose="020B0604020202020204" pitchFamily="34" charset="0"/>
              <a:buChar char="•"/>
            </a:pPr>
            <a:r>
              <a:rPr lang="en-US" sz="1800" dirty="0"/>
              <a:t>Final residual correction using </a:t>
            </a:r>
            <a:r>
              <a:rPr lang="en-US" sz="1800" dirty="0" err="1"/>
              <a:t>XGBoost</a:t>
            </a:r>
            <a:endParaRPr lang="en-US" sz="1800" dirty="0"/>
          </a:p>
          <a:p>
            <a:pPr marL="285750" indent="-285750">
              <a:buFont typeface="Arial" panose="020B0604020202020204" pitchFamily="34" charset="0"/>
              <a:buChar char="•"/>
            </a:pPr>
            <a:r>
              <a:rPr lang="en-US" sz="1800" dirty="0"/>
              <a:t>Evaluation</a:t>
            </a:r>
          </a:p>
        </p:txBody>
      </p:sp>
      <p:cxnSp>
        <p:nvCxnSpPr>
          <p:cNvPr id="14" name="Straight Connector 13">
            <a:extLst>
              <a:ext uri="{FF2B5EF4-FFF2-40B4-BE49-F238E27FC236}">
                <a16:creationId xmlns:a16="http://schemas.microsoft.com/office/drawing/2014/main" id="{D87961D5-35AF-38CC-37CF-807F47EDEC70}"/>
              </a:ext>
            </a:extLst>
          </p:cNvPr>
          <p:cNvCxnSpPr>
            <a:cxnSpLocks/>
          </p:cNvCxnSpPr>
          <p:nvPr/>
        </p:nvCxnSpPr>
        <p:spPr>
          <a:xfrm>
            <a:off x="6023113" y="585000"/>
            <a:ext cx="0" cy="5654437"/>
          </a:xfrm>
          <a:prstGeom prst="line">
            <a:avLst/>
          </a:prstGeom>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D6E5C016-3305-6ED3-81C1-DA892EDAA3B1}"/>
              </a:ext>
            </a:extLst>
          </p:cNvPr>
          <p:cNvPicPr>
            <a:picLocks noChangeAspect="1"/>
          </p:cNvPicPr>
          <p:nvPr/>
        </p:nvPicPr>
        <p:blipFill>
          <a:blip r:embed="rId3"/>
          <a:stretch>
            <a:fillRect/>
          </a:stretch>
        </p:blipFill>
        <p:spPr>
          <a:xfrm>
            <a:off x="6096001" y="585000"/>
            <a:ext cx="5922112" cy="5027524"/>
          </a:xfrm>
          <a:prstGeom prst="rect">
            <a:avLst/>
          </a:prstGeom>
        </p:spPr>
      </p:pic>
      <p:sp>
        <p:nvSpPr>
          <p:cNvPr id="13" name="TextBox 12">
            <a:extLst>
              <a:ext uri="{FF2B5EF4-FFF2-40B4-BE49-F238E27FC236}">
                <a16:creationId xmlns:a16="http://schemas.microsoft.com/office/drawing/2014/main" id="{3300F228-0C8A-2591-F052-5A35F885DEE9}"/>
              </a:ext>
            </a:extLst>
          </p:cNvPr>
          <p:cNvSpPr txBox="1"/>
          <p:nvPr/>
        </p:nvSpPr>
        <p:spPr>
          <a:xfrm>
            <a:off x="7950023" y="5743080"/>
            <a:ext cx="2383986" cy="307777"/>
          </a:xfrm>
          <a:prstGeom prst="rect">
            <a:avLst/>
          </a:prstGeom>
          <a:noFill/>
        </p:spPr>
        <p:txBody>
          <a:bodyPr wrap="none" rtlCol="0">
            <a:spAutoFit/>
          </a:bodyPr>
          <a:lstStyle/>
          <a:p>
            <a:r>
              <a:rPr lang="en-US" b="1" dirty="0"/>
              <a:t>Fig: Architecture Diagram</a:t>
            </a:r>
          </a:p>
        </p:txBody>
      </p:sp>
    </p:spTree>
    <p:extLst>
      <p:ext uri="{BB962C8B-B14F-4D97-AF65-F5344CB8AC3E}">
        <p14:creationId xmlns:p14="http://schemas.microsoft.com/office/powerpoint/2010/main" val="2121953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7766A4C3-B84F-81CB-7F87-B386A89A3DA0}"/>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7897133B-CCBA-7077-F784-97712DE9BD75}"/>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C5CF2CCC-F38A-D3AF-6FA2-A62D00992E8E}"/>
              </a:ext>
            </a:extLst>
          </p:cNvPr>
          <p:cNvSpPr txBox="1"/>
          <p:nvPr/>
        </p:nvSpPr>
        <p:spPr>
          <a:xfrm>
            <a:off x="3772968" y="112509"/>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METHODOLOGY</a:t>
            </a:r>
          </a:p>
        </p:txBody>
      </p:sp>
      <p:sp>
        <p:nvSpPr>
          <p:cNvPr id="2" name="Google Shape;11;p1">
            <a:extLst>
              <a:ext uri="{FF2B5EF4-FFF2-40B4-BE49-F238E27FC236}">
                <a16:creationId xmlns:a16="http://schemas.microsoft.com/office/drawing/2014/main" id="{1424C01B-6CAF-0F05-51F6-349AEBA3BD85}"/>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99A28494-684A-B177-A92F-CD813187A696}"/>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CD2554F1-2807-DCF7-681E-586DA5DACD3B}"/>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3A845C2-4FFC-0B83-C2A7-170A56322BC5}"/>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D8E806F4-358F-BC80-961C-780D22E5555F}"/>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7" name="Rectangle 3">
            <a:extLst>
              <a:ext uri="{FF2B5EF4-FFF2-40B4-BE49-F238E27FC236}">
                <a16:creationId xmlns:a16="http://schemas.microsoft.com/office/drawing/2014/main" id="{F5445902-3708-BB61-10FD-ABB336A7158A}"/>
              </a:ext>
            </a:extLst>
          </p:cNvPr>
          <p:cNvSpPr>
            <a:spLocks noChangeArrowheads="1"/>
          </p:cNvSpPr>
          <p:nvPr/>
        </p:nvSpPr>
        <p:spPr bwMode="auto">
          <a:xfrm>
            <a:off x="132408" y="735351"/>
            <a:ext cx="1162866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US" sz="1800" dirty="0"/>
              <a:t>The proposed intrusion detection framework, </a:t>
            </a:r>
            <a:r>
              <a:rPr lang="en-US" sz="1800" dirty="0" err="1"/>
              <a:t>FuzzTabIDS</a:t>
            </a:r>
            <a:r>
              <a:rPr lang="en-US" sz="1800" dirty="0"/>
              <a:t>, follows a multi-stage hybrid methodology designed to address high dimensionality, uncertainty in predictions, class imbalance, and lack of interpretability. The pipeline begins with a comprehensive data preprocessing stage applied to the CICIDS-2017 dataset. Non-informative and leakage-prone attributes such as flow identifiers, IP addresses, ports, and timestamps are removed. Constant features and missing values are handled through elimination and median imputation, and numerical features are normalized using Min–Max scaling. The dataset is prepared to support binary, 7-class, and 15-class classification tasks.</a:t>
            </a:r>
          </a:p>
          <a:p>
            <a:pPr lvl="0" eaLnBrk="0" fontAlgn="base" hangingPunct="0">
              <a:spcBef>
                <a:spcPct val="0"/>
              </a:spcBef>
              <a:spcAft>
                <a:spcPct val="0"/>
              </a:spcAft>
              <a:buClrTx/>
            </a:pPr>
            <a:endParaRPr lang="en-US" sz="1800" dirty="0"/>
          </a:p>
          <a:p>
            <a:pPr marL="285750" lvl="0" indent="-285750" eaLnBrk="0" fontAlgn="base" hangingPunct="0">
              <a:spcBef>
                <a:spcPct val="0"/>
              </a:spcBef>
              <a:spcAft>
                <a:spcPct val="0"/>
              </a:spcAft>
              <a:buClrTx/>
              <a:buFont typeface="Arial" panose="020B0604020202020204" pitchFamily="34" charset="0"/>
              <a:buChar char="•"/>
            </a:pPr>
            <a:r>
              <a:rPr lang="en-US" sz="1800" dirty="0"/>
              <a:t>To reduce dimensionality and eliminate redundant information, Minimum Redundancy Maximum Relevance (MRMR) feature selection is applied. MRMR selects features that are highly relevant to the target class while minimizing redundancy among selected features using mutual information. Based on empirical evaluation, the top 30 features are selected, providing an optimal balance between performance and efficiency.</a:t>
            </a:r>
          </a:p>
          <a:p>
            <a:pPr lvl="0" eaLnBrk="0" fontAlgn="base" hangingPunct="0">
              <a:spcBef>
                <a:spcPct val="0"/>
              </a:spcBef>
              <a:spcAft>
                <a:spcPct val="0"/>
              </a:spcAft>
              <a:buClrTx/>
            </a:pPr>
            <a:endParaRPr lang="en-US" sz="1800" dirty="0"/>
          </a:p>
          <a:p>
            <a:pPr marL="285750" lvl="0" indent="-285750" eaLnBrk="0" fontAlgn="base" hangingPunct="0">
              <a:spcBef>
                <a:spcPct val="0"/>
              </a:spcBef>
              <a:spcAft>
                <a:spcPct val="0"/>
              </a:spcAft>
              <a:buClrTx/>
              <a:buFont typeface="Arial" panose="020B0604020202020204" pitchFamily="34" charset="0"/>
              <a:buChar char="•"/>
            </a:pPr>
            <a:r>
              <a:rPr lang="en-US" sz="1800" dirty="0"/>
              <a:t>The baseline classifier in the pipeline is </a:t>
            </a:r>
            <a:r>
              <a:rPr lang="en-US" sz="1800" dirty="0" err="1"/>
              <a:t>TabNet</a:t>
            </a:r>
            <a:r>
              <a:rPr lang="en-US" sz="1800" dirty="0"/>
              <a:t>, a deep learning model specifically designed for tabular data. </a:t>
            </a:r>
            <a:r>
              <a:rPr lang="en-US" sz="1800" dirty="0" err="1"/>
              <a:t>TabNet</a:t>
            </a:r>
            <a:r>
              <a:rPr lang="en-US" sz="1800" dirty="0"/>
              <a:t> employs sequential attention mechanisms and sparse feature masking, allowing it to learn both local and global feature relationships while maintaining interpretability. Along with predictions, </a:t>
            </a:r>
            <a:r>
              <a:rPr lang="en-US" sz="1800" dirty="0" err="1"/>
              <a:t>TabNet</a:t>
            </a:r>
            <a:r>
              <a:rPr lang="en-US" sz="1800" dirty="0"/>
              <a:t> outputs confidence scores that are used for uncertainty handling.</a:t>
            </a:r>
          </a:p>
          <a:p>
            <a:pPr marL="285750" lvl="0" indent="-285750" eaLnBrk="0" fontAlgn="base" hangingPunct="0">
              <a:spcBef>
                <a:spcPct val="0"/>
              </a:spcBef>
              <a:spcAft>
                <a:spcPct val="0"/>
              </a:spcAft>
              <a:buClrTx/>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614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B5D5B09B-B411-87BB-9BE3-ECB13010A656}"/>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C9E9D6A7-294B-D6F8-1FD2-755E1EBD3842}"/>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08A52874-441F-1616-7221-D52056897FA5}"/>
              </a:ext>
            </a:extLst>
          </p:cNvPr>
          <p:cNvSpPr txBox="1"/>
          <p:nvPr/>
        </p:nvSpPr>
        <p:spPr>
          <a:xfrm>
            <a:off x="3772968" y="112509"/>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METHODOLOGY</a:t>
            </a:r>
          </a:p>
        </p:txBody>
      </p:sp>
      <p:sp>
        <p:nvSpPr>
          <p:cNvPr id="2" name="Google Shape;11;p1">
            <a:extLst>
              <a:ext uri="{FF2B5EF4-FFF2-40B4-BE49-F238E27FC236}">
                <a16:creationId xmlns:a16="http://schemas.microsoft.com/office/drawing/2014/main" id="{1E82ED21-5867-BEB5-12F8-E3F48349693E}"/>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810BD6C4-8ADD-1478-625F-5A726BD2A5BC}"/>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6CE6CE94-BFEE-B9B3-EAF9-319F83F27468}"/>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EF7B8811-E930-AAB0-1F90-0E2FC2AC2357}"/>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BB31D6CD-7532-25EC-BF36-E14CB74EA54C}"/>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7" name="Rectangle 3">
            <a:extLst>
              <a:ext uri="{FF2B5EF4-FFF2-40B4-BE49-F238E27FC236}">
                <a16:creationId xmlns:a16="http://schemas.microsoft.com/office/drawing/2014/main" id="{55C7C9CD-9A97-DAAE-20A7-917FA307A7FB}"/>
              </a:ext>
            </a:extLst>
          </p:cNvPr>
          <p:cNvSpPr>
            <a:spLocks noChangeArrowheads="1"/>
          </p:cNvSpPr>
          <p:nvPr/>
        </p:nvSpPr>
        <p:spPr bwMode="auto">
          <a:xfrm>
            <a:off x="132408" y="947263"/>
            <a:ext cx="1162866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US" sz="1800" dirty="0"/>
              <a:t>To manage ambiguous predictions, a fuzzy logic-based decision layer is introduced. Instead of using a fixed threshold, adaptive lower and upper thresholds are defined around the decision boundary. Predictions falling within this fuzzy zone are treated as uncertain and passed to correction modules. These modules include a shallow Decision Tree and a Random Forest trained specifically on fuzzy-zone errors, enabling efficient correction of hard-to-classify and minority attack samples without retraining the entire model.</a:t>
            </a:r>
          </a:p>
          <a:p>
            <a:pPr marL="285750" lvl="0" indent="-285750" eaLnBrk="0" fontAlgn="base" hangingPunct="0">
              <a:spcBef>
                <a:spcPct val="0"/>
              </a:spcBef>
              <a:spcAft>
                <a:spcPct val="0"/>
              </a:spcAft>
              <a:buClrTx/>
              <a:buFont typeface="Arial" panose="020B0604020202020204" pitchFamily="34" charset="0"/>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US" sz="1800" dirty="0"/>
              <a:t>Further robustness is achieved through ensemble learning. Predictions from </a:t>
            </a:r>
            <a:r>
              <a:rPr lang="en-US" sz="1800" dirty="0" err="1"/>
              <a:t>TabNet</a:t>
            </a:r>
            <a:r>
              <a:rPr lang="en-US" sz="1800" dirty="0"/>
              <a:t>, </a:t>
            </a:r>
            <a:r>
              <a:rPr lang="en-US" sz="1800" dirty="0" err="1"/>
              <a:t>LightGBM</a:t>
            </a:r>
            <a:r>
              <a:rPr lang="en-US" sz="1800" dirty="0"/>
              <a:t>, and Random Forest are combined using weighted voting and stacking with Logistic Regression as a meta-classifier. Finally, an </a:t>
            </a:r>
            <a:r>
              <a:rPr lang="en-US" sz="1800" dirty="0" err="1"/>
              <a:t>XGBoost</a:t>
            </a:r>
            <a:r>
              <a:rPr lang="en-US" sz="1800" dirty="0"/>
              <a:t> model is trained on the remaining misclassified samples after the ensemble stage to correct residual errors. The entire pipeline is evaluated using stratified train-test splits, cross-validation, and temporal validation to ensure generalization and avoid data leakage.</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9460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943E820D-CCC5-BB97-B522-C6A08EFE701A}"/>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C1AE6DBC-7D5E-4DAC-5066-84DB1F71653F}"/>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6C078F90-BDC2-845C-B702-B17F0A8EB495}"/>
              </a:ext>
            </a:extLst>
          </p:cNvPr>
          <p:cNvSpPr txBox="1"/>
          <p:nvPr/>
        </p:nvSpPr>
        <p:spPr>
          <a:xfrm>
            <a:off x="2680015" y="123019"/>
            <a:ext cx="683197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PERFORMANCE MEASURES</a:t>
            </a:r>
          </a:p>
        </p:txBody>
      </p:sp>
      <p:sp>
        <p:nvSpPr>
          <p:cNvPr id="2" name="Google Shape;11;p1">
            <a:extLst>
              <a:ext uri="{FF2B5EF4-FFF2-40B4-BE49-F238E27FC236}">
                <a16:creationId xmlns:a16="http://schemas.microsoft.com/office/drawing/2014/main" id="{F0187EB3-F890-968C-026E-9408B57CF478}"/>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1C133AE0-5B5C-C213-47B0-5ADDA2EAA1AC}"/>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1BE36E5A-AA40-67EA-7330-01AD97CAB773}"/>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F8B705CA-F805-B41C-8288-989EAFF55163}"/>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7D20E915-2AEF-C9FE-A6D3-157D62886B92}"/>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4" name="Rectangle 2">
            <a:extLst>
              <a:ext uri="{FF2B5EF4-FFF2-40B4-BE49-F238E27FC236}">
                <a16:creationId xmlns:a16="http://schemas.microsoft.com/office/drawing/2014/main" id="{0BBF372B-ADCE-7060-9E7F-771F455656F5}"/>
              </a:ext>
            </a:extLst>
          </p:cNvPr>
          <p:cNvSpPr>
            <a:spLocks noChangeArrowheads="1"/>
          </p:cNvSpPr>
          <p:nvPr/>
        </p:nvSpPr>
        <p:spPr bwMode="auto">
          <a:xfrm>
            <a:off x="264816" y="589502"/>
            <a:ext cx="1167493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performance of </a:t>
            </a:r>
            <a:r>
              <a:rPr kumimoji="0" lang="en-US" altLang="en-US" sz="1800" b="0" i="0" u="none" strike="noStrike" cap="none" normalizeH="0" baseline="0" dirty="0" err="1">
                <a:ln>
                  <a:noFill/>
                </a:ln>
                <a:solidFill>
                  <a:schemeClr val="tx1"/>
                </a:solidFill>
                <a:effectLst/>
                <a:latin typeface="Arial" panose="020B0604020202020204" pitchFamily="34" charset="0"/>
              </a:rPr>
              <a:t>FuzzTabIDS</a:t>
            </a:r>
            <a:r>
              <a:rPr kumimoji="0" lang="en-US" altLang="en-US" sz="1800" b="0" i="0" u="none" strike="noStrike" cap="none" normalizeH="0" baseline="0" dirty="0">
                <a:ln>
                  <a:noFill/>
                </a:ln>
                <a:solidFill>
                  <a:schemeClr val="tx1"/>
                </a:solidFill>
                <a:effectLst/>
                <a:latin typeface="Arial" panose="020B0604020202020204" pitchFamily="34" charset="0"/>
              </a:rPr>
              <a:t> is evaluated using standard classification metrics: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Accuracy</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Precision</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Recall</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Evaluation is carried out for:</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Binary classification (Benign vs Attack)</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7-class grouped classification</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i="0" u="none" strike="noStrike" cap="none" normalizeH="0" baseline="0" dirty="0">
                <a:ln>
                  <a:noFill/>
                </a:ln>
                <a:solidFill>
                  <a:schemeClr val="tx1"/>
                </a:solidFill>
                <a:effectLst/>
                <a:latin typeface="Arial" panose="020B0604020202020204" pitchFamily="34" charset="0"/>
              </a:rPr>
              <a:t>15-class (all-class)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Metrics are computed at each stage of the pipeline to analyze the </a:t>
            </a:r>
            <a:r>
              <a:rPr kumimoji="0" lang="en-US" altLang="en-US" sz="1800" i="0" u="none" strike="noStrike" cap="none" normalizeH="0" baseline="0" dirty="0">
                <a:ln>
                  <a:noFill/>
                </a:ln>
                <a:solidFill>
                  <a:schemeClr val="tx1"/>
                </a:solidFill>
                <a:effectLst/>
                <a:latin typeface="Arial" panose="020B0604020202020204" pitchFamily="34" charset="0"/>
              </a:rPr>
              <a:t>incremental contribution </a:t>
            </a:r>
            <a:r>
              <a:rPr kumimoji="0" lang="en-US" altLang="en-US" sz="1800" b="0" i="0" u="none" strike="noStrike" cap="none" normalizeH="0" baseline="0" dirty="0">
                <a:ln>
                  <a:noFill/>
                </a:ln>
                <a:solidFill>
                  <a:schemeClr val="tx1"/>
                </a:solidFill>
                <a:effectLst/>
                <a:latin typeface="Arial" panose="020B0604020202020204" pitchFamily="34" charset="0"/>
              </a:rPr>
              <a:t>of:</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err="1">
                <a:ln>
                  <a:noFill/>
                </a:ln>
                <a:solidFill>
                  <a:schemeClr val="tx1"/>
                </a:solidFill>
                <a:effectLst/>
                <a:latin typeface="Arial" panose="020B0604020202020204" pitchFamily="34" charset="0"/>
              </a:rPr>
              <a:t>TabNet</a:t>
            </a:r>
            <a:r>
              <a:rPr kumimoji="0" lang="en-US" altLang="en-US" sz="1800" b="0" i="0" u="none" strike="noStrike" cap="none" normalizeH="0" baseline="0" dirty="0">
                <a:ln>
                  <a:noFill/>
                </a:ln>
                <a:solidFill>
                  <a:schemeClr val="tx1"/>
                </a:solidFill>
                <a:effectLst/>
                <a:latin typeface="Arial" panose="020B0604020202020204" pitchFamily="34" charset="0"/>
              </a:rPr>
              <a:t> baseline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Fuzzy logic layer</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Micro-correction modules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Ensemble learning</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Final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correction</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Weighted and macro-averaged metrics are used where appropriate to account for </a:t>
            </a:r>
            <a:r>
              <a:rPr kumimoji="0" lang="en-US" altLang="en-US" sz="1800" i="0" u="none" strike="noStrike" cap="none" normalizeH="0" baseline="0" dirty="0">
                <a:ln>
                  <a:noFill/>
                </a:ln>
                <a:solidFill>
                  <a:schemeClr val="tx1"/>
                </a:solidFill>
                <a:effectLst/>
                <a:latin typeface="Arial" panose="020B0604020202020204" pitchFamily="34" charset="0"/>
              </a:rPr>
              <a:t>class imbalance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Validation includes:</a:t>
            </a:r>
          </a:p>
          <a:p>
            <a:pPr marL="285750" lvl="5" indent="-285750" eaLnBrk="0" fontAlgn="base" hangingPunct="0">
              <a:spcBef>
                <a:spcPct val="0"/>
              </a:spcBef>
              <a:spcAft>
                <a:spcPct val="0"/>
              </a:spcAft>
              <a:buClrTx/>
              <a:buFont typeface="Courier New" panose="02070309020205020404" pitchFamily="49" charset="0"/>
              <a:buChar char="o"/>
            </a:pPr>
            <a:r>
              <a:rPr kumimoji="0" lang="en-US" altLang="en-US" sz="1800" b="0" i="0" u="none" strike="noStrike" cap="none" normalizeH="0" baseline="0" dirty="0">
                <a:ln>
                  <a:noFill/>
                </a:ln>
                <a:solidFill>
                  <a:schemeClr val="tx1"/>
                </a:solidFill>
                <a:effectLst/>
                <a:latin typeface="Arial" panose="020B0604020202020204" pitchFamily="34" charset="0"/>
              </a:rPr>
              <a:t> Stratified train–test split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5-fold stratified cross-validation</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Temporal split 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0532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8E09EA25-BCA7-0207-C117-DB82E0FE6097}"/>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3F56E39C-B67C-113B-F37D-930A095B1650}"/>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8A9159AD-B71C-4A57-4DF8-1C0454574F3C}"/>
              </a:ext>
            </a:extLst>
          </p:cNvPr>
          <p:cNvSpPr txBox="1"/>
          <p:nvPr/>
        </p:nvSpPr>
        <p:spPr>
          <a:xfrm>
            <a:off x="3689413" y="33563"/>
            <a:ext cx="4667400"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RESULTS AND ANALYSIS</a:t>
            </a:r>
          </a:p>
        </p:txBody>
      </p:sp>
      <p:sp>
        <p:nvSpPr>
          <p:cNvPr id="2" name="Google Shape;11;p1">
            <a:extLst>
              <a:ext uri="{FF2B5EF4-FFF2-40B4-BE49-F238E27FC236}">
                <a16:creationId xmlns:a16="http://schemas.microsoft.com/office/drawing/2014/main" id="{7F7D29F4-B769-63DC-B4F5-D54A8119BB40}"/>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7C70336C-A4FD-43CE-D252-FAEE18A0B198}"/>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741EEA8E-261F-FBDF-B964-17E84E49D2EA}"/>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E60E2290-2CB1-DBF0-5310-58BA95707ACE}"/>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D704A088-9EEE-435B-8807-D7A38307BD02}"/>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cxnSp>
        <p:nvCxnSpPr>
          <p:cNvPr id="14" name="Straight Connector 13">
            <a:extLst>
              <a:ext uri="{FF2B5EF4-FFF2-40B4-BE49-F238E27FC236}">
                <a16:creationId xmlns:a16="http://schemas.microsoft.com/office/drawing/2014/main" id="{C47453FE-994A-FFCE-F25E-C960A3B5EF93}"/>
              </a:ext>
            </a:extLst>
          </p:cNvPr>
          <p:cNvCxnSpPr>
            <a:cxnSpLocks/>
          </p:cNvCxnSpPr>
          <p:nvPr/>
        </p:nvCxnSpPr>
        <p:spPr>
          <a:xfrm>
            <a:off x="6023113" y="593503"/>
            <a:ext cx="0" cy="5645934"/>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1">
            <a:extLst>
              <a:ext uri="{FF2B5EF4-FFF2-40B4-BE49-F238E27FC236}">
                <a16:creationId xmlns:a16="http://schemas.microsoft.com/office/drawing/2014/main" id="{F0720D44-C2B8-3A79-A18C-6BCEF035BDFA}"/>
              </a:ext>
            </a:extLst>
          </p:cNvPr>
          <p:cNvSpPr>
            <a:spLocks noChangeArrowheads="1"/>
          </p:cNvSpPr>
          <p:nvPr/>
        </p:nvSpPr>
        <p:spPr bwMode="auto">
          <a:xfrm>
            <a:off x="132408" y="1154165"/>
            <a:ext cx="563398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sz="1600" dirty="0"/>
              <a:t>The proposed </a:t>
            </a:r>
            <a:r>
              <a:rPr lang="en-US" sz="1600" dirty="0" err="1"/>
              <a:t>FuzzTabIDS</a:t>
            </a:r>
            <a:r>
              <a:rPr lang="en-US" sz="1600" dirty="0"/>
              <a:t> framework was evaluated on the CICIDS-2017 dataset using binary, 7-class, and all-class intrusion detection tasks. The </a:t>
            </a:r>
            <a:r>
              <a:rPr lang="en-US" sz="1600" dirty="0" err="1"/>
              <a:t>TabNet</a:t>
            </a:r>
            <a:r>
              <a:rPr lang="en-US" sz="1600" dirty="0"/>
              <a:t> baseline provided a solid starting point but showed limited recall for minority attack classes. Incorporating the fuzzy logic layer significantly improved precision and recall by adaptively handling uncertain predictions near decision boundaries. Further refinement through micro-correction modules using Decision Tree and Random Forest helped recover hard-to-classify and minority samples. The ensemble learning stage substantially enhanced robustness, achieving over 99% accuracy for binary and multi-class tasks. Finally, the </a:t>
            </a:r>
            <a:r>
              <a:rPr lang="en-US" sz="1600" dirty="0" err="1"/>
              <a:t>XGBoost</a:t>
            </a:r>
            <a:r>
              <a:rPr lang="en-US" sz="1600" dirty="0"/>
              <a:t>-based residual correction layer refined the remaining misclassifications, resulting in near-perfect performance with 99.99% accuracy across all evaluation settings. Validation using stratified cross-validation and temporal split confirmed the robustness and generalization capability of the proposed system.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89D7E860-0C0C-1607-F75D-685F24DC3BD9}"/>
              </a:ext>
            </a:extLst>
          </p:cNvPr>
          <p:cNvPicPr>
            <a:picLocks noChangeAspect="1"/>
          </p:cNvPicPr>
          <p:nvPr/>
        </p:nvPicPr>
        <p:blipFill>
          <a:blip r:embed="rId3"/>
          <a:stretch>
            <a:fillRect/>
          </a:stretch>
        </p:blipFill>
        <p:spPr>
          <a:xfrm>
            <a:off x="6188188" y="843170"/>
            <a:ext cx="5660285" cy="4790825"/>
          </a:xfrm>
          <a:prstGeom prst="rect">
            <a:avLst/>
          </a:prstGeom>
        </p:spPr>
      </p:pic>
      <p:sp>
        <p:nvSpPr>
          <p:cNvPr id="15" name="TextBox 14">
            <a:extLst>
              <a:ext uri="{FF2B5EF4-FFF2-40B4-BE49-F238E27FC236}">
                <a16:creationId xmlns:a16="http://schemas.microsoft.com/office/drawing/2014/main" id="{543DAC6B-2264-8B82-B814-A3DA20BBF1D0}"/>
              </a:ext>
            </a:extLst>
          </p:cNvPr>
          <p:cNvSpPr txBox="1"/>
          <p:nvPr/>
        </p:nvSpPr>
        <p:spPr>
          <a:xfrm>
            <a:off x="6168888" y="5671837"/>
            <a:ext cx="4358886" cy="307777"/>
          </a:xfrm>
          <a:prstGeom prst="rect">
            <a:avLst/>
          </a:prstGeom>
          <a:noFill/>
        </p:spPr>
        <p:txBody>
          <a:bodyPr wrap="none" rtlCol="0">
            <a:spAutoFit/>
          </a:bodyPr>
          <a:lstStyle/>
          <a:p>
            <a:r>
              <a:rPr lang="en-US" b="1" dirty="0"/>
              <a:t>Table: Results for FuzzTabsIDS over each stages</a:t>
            </a:r>
          </a:p>
        </p:txBody>
      </p:sp>
    </p:spTree>
    <p:extLst>
      <p:ext uri="{BB962C8B-B14F-4D97-AF65-F5344CB8AC3E}">
        <p14:creationId xmlns:p14="http://schemas.microsoft.com/office/powerpoint/2010/main" val="89272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3740BA53-B1B1-BB36-DED6-CD71211D774A}"/>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CB7F1879-E56E-83E4-D349-B3468A5062B9}"/>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E24BAD1B-36A6-7FC9-E37E-7AC044D60F0D}"/>
              </a:ext>
            </a:extLst>
          </p:cNvPr>
          <p:cNvSpPr txBox="1"/>
          <p:nvPr/>
        </p:nvSpPr>
        <p:spPr>
          <a:xfrm>
            <a:off x="2576212" y="63499"/>
            <a:ext cx="7039576"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CONCLUSION &amp; FUTURE SCOPE</a:t>
            </a:r>
          </a:p>
        </p:txBody>
      </p:sp>
      <p:sp>
        <p:nvSpPr>
          <p:cNvPr id="2" name="Google Shape;11;p1">
            <a:extLst>
              <a:ext uri="{FF2B5EF4-FFF2-40B4-BE49-F238E27FC236}">
                <a16:creationId xmlns:a16="http://schemas.microsoft.com/office/drawing/2014/main" id="{0A5DCA27-C761-B0CA-BE34-4D79263E9BD2}"/>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D581248C-496A-71DA-9B97-C08E56561E4A}"/>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DCE5D2F4-B0B2-FA15-AD9B-39D0134F1D4D}"/>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2E8DF4F8-C62A-DF49-92C1-FB3D8E6B903A}"/>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C7AFD9E1-0390-4567-8288-F726F46A0606}"/>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7" name="Rectangle 3">
            <a:extLst>
              <a:ext uri="{FF2B5EF4-FFF2-40B4-BE49-F238E27FC236}">
                <a16:creationId xmlns:a16="http://schemas.microsoft.com/office/drawing/2014/main" id="{3D4DCB54-6914-EF97-7F06-69C77E6539F8}"/>
              </a:ext>
            </a:extLst>
          </p:cNvPr>
          <p:cNvSpPr>
            <a:spLocks noChangeArrowheads="1"/>
          </p:cNvSpPr>
          <p:nvPr/>
        </p:nvSpPr>
        <p:spPr bwMode="auto">
          <a:xfrm>
            <a:off x="132407" y="1584661"/>
            <a:ext cx="1192451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b="1" dirty="0">
                <a:latin typeface="Arial" panose="020B0604020202020204" pitchFamily="34" charset="0"/>
                <a:cs typeface="Arial" panose="020B0604020202020204" pitchFamily="34" charset="0"/>
              </a:rPr>
              <a:t>Conclusion</a:t>
            </a:r>
          </a:p>
          <a:p>
            <a:r>
              <a:rPr lang="en-US" sz="1800" dirty="0" err="1">
                <a:latin typeface="Arial" panose="020B0604020202020204" pitchFamily="34" charset="0"/>
                <a:cs typeface="Arial" panose="020B0604020202020204" pitchFamily="34" charset="0"/>
              </a:rPr>
              <a:t>FuzzTabIDS</a:t>
            </a:r>
            <a:r>
              <a:rPr lang="en-US" sz="1800" dirty="0">
                <a:latin typeface="Arial" panose="020B0604020202020204" pitchFamily="34" charset="0"/>
                <a:cs typeface="Arial" panose="020B0604020202020204" pitchFamily="34" charset="0"/>
              </a:rPr>
              <a:t> achieved outstanding accuracy and reliability by combining MRMR feature selection, </a:t>
            </a:r>
            <a:r>
              <a:rPr lang="en-US" sz="1800" dirty="0" err="1">
                <a:latin typeface="Arial" panose="020B0604020202020204" pitchFamily="34" charset="0"/>
                <a:cs typeface="Arial" panose="020B0604020202020204" pitchFamily="34" charset="0"/>
              </a:rPr>
              <a:t>TabNet</a:t>
            </a:r>
            <a:r>
              <a:rPr lang="en-US" sz="1800" dirty="0">
                <a:latin typeface="Arial" panose="020B0604020202020204" pitchFamily="34" charset="0"/>
                <a:cs typeface="Arial" panose="020B0604020202020204" pitchFamily="34" charset="0"/>
              </a:rPr>
              <a:t>, fuzzy logic, and ensemble corrections. It effectively improves detection precision, recall, and interpretability for modern IDS applications.</a:t>
            </a: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Future Scope</a:t>
            </a:r>
          </a:p>
          <a:p>
            <a:pPr marL="0" indent="0">
              <a:buNone/>
            </a:pPr>
            <a:r>
              <a:rPr lang="en-US" sz="1800" dirty="0">
                <a:latin typeface="Arial" panose="020B0604020202020204" pitchFamily="34" charset="0"/>
                <a:cs typeface="Arial" panose="020B0604020202020204" pitchFamily="34" charset="0"/>
              </a:rPr>
              <a:t>• Test on more datasets like NSL-KDD and </a:t>
            </a:r>
            <a:r>
              <a:rPr lang="en-US" sz="1800" dirty="0" err="1">
                <a:latin typeface="Arial" panose="020B0604020202020204" pitchFamily="34" charset="0"/>
                <a:cs typeface="Arial" panose="020B0604020202020204" pitchFamily="34" charset="0"/>
              </a:rPr>
              <a:t>BoT</a:t>
            </a:r>
            <a:r>
              <a:rPr lang="en-US" sz="1800" dirty="0">
                <a:latin typeface="Arial" panose="020B0604020202020204" pitchFamily="34" charset="0"/>
                <a:cs typeface="Arial" panose="020B0604020202020204" pitchFamily="34" charset="0"/>
              </a:rPr>
              <a:t>-IoT.</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Optimize for real-time intrusion detection.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Add online learning for adaptive updates.</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Enhance model explainability and visualization.</a:t>
            </a:r>
          </a:p>
        </p:txBody>
      </p:sp>
    </p:spTree>
    <p:extLst>
      <p:ext uri="{BB962C8B-B14F-4D97-AF65-F5344CB8AC3E}">
        <p14:creationId xmlns:p14="http://schemas.microsoft.com/office/powerpoint/2010/main" val="3052156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
          <a:extLst>
            <a:ext uri="{FF2B5EF4-FFF2-40B4-BE49-F238E27FC236}">
              <a16:creationId xmlns:a16="http://schemas.microsoft.com/office/drawing/2014/main" id="{F8E72292-B6DE-3C5A-8E15-84588C493035}"/>
            </a:ext>
          </a:extLst>
        </p:cNvPr>
        <p:cNvGrpSpPr/>
        <p:nvPr/>
      </p:nvGrpSpPr>
      <p:grpSpPr>
        <a:xfrm>
          <a:off x="0" y="0"/>
          <a:ext cx="0" cy="0"/>
          <a:chOff x="0" y="0"/>
          <a:chExt cx="0" cy="0"/>
        </a:xfrm>
      </p:grpSpPr>
      <p:sp>
        <p:nvSpPr>
          <p:cNvPr id="21" name="Google Shape;21;p2">
            <a:extLst>
              <a:ext uri="{FF2B5EF4-FFF2-40B4-BE49-F238E27FC236}">
                <a16:creationId xmlns:a16="http://schemas.microsoft.com/office/drawing/2014/main" id="{6AE66B0F-232B-A741-2C7E-495D4D08F864}"/>
              </a:ext>
            </a:extLst>
          </p:cNvPr>
          <p:cNvSpPr/>
          <p:nvPr/>
        </p:nvSpPr>
        <p:spPr>
          <a:xfrm>
            <a:off x="21336" y="6489191"/>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 name="Google Shape;22;p2">
            <a:extLst>
              <a:ext uri="{FF2B5EF4-FFF2-40B4-BE49-F238E27FC236}">
                <a16:creationId xmlns:a16="http://schemas.microsoft.com/office/drawing/2014/main" id="{CE32D59B-3F39-EA30-F609-8B89194BAA37}"/>
              </a:ext>
            </a:extLst>
          </p:cNvPr>
          <p:cNvSpPr txBox="1"/>
          <p:nvPr/>
        </p:nvSpPr>
        <p:spPr>
          <a:xfrm>
            <a:off x="2586879" y="-71553"/>
            <a:ext cx="7039576" cy="585000"/>
          </a:xfrm>
          <a:prstGeom prst="rect">
            <a:avLst/>
          </a:prstGeom>
          <a:noFill/>
          <a:ln>
            <a:noFill/>
          </a:ln>
        </p:spPr>
        <p:txBody>
          <a:bodyPr spcFirstLastPara="1" wrap="square" lIns="0" tIns="28600" rIns="0" bIns="0" anchor="t" anchorCtr="0">
            <a:noAutofit/>
          </a:bodyPr>
          <a:lstStyle/>
          <a:p>
            <a:pPr marL="12700" marR="0" lvl="0" indent="0" algn="ctr" rtl="0">
              <a:lnSpc>
                <a:spcPct val="102386"/>
              </a:lnSpc>
              <a:spcBef>
                <a:spcPts val="0"/>
              </a:spcBef>
              <a:spcAft>
                <a:spcPts val="0"/>
              </a:spcAft>
              <a:buNone/>
            </a:pPr>
            <a:r>
              <a:rPr lang="en-US" sz="3600" b="1" dirty="0">
                <a:solidFill>
                  <a:schemeClr val="dk1"/>
                </a:solidFill>
                <a:latin typeface="Calibri"/>
                <a:ea typeface="Calibri"/>
                <a:cs typeface="Calibri"/>
                <a:sym typeface="Calibri"/>
              </a:rPr>
              <a:t>REFERENCES</a:t>
            </a:r>
          </a:p>
        </p:txBody>
      </p:sp>
      <p:sp>
        <p:nvSpPr>
          <p:cNvPr id="2" name="Google Shape;11;p1">
            <a:extLst>
              <a:ext uri="{FF2B5EF4-FFF2-40B4-BE49-F238E27FC236}">
                <a16:creationId xmlns:a16="http://schemas.microsoft.com/office/drawing/2014/main" id="{12C9D42A-6D2B-C5B5-C484-56093FFC9FE1}"/>
              </a:ext>
            </a:extLst>
          </p:cNvPr>
          <p:cNvSpPr/>
          <p:nvPr/>
        </p:nvSpPr>
        <p:spPr>
          <a:xfrm>
            <a:off x="21336" y="6585056"/>
            <a:ext cx="12170664" cy="368807"/>
          </a:xfrm>
          <a:custGeom>
            <a:avLst/>
            <a:gdLst/>
            <a:ahLst/>
            <a:cxnLst/>
            <a:rect l="l" t="t" r="r" b="b"/>
            <a:pathLst>
              <a:path w="12170664" h="368807" extrusionOk="0">
                <a:moveTo>
                  <a:pt x="12170664" y="368807"/>
                </a:moveTo>
                <a:lnTo>
                  <a:pt x="12170664" y="0"/>
                </a:lnTo>
                <a:lnTo>
                  <a:pt x="0" y="0"/>
                </a:lnTo>
                <a:lnTo>
                  <a:pt x="0" y="368807"/>
                </a:lnTo>
                <a:lnTo>
                  <a:pt x="12170664" y="368807"/>
                </a:lnTo>
                <a:close/>
              </a:path>
            </a:pathLst>
          </a:custGeom>
          <a:solidFill>
            <a:srgbClr val="5B9BD4"/>
          </a:solidFill>
          <a:ln>
            <a:noFill/>
          </a:ln>
        </p:spPr>
        <p:txBody>
          <a:bodyPr spcFirstLastPara="1" wrap="square" lIns="0" tIns="0" rIns="0" bIns="0" anchor="ctr" anchorCtr="0">
            <a:noAutofit/>
          </a:bodyPr>
          <a:lstStyle/>
          <a:p>
            <a:pPr lvl="0" algn="ctr"/>
            <a:r>
              <a:rPr lang="en-US" sz="1600" b="1" i="0" u="none" strike="noStrike" cap="none" dirty="0">
                <a:solidFill>
                  <a:schemeClr val="dk1"/>
                </a:solidFill>
                <a:latin typeface="Calibri"/>
                <a:ea typeface="Calibri"/>
                <a:cs typeface="Calibri"/>
                <a:sym typeface="Calibri"/>
              </a:rPr>
              <a:t> </a:t>
            </a:r>
            <a:r>
              <a:rPr lang="en-GB" sz="1600" b="1" dirty="0"/>
              <a:t>2025 IEEE International Conference on Recent Advances in Computing and Systems</a:t>
            </a:r>
            <a:r>
              <a:rPr lang="en-US" sz="1600" b="1" i="0" u="none" strike="noStrike" cap="none" dirty="0">
                <a:solidFill>
                  <a:schemeClr val="dk1"/>
                </a:solidFill>
                <a:latin typeface="Calibri"/>
                <a:ea typeface="Calibri"/>
                <a:cs typeface="Calibri"/>
                <a:sym typeface="Calibri"/>
              </a:rPr>
              <a:t>, 19 -20 Dec 2025 | ABV-IIITM Gwalior India</a:t>
            </a:r>
            <a:endParaRPr sz="1600" b="1" i="0" u="none" strike="noStrike" cap="none" dirty="0">
              <a:solidFill>
                <a:schemeClr val="dk1"/>
              </a:solidFill>
              <a:latin typeface="Calibri"/>
              <a:ea typeface="Calibri"/>
              <a:cs typeface="Calibri"/>
              <a:sym typeface="Calibri"/>
            </a:endParaRPr>
          </a:p>
        </p:txBody>
      </p:sp>
      <p:sp>
        <p:nvSpPr>
          <p:cNvPr id="6" name="Rectangle 2">
            <a:extLst>
              <a:ext uri="{FF2B5EF4-FFF2-40B4-BE49-F238E27FC236}">
                <a16:creationId xmlns:a16="http://schemas.microsoft.com/office/drawing/2014/main" id="{88BB7365-FFD8-8C5C-41CD-F41CCC08273C}"/>
              </a:ext>
            </a:extLst>
          </p:cNvPr>
          <p:cNvSpPr>
            <a:spLocks noChangeArrowheads="1"/>
          </p:cNvSpPr>
          <p:nvPr/>
        </p:nvSpPr>
        <p:spPr bwMode="auto">
          <a:xfrm>
            <a:off x="0" y="-1154159"/>
            <a:ext cx="2648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32F2F637-9FB2-BB2A-2034-B50B74EA0FCD}"/>
              </a:ext>
            </a:extLst>
          </p:cNvPr>
          <p:cNvSpPr>
            <a:spLocks noChangeArrowheads="1"/>
          </p:cNvSpPr>
          <p:nvPr/>
        </p:nvSpPr>
        <p:spPr bwMode="auto">
          <a:xfrm>
            <a:off x="135081" y="2044376"/>
            <a:ext cx="312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B428FE3C-E05C-21D5-44CA-0A0B3EF021A0}"/>
              </a:ext>
            </a:extLst>
          </p:cNvPr>
          <p:cNvSpPr txBox="1"/>
          <p:nvPr/>
        </p:nvSpPr>
        <p:spPr>
          <a:xfrm>
            <a:off x="536713" y="1451113"/>
            <a:ext cx="473206" cy="307777"/>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C7FBA6DA-3223-697D-9343-7A40682CF8C3}"/>
              </a:ext>
            </a:extLst>
          </p:cNvPr>
          <p:cNvSpPr txBox="1"/>
          <p:nvPr/>
        </p:nvSpPr>
        <p:spPr>
          <a:xfrm>
            <a:off x="6410739" y="6239437"/>
            <a:ext cx="482824" cy="307777"/>
          </a:xfrm>
          <a:prstGeom prst="rect">
            <a:avLst/>
          </a:prstGeom>
          <a:noFill/>
        </p:spPr>
        <p:txBody>
          <a:bodyPr wrap="none" rtlCol="0">
            <a:spAutoFit/>
          </a:bodyPr>
          <a:lstStyle/>
          <a:p>
            <a:r>
              <a:rPr lang="en-US" b="1" dirty="0"/>
              <a:t>776</a:t>
            </a:r>
          </a:p>
        </p:txBody>
      </p:sp>
      <p:sp>
        <p:nvSpPr>
          <p:cNvPr id="7" name="Rectangle 3">
            <a:extLst>
              <a:ext uri="{FF2B5EF4-FFF2-40B4-BE49-F238E27FC236}">
                <a16:creationId xmlns:a16="http://schemas.microsoft.com/office/drawing/2014/main" id="{6A062A3B-F046-336C-06B8-43AC8736CFD2}"/>
              </a:ext>
            </a:extLst>
          </p:cNvPr>
          <p:cNvSpPr>
            <a:spLocks noChangeArrowheads="1"/>
          </p:cNvSpPr>
          <p:nvPr/>
        </p:nvSpPr>
        <p:spPr bwMode="auto">
          <a:xfrm>
            <a:off x="144411" y="391682"/>
            <a:ext cx="1192451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mj-lt"/>
              <a:buAutoNum type="arabicPeriod"/>
            </a:pPr>
            <a:r>
              <a:rPr lang="en-US" sz="1600" dirty="0">
                <a:latin typeface="Times New Roman" panose="02020603050405020304" pitchFamily="18" charset="0"/>
                <a:cs typeface="Times New Roman" panose="02020603050405020304" pitchFamily="18" charset="0"/>
              </a:rPr>
              <a:t>M. A. Umar, Z. Chen, K. Shuaib, and Y. Liu, ”Effects of Feature Selection and Normalization on Network Intrusion Detection,” Data Science and Management, vol. 8, no. 1, pp. 23–39,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10.1016/j.dsm.2024.08.001. </a:t>
            </a:r>
          </a:p>
          <a:p>
            <a:pPr marL="457200" indent="-457200" algn="just">
              <a:buFont typeface="+mj-lt"/>
              <a:buAutoNum type="arabicPeriod"/>
            </a:pPr>
            <a:r>
              <a:rPr lang="en-US" sz="1600" dirty="0">
                <a:latin typeface="Times New Roman" panose="02020603050405020304" pitchFamily="18" charset="0"/>
                <a:cs typeface="Times New Roman" panose="02020603050405020304" pitchFamily="18" charset="0"/>
              </a:rPr>
              <a:t>M. Aljanabi and M. A. Ismail, ”Improved Intrusion Detection Algorithm Based on TLBO and GA Algo </a:t>
            </a:r>
            <a:r>
              <a:rPr lang="en-US" sz="1600" dirty="0" err="1">
                <a:latin typeface="Times New Roman" panose="02020603050405020304" pitchFamily="18" charset="0"/>
                <a:cs typeface="Times New Roman" panose="02020603050405020304" pitchFamily="18" charset="0"/>
              </a:rPr>
              <a:t>rithms</a:t>
            </a:r>
            <a:r>
              <a:rPr lang="en-US" sz="1600" dirty="0">
                <a:latin typeface="Times New Roman" panose="02020603050405020304" pitchFamily="18" charset="0"/>
                <a:cs typeface="Times New Roman" panose="02020603050405020304" pitchFamily="18" charset="0"/>
              </a:rPr>
              <a:t>,” The International Arab Journal of Information Technology, vol. 18, no. 2, pp. 161–168, Mar. 2021.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10.34028/</a:t>
            </a:r>
            <a:r>
              <a:rPr lang="en-US" sz="1600" dirty="0" err="1">
                <a:latin typeface="Times New Roman" panose="02020603050405020304" pitchFamily="18" charset="0"/>
                <a:cs typeface="Times New Roman" panose="02020603050405020304" pitchFamily="18" charset="0"/>
              </a:rPr>
              <a:t>iajit</a:t>
            </a:r>
            <a:r>
              <a:rPr lang="en-US" sz="1600" dirty="0">
                <a:latin typeface="Times New Roman" panose="02020603050405020304" pitchFamily="18" charset="0"/>
                <a:cs typeface="Times New Roman" panose="02020603050405020304" pitchFamily="18" charset="0"/>
              </a:rPr>
              <a:t>/18/2/5. </a:t>
            </a:r>
          </a:p>
          <a:p>
            <a:pPr marL="457200" indent="-457200" algn="just">
              <a:buFont typeface="+mj-lt"/>
              <a:buAutoNum type="arabicPeriod"/>
            </a:pPr>
            <a:r>
              <a:rPr lang="en-US" sz="1600" dirty="0">
                <a:latin typeface="Times New Roman" panose="02020603050405020304" pitchFamily="18" charset="0"/>
                <a:cs typeface="Times New Roman" panose="02020603050405020304" pitchFamily="18" charset="0"/>
              </a:rPr>
              <a:t>B. Hui and K. L. Chiew, ”An Improved Network </a:t>
            </a:r>
            <a:r>
              <a:rPr lang="en-US" sz="1600" dirty="0" err="1">
                <a:latin typeface="Times New Roman" panose="02020603050405020304" pitchFamily="18" charset="0"/>
                <a:cs typeface="Times New Roman" panose="02020603050405020304" pitchFamily="18" charset="0"/>
              </a:rPr>
              <a:t>Intru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sion</a:t>
            </a:r>
            <a:r>
              <a:rPr lang="en-US" sz="1600" dirty="0">
                <a:latin typeface="Times New Roman" panose="02020603050405020304" pitchFamily="18" charset="0"/>
                <a:cs typeface="Times New Roman" panose="02020603050405020304" pitchFamily="18" charset="0"/>
              </a:rPr>
              <a:t> Detection Method Based on CNN-LSTM,” Journal of Advanced Research in Applied Sciences and Engi </a:t>
            </a:r>
            <a:r>
              <a:rPr lang="en-US" sz="1600" dirty="0" err="1">
                <a:latin typeface="Times New Roman" panose="02020603050405020304" pitchFamily="18" charset="0"/>
                <a:cs typeface="Times New Roman" panose="02020603050405020304" pitchFamily="18" charset="0"/>
              </a:rPr>
              <a:t>neering</a:t>
            </a:r>
            <a:r>
              <a:rPr lang="en-US" sz="1600" dirty="0">
                <a:latin typeface="Times New Roman" panose="02020603050405020304" pitchFamily="18" charset="0"/>
                <a:cs typeface="Times New Roman" panose="02020603050405020304" pitchFamily="18" charset="0"/>
              </a:rPr>
              <a:t> Technology, vol. 44, no.1, pp. 225–238, 2025. [Online]. </a:t>
            </a:r>
          </a:p>
          <a:p>
            <a:pPr marL="457200" indent="-457200" algn="just">
              <a:buFont typeface="+mj-lt"/>
              <a:buAutoNum type="arabicPeriod"/>
            </a:pPr>
            <a:r>
              <a:rPr lang="en-US" sz="1600" dirty="0">
                <a:latin typeface="Times New Roman" panose="02020603050405020304" pitchFamily="18" charset="0"/>
                <a:cs typeface="Times New Roman" panose="02020603050405020304" pitchFamily="18" charset="0"/>
              </a:rPr>
              <a:t>V. </a:t>
            </a:r>
            <a:r>
              <a:rPr lang="en-US" sz="1600" dirty="0" err="1">
                <a:latin typeface="Times New Roman" panose="02020603050405020304" pitchFamily="18" charset="0"/>
                <a:cs typeface="Times New Roman" panose="02020603050405020304" pitchFamily="18" charset="0"/>
              </a:rPr>
              <a:t>Hnamte</a:t>
            </a:r>
            <a:r>
              <a:rPr lang="en-US" sz="1600" dirty="0">
                <a:latin typeface="Times New Roman" panose="02020603050405020304" pitchFamily="18" charset="0"/>
                <a:cs typeface="Times New Roman" panose="02020603050405020304" pitchFamily="18" charset="0"/>
              </a:rPr>
              <a:t>, H. Nhung-Nguyen, J. Hussain and Y. Hwa Kim, ”A Novel Two-Stage Deep Learning Model for Network Intrusion Detection: LSTM-AE,” in IEEE Ac </a:t>
            </a:r>
            <a:r>
              <a:rPr lang="en-US" sz="1600" dirty="0" err="1">
                <a:latin typeface="Times New Roman" panose="02020603050405020304" pitchFamily="18" charset="0"/>
                <a:cs typeface="Times New Roman" panose="02020603050405020304" pitchFamily="18" charset="0"/>
              </a:rPr>
              <a:t>cess</a:t>
            </a:r>
            <a:r>
              <a:rPr lang="en-US" sz="1600" dirty="0">
                <a:latin typeface="Times New Roman" panose="02020603050405020304" pitchFamily="18" charset="0"/>
                <a:cs typeface="Times New Roman" panose="02020603050405020304" pitchFamily="18" charset="0"/>
              </a:rPr>
              <a:t>, vol. 11, pp. 37131-37148, 2023,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 CESS.2023.3266979. </a:t>
            </a:r>
          </a:p>
          <a:p>
            <a:pPr marL="457200" indent="-457200" algn="just">
              <a:buFont typeface="+mj-lt"/>
              <a:buAutoNum type="arabicPeriod"/>
            </a:pPr>
            <a:r>
              <a:rPr lang="en-US" sz="1600" dirty="0">
                <a:latin typeface="Times New Roman" panose="02020603050405020304" pitchFamily="18" charset="0"/>
                <a:cs typeface="Times New Roman" panose="02020603050405020304" pitchFamily="18" charset="0"/>
              </a:rPr>
              <a:t>O. </a:t>
            </a:r>
            <a:r>
              <a:rPr lang="en-US" sz="1600" dirty="0" err="1">
                <a:latin typeface="Times New Roman" panose="02020603050405020304" pitchFamily="18" charset="0"/>
                <a:cs typeface="Times New Roman" panose="02020603050405020304" pitchFamily="18" charset="0"/>
              </a:rPr>
              <a:t>Arreche</a:t>
            </a:r>
            <a:r>
              <a:rPr lang="en-US" sz="1600" dirty="0">
                <a:latin typeface="Times New Roman" panose="02020603050405020304" pitchFamily="18" charset="0"/>
                <a:cs typeface="Times New Roman" panose="02020603050405020304" pitchFamily="18" charset="0"/>
              </a:rPr>
              <a:t>, I. </a:t>
            </a:r>
            <a:r>
              <a:rPr lang="en-US" sz="1600" dirty="0" err="1">
                <a:latin typeface="Times New Roman" panose="02020603050405020304" pitchFamily="18" charset="0"/>
                <a:cs typeface="Times New Roman" panose="02020603050405020304" pitchFamily="18" charset="0"/>
              </a:rPr>
              <a:t>Bibers</a:t>
            </a:r>
            <a:r>
              <a:rPr lang="en-US" sz="1600" dirty="0">
                <a:latin typeface="Times New Roman" panose="02020603050405020304" pitchFamily="18" charset="0"/>
                <a:cs typeface="Times New Roman" panose="02020603050405020304" pitchFamily="18" charset="0"/>
              </a:rPr>
              <a:t> and M. Abdallah, ”A Two Level Ensemble Learning Framework for Enhancing Network Intrusion Detection Systems,” in IEEE Ac </a:t>
            </a:r>
            <a:r>
              <a:rPr lang="en-US" sz="1600" dirty="0" err="1">
                <a:latin typeface="Times New Roman" panose="02020603050405020304" pitchFamily="18" charset="0"/>
                <a:cs typeface="Times New Roman" panose="02020603050405020304" pitchFamily="18" charset="0"/>
              </a:rPr>
              <a:t>cess</a:t>
            </a:r>
            <a:r>
              <a:rPr lang="en-US" sz="1600" dirty="0">
                <a:latin typeface="Times New Roman" panose="02020603050405020304" pitchFamily="18" charset="0"/>
                <a:cs typeface="Times New Roman" panose="02020603050405020304" pitchFamily="18" charset="0"/>
              </a:rPr>
              <a:t>, vol. 12, pp. 83830-83857,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 CESS.2024.3407029.</a:t>
            </a:r>
          </a:p>
          <a:p>
            <a:pPr marL="457200" indent="-457200" algn="just">
              <a:buFont typeface="+mj-lt"/>
              <a:buAutoNum type="arabicPeriod" startAt="6"/>
            </a:pPr>
            <a:r>
              <a:rPr lang="en-US" sz="1600" dirty="0">
                <a:latin typeface="Times New Roman" panose="02020603050405020304" pitchFamily="18" charset="0"/>
                <a:cs typeface="Times New Roman" panose="02020603050405020304" pitchFamily="18" charset="0"/>
              </a:rPr>
              <a:t>Babu, Kunda Suresh, </a:t>
            </a:r>
            <a:r>
              <a:rPr lang="en-US" sz="1600" dirty="0" err="1">
                <a:latin typeface="Times New Roman" panose="02020603050405020304" pitchFamily="18" charset="0"/>
                <a:cs typeface="Times New Roman" panose="02020603050405020304" pitchFamily="18" charset="0"/>
              </a:rPr>
              <a:t>Vallepu</a:t>
            </a:r>
            <a:r>
              <a:rPr lang="en-US" sz="1600" dirty="0">
                <a:latin typeface="Times New Roman" panose="02020603050405020304" pitchFamily="18" charset="0"/>
                <a:cs typeface="Times New Roman" panose="02020603050405020304" pitchFamily="18" charset="0"/>
              </a:rPr>
              <a:t> Srinivas, Yamani Chan dana, G. Satish, R. </a:t>
            </a:r>
            <a:r>
              <a:rPr lang="en-US" sz="1600" dirty="0" err="1">
                <a:latin typeface="Times New Roman" panose="02020603050405020304" pitchFamily="18" charset="0"/>
                <a:cs typeface="Times New Roman" panose="02020603050405020304" pitchFamily="18" charset="0"/>
              </a:rPr>
              <a:t>Dhandu</a:t>
            </a:r>
            <a:r>
              <a:rPr lang="en-US" sz="1600" dirty="0">
                <a:latin typeface="Times New Roman" panose="02020603050405020304" pitchFamily="18" charset="0"/>
                <a:cs typeface="Times New Roman" panose="02020603050405020304" pitchFamily="18" charset="0"/>
              </a:rPr>
              <a:t> Naik, and Dodda Venkata Reddy. ”Streamlined network intrusion detection: Feature selection optimization for higher accuracy and </a:t>
            </a:r>
            <a:r>
              <a:rPr lang="en-US" sz="1600" dirty="0" err="1">
                <a:latin typeface="Times New Roman" panose="02020603050405020304" pitchFamily="18" charset="0"/>
                <a:cs typeface="Times New Roman" panose="02020603050405020304" pitchFamily="18" charset="0"/>
              </a:rPr>
              <a:t>effi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ciency</a:t>
            </a:r>
            <a:r>
              <a:rPr lang="en-US" sz="1600" dirty="0">
                <a:latin typeface="Times New Roman" panose="02020603050405020304" pitchFamily="18" charset="0"/>
                <a:cs typeface="Times New Roman" panose="02020603050405020304" pitchFamily="18" charset="0"/>
              </a:rPr>
              <a:t>.” In Advances in Electrical and Computer Tech </a:t>
            </a:r>
            <a:r>
              <a:rPr lang="en-US" sz="1600" dirty="0" err="1">
                <a:latin typeface="Times New Roman" panose="02020603050405020304" pitchFamily="18" charset="0"/>
                <a:cs typeface="Times New Roman" panose="02020603050405020304" pitchFamily="18" charset="0"/>
              </a:rPr>
              <a:t>nologies</a:t>
            </a:r>
            <a:r>
              <a:rPr lang="en-US" sz="1600" dirty="0">
                <a:latin typeface="Times New Roman" panose="02020603050405020304" pitchFamily="18" charset="0"/>
                <a:cs typeface="Times New Roman" panose="02020603050405020304" pitchFamily="18" charset="0"/>
              </a:rPr>
              <a:t>, pp. 114-124. CRC Press, 2025. </a:t>
            </a:r>
          </a:p>
          <a:p>
            <a:pPr marL="457200" indent="-457200" algn="just">
              <a:buFont typeface="+mj-lt"/>
              <a:buAutoNum type="arabicPeriod" startAt="6"/>
            </a:pPr>
            <a:r>
              <a:rPr lang="en-US" sz="1600" dirty="0">
                <a:latin typeface="Times New Roman" panose="02020603050405020304" pitchFamily="18" charset="0"/>
                <a:cs typeface="Times New Roman" panose="02020603050405020304" pitchFamily="18" charset="0"/>
              </a:rPr>
              <a:t>G. Tripathi, V. K. Singh, V. Sharma and M. V. </a:t>
            </a:r>
            <a:r>
              <a:rPr lang="en-US" sz="1600" dirty="0" err="1">
                <a:latin typeface="Times New Roman" panose="02020603050405020304" pitchFamily="18" charset="0"/>
                <a:cs typeface="Times New Roman" panose="02020603050405020304" pitchFamily="18" charset="0"/>
              </a:rPr>
              <a:t>Vinodb</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hai</a:t>
            </a:r>
            <a:r>
              <a:rPr lang="en-US" sz="1600" dirty="0">
                <a:latin typeface="Times New Roman" panose="02020603050405020304" pitchFamily="18" charset="0"/>
                <a:cs typeface="Times New Roman" panose="02020603050405020304" pitchFamily="18" charset="0"/>
              </a:rPr>
              <a:t>, ”Weighted Feature Selection for Machine Learning Based Accurate Intrusion Detection in Communication Networks,” in IEEE Access, vol. 12, pp. 20973-20982,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10.1109/ACCESS.2024.3362794. </a:t>
            </a:r>
          </a:p>
          <a:p>
            <a:pPr marL="457200" indent="-457200" algn="just">
              <a:buFont typeface="+mj-lt"/>
              <a:buAutoNum type="arabicPeriod" startAt="6"/>
            </a:pPr>
            <a:r>
              <a:rPr lang="en-US" sz="1600" dirty="0">
                <a:latin typeface="Times New Roman" panose="02020603050405020304" pitchFamily="18" charset="0"/>
                <a:cs typeface="Times New Roman" panose="02020603050405020304" pitchFamily="18" charset="0"/>
              </a:rPr>
              <a:t>Rao, Y.N.; Suresh Babu, K. An Imbalanced Generative Adversarial Network-Based Approach for Network </a:t>
            </a:r>
            <a:r>
              <a:rPr lang="en-US" sz="1600" dirty="0" err="1">
                <a:latin typeface="Times New Roman" panose="02020603050405020304" pitchFamily="18" charset="0"/>
                <a:cs typeface="Times New Roman" panose="02020603050405020304" pitchFamily="18" charset="0"/>
              </a:rPr>
              <a:t>Intru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sion</a:t>
            </a:r>
            <a:r>
              <a:rPr lang="en-US" sz="1600" dirty="0">
                <a:latin typeface="Times New Roman" panose="02020603050405020304" pitchFamily="18" charset="0"/>
                <a:cs typeface="Times New Roman" panose="02020603050405020304" pitchFamily="18" charset="0"/>
              </a:rPr>
              <a:t> Detection in an Imbalanced Dataset. Sensors 2023, 23, 550. https://doi.org/10.3390/s23010550 </a:t>
            </a:r>
          </a:p>
          <a:p>
            <a:pPr marL="457200" indent="-457200" algn="just">
              <a:buFont typeface="+mj-lt"/>
              <a:buAutoNum type="arabicPeriod" startAt="6"/>
            </a:pPr>
            <a:r>
              <a:rPr lang="en-US" sz="1600" dirty="0">
                <a:latin typeface="Times New Roman" panose="02020603050405020304" pitchFamily="18" charset="0"/>
                <a:cs typeface="Times New Roman" panose="02020603050405020304" pitchFamily="18" charset="0"/>
              </a:rPr>
              <a:t>K. Peng, V. C. M. Leung, L. Zheng, S. Wang, C. Huang, and T. Lin, ”Intrusion Detection System Based on Decision Tree over Big Data in Fog Environment,” Wire less Communications and Mobile Computing, vol. 2018, </a:t>
            </a:r>
          </a:p>
          <a:p>
            <a:pPr algn="just"/>
            <a:r>
              <a:rPr lang="en-US" sz="1600" dirty="0">
                <a:latin typeface="Times New Roman" panose="02020603050405020304" pitchFamily="18" charset="0"/>
                <a:cs typeface="Times New Roman" panose="02020603050405020304" pitchFamily="18" charset="0"/>
              </a:rPr>
              <a:t>        Article ID 4680867, 2018.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10.1155/2018/4680867. </a:t>
            </a:r>
          </a:p>
          <a:p>
            <a:pPr marL="342900" indent="-342900" algn="just">
              <a:buAutoNum type="arabicPeriod" startAt="10"/>
            </a:pPr>
            <a:r>
              <a:rPr lang="en-US" sz="1600" dirty="0">
                <a:latin typeface="Times New Roman" panose="02020603050405020304" pitchFamily="18" charset="0"/>
                <a:cs typeface="Times New Roman" panose="02020603050405020304" pitchFamily="18" charset="0"/>
              </a:rPr>
              <a:t>  Dash, N., Chakravarty, S., Rath, A. K., Giri, N. C., </a:t>
            </a:r>
            <a:r>
              <a:rPr lang="en-US" sz="1600" dirty="0" err="1">
                <a:latin typeface="Times New Roman" panose="02020603050405020304" pitchFamily="18" charset="0"/>
                <a:cs typeface="Times New Roman" panose="02020603050405020304" pitchFamily="18" charset="0"/>
              </a:rPr>
              <a:t>AboRas</a:t>
            </a:r>
            <a:r>
              <a:rPr lang="en-US" sz="1600" dirty="0">
                <a:latin typeface="Times New Roman" panose="02020603050405020304" pitchFamily="18" charset="0"/>
                <a:cs typeface="Times New Roman" panose="02020603050405020304" pitchFamily="18" charset="0"/>
              </a:rPr>
              <a:t>, K. M., &amp; Gowtham, N., “An optimized LSTM based deep learning model </a:t>
            </a:r>
          </a:p>
          <a:p>
            <a:pPr algn="just"/>
            <a:r>
              <a:rPr lang="en-US" sz="1600" dirty="0">
                <a:latin typeface="Times New Roman" panose="02020603050405020304" pitchFamily="18" charset="0"/>
                <a:cs typeface="Times New Roman" panose="02020603050405020304" pitchFamily="18" charset="0"/>
              </a:rPr>
              <a:t>         for           anomaly network intrusion detection,” Scientific Reports, vol. 14, no. 1, p. 4286, 2025, </a:t>
            </a:r>
          </a:p>
          <a:p>
            <a:pPr algn="just"/>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10.1038/s41598-025-85248-z.</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66698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2223</Words>
  <Application>Microsoft Office PowerPoint</Application>
  <PresentationFormat>Widescreen</PresentationFormat>
  <Paragraphs>216</Paragraphs>
  <Slides>12</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Courier New</vt:lpstr>
      <vt:lpstr>Times New Roman</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wilfred</dc:creator>
  <cp:lastModifiedBy>VEERA .</cp:lastModifiedBy>
  <cp:revision>21</cp:revision>
  <dcterms:modified xsi:type="dcterms:W3CDTF">2025-12-15T14:20:10Z</dcterms:modified>
</cp:coreProperties>
</file>